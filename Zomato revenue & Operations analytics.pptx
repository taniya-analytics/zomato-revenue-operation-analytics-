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71" r:id="rId6"/>
    <p:sldId id="260" r:id="rId7"/>
    <p:sldId id="261" r:id="rId8"/>
    <p:sldId id="262" r:id="rId9"/>
    <p:sldId id="263" r:id="rId10"/>
    <p:sldId id="273" r:id="rId11"/>
    <p:sldId id="264" r:id="rId12"/>
    <p:sldId id="265" r:id="rId13"/>
    <p:sldId id="266" r:id="rId14"/>
    <p:sldId id="267" r:id="rId15"/>
    <p:sldId id="268" r:id="rId16"/>
    <p:sldId id="270"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427"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Revenue (M)</c:v>
                </c:pt>
              </c:strCache>
            </c:strRef>
          </c:tx>
          <c:spPr>
            <a:ln w="31750" cap="flat">
              <a:solidFill>
                <a:srgbClr val="E23744"/>
              </a:solidFill>
              <a:prstDash val="solid"/>
              <a:round/>
            </a:ln>
            <a:effectLst/>
          </c:spPr>
          <c:marker>
            <c:symbol val="circle"/>
            <c:size val="6"/>
            <c:spPr>
              <a:solidFill>
                <a:srgbClr val="E23744"/>
              </a:solidFill>
              <a:ln w="9525" cap="flat">
                <a:solidFill>
                  <a:srgbClr val="E23744"/>
                </a:solidFill>
                <a:prstDash val="solid"/>
                <a:round/>
              </a:ln>
              <a:effectLst/>
            </c:spPr>
          </c:marker>
          <c:cat>
            <c:strRef>
              <c:f>Sheet1!$A$2:$A$5</c:f>
              <c:strCache>
                <c:ptCount val="4"/>
                <c:pt idx="0">
                  <c:v>2017</c:v>
                </c:pt>
                <c:pt idx="1">
                  <c:v>2018</c:v>
                </c:pt>
                <c:pt idx="2">
                  <c:v>2019</c:v>
                </c:pt>
                <c:pt idx="3">
                  <c:v>2020</c:v>
                </c:pt>
              </c:strCache>
            </c:strRef>
          </c:cat>
          <c:val>
            <c:numRef>
              <c:f>Sheet1!$B$2:$B$5</c:f>
              <c:numCache>
                <c:formatCode>General</c:formatCode>
                <c:ptCount val="4"/>
                <c:pt idx="0">
                  <c:v>64</c:v>
                </c:pt>
                <c:pt idx="1">
                  <c:v>314</c:v>
                </c:pt>
                <c:pt idx="2">
                  <c:v>320</c:v>
                </c:pt>
                <c:pt idx="3">
                  <c:v>142</c:v>
                </c:pt>
              </c:numCache>
            </c:numRef>
          </c:val>
          <c:smooth val="1"/>
          <c:extLst>
            <c:ext xmlns:c16="http://schemas.microsoft.com/office/drawing/2014/chart" uri="{C3380CC4-5D6E-409C-BE32-E72D297353CC}">
              <c16:uniqueId val="{00000000-8EF4-4AEA-AC37-CA9D79013EA2}"/>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8FAFC"/>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Avg Time (min)</c:v>
                </c:pt>
              </c:strCache>
            </c:strRef>
          </c:tx>
          <c:spPr>
            <a:solidFill>
              <a:srgbClr val="0891B2"/>
            </a:solidFill>
            <a:effectLst/>
          </c:spPr>
          <c:invertIfNegative val="0"/>
          <c:dLbls>
            <c:numFmt formatCode="#,##0" sourceLinked="0"/>
            <c:spPr>
              <a:noFill/>
              <a:ln>
                <a:noFill/>
              </a:ln>
              <a:effectLst/>
            </c:spPr>
            <c:txPr>
              <a:bodyPr/>
              <a:lstStyle/>
              <a:p>
                <a:pPr>
                  <a:defRPr sz="12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Jam</c:v>
                </c:pt>
                <c:pt idx="1">
                  <c:v>High</c:v>
                </c:pt>
                <c:pt idx="2">
                  <c:v>Medium</c:v>
                </c:pt>
                <c:pt idx="3">
                  <c:v>Low</c:v>
                </c:pt>
              </c:strCache>
            </c:strRef>
          </c:cat>
          <c:val>
            <c:numRef>
              <c:f>Sheet1!$B$2:$B$5</c:f>
              <c:numCache>
                <c:formatCode>General</c:formatCode>
                <c:ptCount val="4"/>
                <c:pt idx="0">
                  <c:v>45</c:v>
                </c:pt>
                <c:pt idx="1">
                  <c:v>38</c:v>
                </c:pt>
                <c:pt idx="2">
                  <c:v>30</c:v>
                </c:pt>
                <c:pt idx="3">
                  <c:v>25</c:v>
                </c:pt>
              </c:numCache>
            </c:numRef>
          </c:val>
          <c:extLst>
            <c:ext xmlns:c16="http://schemas.microsoft.com/office/drawing/2014/chart" uri="{C3380CC4-5D6E-409C-BE32-E72D297353CC}">
              <c16:uniqueId val="{00000000-18D2-4160-B148-B2924C7E3BE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8FAFC"/>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1133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cover slide for the Zomato Market Intelligence Dashboard project. Introduce yourself, the project title, and briefly mention that this project analyzes Zomato's data ecosystem to uncover actionable business insights using SQL, Python, and Power BI.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business context: Zomato as a food delivery platform with rich data. The project tackles the challenge of making sense of large-scale restaurant and customer data. Walk through each objective and explain what outcome the stakeholder/recruiter should expect from this analysis.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audience through each of the 6 datasets. Mention the scale — over 800,000 total records. Emphasize that these tables are relational and connected through keys like user_id, r_id (restaurant_id), and f_id (food_id). This forms the foundation for all subsequent SQL and Python analysis.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ER model: Users place Orders. Restaurants fulfill Orders. Each Restaurant has a Menu which links to Food items. Delivery Operations track how those orders are fulfilled. The ER model helps enforce data integrity and enables complex joins across all tables for deeper analysis.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cleaning is a critical step before any analysis. Highlight that real-world data — especially from platforms like Zomato — is messy. Mention specific issues faced (e.g., Too Few Ratings in rating_count field, missing prices in menu) and how they were systematically resolved using both SQL and Python Pandas.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5 core SQL analysis dimensions. Each type of query serves a business purpose: Revenue queries guide pricing strategy, Customer queries inform marketing, Restaurant queries support expansion planning, Cuisine queries enable targeted promotions, and Delivery queries help optimize operations.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SQL skills are what differentiate a junior analyst from a mid-level one. Emphasize your use of window functions (RANK, ROW_NUMBER, LAG), multi-table JOINs, CTEs, and subqueries. Explain that each query was designed to answer a specific business question and feed into the final dashboard KPIs.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EDA bridges the gap between raw SQL outputs and the visual Power BI dashboard. Describe how Pandas was used for groupby, merge, and aggregation operations. Mention Matplotlib visualizations — revenue trend lines, traffic bar charts, cuisine pie charts — that informed the final dashboard design.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5-step Power BI development process. Emphasize that DAX (Data Analysis Expressions) is a specialized formula language for Power BI — recruiters in analytics roles look for this. Explain that interactive slicers allow business users to self-serve insights without needing SQL knowledge.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live dashboard screenshot. Walk through the 5 KPI tiles at the top — Revenue, Orders, Users, Restaurants, Average Rating. Explain that these are dynamic cards powered by DAX measures and update automatically when filters are applied. Emphasize the Zomato branding and clean layout.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visualization and explain what story it tells. The revenue trend shows temporal patterns. Traffic impact is critical for delivery SLA management. Weather impact shows operational risk. Restaurant density informs market expansion strategy. Cost vs Rating shows the value-perception relationship across the platform.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6 insights are the core deliverables of the entire project. Each insight is directly traceable back to SQL queries, Python analysis, or the Power BI dashboard. When presenting to recruiters, link each insight to a specific analysis technique — this shows you understand the full data analytics workflow.</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recommendations demonstrate your ability to translate data insights into strategy — a critical skill for any data analyst role. For each recommendation, link it back to the specific data finding that supports it. Mention that these recommendations were validated using the Power BI dashboard's interactive filters.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by summarizing the entire project in 4 key dimensions: What was done (Project Summary), What value it creates (Business Value), What you learned (Learning Outcomes), and What could be done next (Future Improvements). This shows a recruiter that you think like a product analyst, not just a data technician. Thank the audience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23744"/>
        </a:solidFill>
        <a:effectLst/>
      </p:bgPr>
    </p:bg>
    <p:spTree>
      <p:nvGrpSpPr>
        <p:cNvPr id="1" name=""/>
        <p:cNvGrpSpPr/>
        <p:nvPr/>
      </p:nvGrpSpPr>
      <p:grpSpPr>
        <a:xfrm>
          <a:off x="0" y="0"/>
          <a:ext cx="0" cy="0"/>
          <a:chOff x="0" y="0"/>
          <a:chExt cx="0" cy="0"/>
        </a:xfrm>
      </p:grpSpPr>
      <p:sp>
        <p:nvSpPr>
          <p:cNvPr id="2" name="Shape 0"/>
          <p:cNvSpPr/>
          <p:nvPr/>
        </p:nvSpPr>
        <p:spPr>
          <a:xfrm rot="720000">
            <a:off x="5303520" y="-457200"/>
            <a:ext cx="4572000" cy="6400800"/>
          </a:xfrm>
          <a:prstGeom prst="rect">
            <a:avLst/>
          </a:prstGeom>
          <a:solidFill>
            <a:srgbClr val="FFFFFF"/>
          </a:solidFill>
          <a:ln/>
        </p:spPr>
      </p:sp>
      <p:sp>
        <p:nvSpPr>
          <p:cNvPr id="3" name="Text 1"/>
          <p:cNvSpPr/>
          <p:nvPr/>
        </p:nvSpPr>
        <p:spPr>
          <a:xfrm>
            <a:off x="457200" y="457200"/>
            <a:ext cx="3657600" cy="731520"/>
          </a:xfrm>
          <a:prstGeom prst="rect">
            <a:avLst/>
          </a:prstGeom>
          <a:noFill/>
          <a:ln/>
        </p:spPr>
        <p:txBody>
          <a:bodyPr wrap="square" rtlCol="0" anchor="ctr"/>
          <a:lstStyle/>
          <a:p>
            <a:pPr marL="0" indent="0">
              <a:buNone/>
            </a:pPr>
            <a:r>
              <a:rPr lang="en-US" sz="3600" b="1" i="1" dirty="0">
                <a:solidFill>
                  <a:srgbClr val="FFFFFF"/>
                </a:solidFill>
                <a:latin typeface="Georgia" pitchFamily="34" charset="0"/>
                <a:ea typeface="Georgia" pitchFamily="34" charset="-122"/>
                <a:cs typeface="Georgia" pitchFamily="34" charset="-120"/>
              </a:rPr>
              <a:t>zomato</a:t>
            </a:r>
            <a:endParaRPr lang="en-US" sz="3600" dirty="0"/>
          </a:p>
        </p:txBody>
      </p:sp>
      <p:sp>
        <p:nvSpPr>
          <p:cNvPr id="4" name="Shape 2"/>
          <p:cNvSpPr/>
          <p:nvPr/>
        </p:nvSpPr>
        <p:spPr>
          <a:xfrm>
            <a:off x="457200" y="1115568"/>
            <a:ext cx="3200400" cy="36576"/>
          </a:xfrm>
          <a:prstGeom prst="rect">
            <a:avLst/>
          </a:prstGeom>
          <a:solidFill>
            <a:srgbClr val="FFD0D5"/>
          </a:solidFill>
          <a:ln/>
        </p:spPr>
      </p:sp>
      <p:sp>
        <p:nvSpPr>
          <p:cNvPr id="5" name="Text 3"/>
          <p:cNvSpPr/>
          <p:nvPr/>
        </p:nvSpPr>
        <p:spPr>
          <a:xfrm>
            <a:off x="457200" y="1280160"/>
            <a:ext cx="4572000" cy="128016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REVENUE &amp; OPERATIONS</a:t>
            </a:r>
            <a:endParaRPr lang="en-US" sz="3000" dirty="0"/>
          </a:p>
          <a:p>
            <a:pPr marL="0" indent="0">
              <a:buNone/>
            </a:pPr>
            <a:r>
              <a:rPr lang="en-US" sz="3000" b="1" dirty="0">
                <a:solidFill>
                  <a:srgbClr val="FFFFFF"/>
                </a:solidFill>
                <a:latin typeface="Calibri" pitchFamily="34" charset="0"/>
                <a:ea typeface="Calibri" pitchFamily="34" charset="-122"/>
                <a:cs typeface="Calibri" pitchFamily="34" charset="-120"/>
              </a:rPr>
              <a:t>ANALYTICS</a:t>
            </a:r>
            <a:endParaRPr lang="en-US" sz="3000" dirty="0"/>
          </a:p>
        </p:txBody>
      </p:sp>
      <p:sp>
        <p:nvSpPr>
          <p:cNvPr id="6" name="Text 4"/>
          <p:cNvSpPr/>
          <p:nvPr/>
        </p:nvSpPr>
        <p:spPr>
          <a:xfrm>
            <a:off x="457200" y="2514600"/>
            <a:ext cx="5029200" cy="365760"/>
          </a:xfrm>
          <a:prstGeom prst="rect">
            <a:avLst/>
          </a:prstGeom>
          <a:noFill/>
          <a:ln/>
        </p:spPr>
        <p:txBody>
          <a:bodyPr wrap="square" rtlCol="0" anchor="ctr"/>
          <a:lstStyle/>
          <a:p>
            <a:pPr marL="0" indent="0">
              <a:buNone/>
            </a:pPr>
            <a:r>
              <a:rPr lang="en-US" sz="1100" i="1" dirty="0">
                <a:solidFill>
                  <a:srgbClr val="FFD0D5"/>
                </a:solidFill>
                <a:latin typeface="Calibri" pitchFamily="34" charset="0"/>
                <a:ea typeface="Calibri" pitchFamily="34" charset="-122"/>
                <a:cs typeface="Calibri" pitchFamily="34" charset="-120"/>
              </a:rPr>
              <a:t>Restaurant Performance  •  Customer Insights  •  Delivery Operations</a:t>
            </a:r>
            <a:endParaRPr lang="en-US" sz="1100" dirty="0"/>
          </a:p>
        </p:txBody>
      </p:sp>
      <p:sp>
        <p:nvSpPr>
          <p:cNvPr id="7" name="Text 5"/>
          <p:cNvSpPr/>
          <p:nvPr/>
        </p:nvSpPr>
        <p:spPr>
          <a:xfrm>
            <a:off x="5669280" y="1097280"/>
            <a:ext cx="3200400" cy="365760"/>
          </a:xfrm>
          <a:prstGeom prst="rect">
            <a:avLst/>
          </a:prstGeom>
          <a:noFill/>
          <a:ln/>
        </p:spPr>
        <p:txBody>
          <a:bodyPr wrap="square" rtlCol="0" anchor="ctr"/>
          <a:lstStyle/>
          <a:p>
            <a:pPr marL="0" indent="0">
              <a:buNone/>
            </a:pPr>
            <a:endParaRPr lang="en-US" sz="1100" dirty="0"/>
          </a:p>
        </p:txBody>
      </p:sp>
      <p:sp>
        <p:nvSpPr>
          <p:cNvPr id="8" name="Text 6"/>
          <p:cNvSpPr/>
          <p:nvPr/>
        </p:nvSpPr>
        <p:spPr>
          <a:xfrm>
            <a:off x="5669280" y="1554480"/>
            <a:ext cx="32004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Presented by</a:t>
            </a:r>
            <a:endParaRPr lang="en-US" sz="1000" dirty="0"/>
          </a:p>
        </p:txBody>
      </p:sp>
      <p:sp>
        <p:nvSpPr>
          <p:cNvPr id="9" name="Text 7"/>
          <p:cNvSpPr/>
          <p:nvPr/>
        </p:nvSpPr>
        <p:spPr>
          <a:xfrm>
            <a:off x="5669280" y="1783080"/>
            <a:ext cx="3200400" cy="502920"/>
          </a:xfrm>
          <a:prstGeom prst="rect">
            <a:avLst/>
          </a:prstGeom>
          <a:noFill/>
          <a:ln/>
        </p:spPr>
        <p:txBody>
          <a:bodyPr wrap="square" rtlCol="0" anchor="ctr"/>
          <a:lstStyle/>
          <a:p>
            <a:pPr marL="0" indent="0">
              <a:buNone/>
            </a:pPr>
            <a:r>
              <a:rPr lang="en-US" sz="2200" dirty="0"/>
              <a:t>Taniya </a:t>
            </a:r>
          </a:p>
        </p:txBody>
      </p:sp>
      <p:sp>
        <p:nvSpPr>
          <p:cNvPr id="10" name="Shape 8"/>
          <p:cNvSpPr/>
          <p:nvPr/>
        </p:nvSpPr>
        <p:spPr>
          <a:xfrm>
            <a:off x="5669280" y="2331720"/>
            <a:ext cx="1371600" cy="45720"/>
          </a:xfrm>
          <a:prstGeom prst="rect">
            <a:avLst/>
          </a:prstGeom>
          <a:solidFill>
            <a:srgbClr val="E23744"/>
          </a:solidFill>
          <a:ln/>
        </p:spPr>
      </p:sp>
      <p:sp>
        <p:nvSpPr>
          <p:cNvPr id="11" name="Shape 9"/>
          <p:cNvSpPr/>
          <p:nvPr/>
        </p:nvSpPr>
        <p:spPr>
          <a:xfrm>
            <a:off x="5669280" y="2651760"/>
            <a:ext cx="3246120" cy="475488"/>
          </a:xfrm>
          <a:prstGeom prst="rect">
            <a:avLst/>
          </a:prstGeom>
          <a:solidFill>
            <a:srgbClr val="F1F5F9"/>
          </a:solidFill>
          <a:ln w="12700">
            <a:solidFill>
              <a:srgbClr val="E2E8F0"/>
            </a:solidFill>
            <a:prstDash val="solid"/>
          </a:ln>
        </p:spPr>
      </p:sp>
      <p:sp>
        <p:nvSpPr>
          <p:cNvPr id="12" name="Shape 10"/>
          <p:cNvSpPr/>
          <p:nvPr/>
        </p:nvSpPr>
        <p:spPr>
          <a:xfrm>
            <a:off x="5669280" y="2651760"/>
            <a:ext cx="54864" cy="475488"/>
          </a:xfrm>
          <a:prstGeom prst="rect">
            <a:avLst/>
          </a:prstGeom>
          <a:solidFill>
            <a:srgbClr val="E23744"/>
          </a:solidFill>
          <a:ln/>
        </p:spPr>
      </p:sp>
      <p:sp>
        <p:nvSpPr>
          <p:cNvPr id="13" name="Text 11"/>
          <p:cNvSpPr/>
          <p:nvPr/>
        </p:nvSpPr>
        <p:spPr>
          <a:xfrm>
            <a:off x="5806440" y="2688336"/>
            <a:ext cx="2926080" cy="182880"/>
          </a:xfrm>
          <a:prstGeom prst="rect">
            <a:avLst/>
          </a:prstGeom>
          <a:noFill/>
          <a:ln/>
        </p:spPr>
        <p:txBody>
          <a:bodyPr wrap="square" lIns="0" tIns="0" rIns="0" bIns="0" rtlCol="0" anchor="ctr"/>
          <a:lstStyle/>
          <a:p>
            <a:pPr marL="0" indent="0">
              <a:buNone/>
            </a:pPr>
            <a:r>
              <a:rPr lang="en-US" sz="800" b="1" kern="0" spc="100" dirty="0">
                <a:solidFill>
                  <a:srgbClr val="E23744"/>
                </a:solidFill>
                <a:latin typeface="Calibri" pitchFamily="34" charset="0"/>
                <a:ea typeface="Calibri" pitchFamily="34" charset="-122"/>
                <a:cs typeface="Calibri" pitchFamily="34" charset="-120"/>
              </a:rPr>
              <a:t>TOOLS</a:t>
            </a:r>
            <a:endParaRPr lang="en-US" sz="800" dirty="0"/>
          </a:p>
        </p:txBody>
      </p:sp>
      <p:sp>
        <p:nvSpPr>
          <p:cNvPr id="14" name="Text 12"/>
          <p:cNvSpPr/>
          <p:nvPr/>
        </p:nvSpPr>
        <p:spPr>
          <a:xfrm>
            <a:off x="5806440" y="2871216"/>
            <a:ext cx="2926080" cy="20116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SQL  •  Python  •  Power BI  •  Excel</a:t>
            </a:r>
            <a:endParaRPr lang="en-US" sz="1000" dirty="0"/>
          </a:p>
        </p:txBody>
      </p:sp>
      <p:sp>
        <p:nvSpPr>
          <p:cNvPr id="15" name="Shape 13"/>
          <p:cNvSpPr/>
          <p:nvPr/>
        </p:nvSpPr>
        <p:spPr>
          <a:xfrm>
            <a:off x="5669280" y="3218688"/>
            <a:ext cx="3246120" cy="475488"/>
          </a:xfrm>
          <a:prstGeom prst="rect">
            <a:avLst/>
          </a:prstGeom>
          <a:solidFill>
            <a:srgbClr val="F1F5F9"/>
          </a:solidFill>
          <a:ln w="12700">
            <a:solidFill>
              <a:srgbClr val="E2E8F0"/>
            </a:solidFill>
            <a:prstDash val="solid"/>
          </a:ln>
        </p:spPr>
      </p:sp>
      <p:sp>
        <p:nvSpPr>
          <p:cNvPr id="16" name="Shape 14"/>
          <p:cNvSpPr/>
          <p:nvPr/>
        </p:nvSpPr>
        <p:spPr>
          <a:xfrm>
            <a:off x="5669280" y="3218688"/>
            <a:ext cx="54864" cy="475488"/>
          </a:xfrm>
          <a:prstGeom prst="rect">
            <a:avLst/>
          </a:prstGeom>
          <a:solidFill>
            <a:srgbClr val="E23744"/>
          </a:solidFill>
          <a:ln/>
        </p:spPr>
      </p:sp>
      <p:sp>
        <p:nvSpPr>
          <p:cNvPr id="17" name="Text 15"/>
          <p:cNvSpPr/>
          <p:nvPr/>
        </p:nvSpPr>
        <p:spPr>
          <a:xfrm>
            <a:off x="5806440" y="3255264"/>
            <a:ext cx="2926080" cy="182880"/>
          </a:xfrm>
          <a:prstGeom prst="rect">
            <a:avLst/>
          </a:prstGeom>
          <a:noFill/>
          <a:ln/>
        </p:spPr>
        <p:txBody>
          <a:bodyPr wrap="square" lIns="0" tIns="0" rIns="0" bIns="0" rtlCol="0" anchor="ctr"/>
          <a:lstStyle/>
          <a:p>
            <a:pPr marL="0" indent="0">
              <a:buNone/>
            </a:pPr>
            <a:r>
              <a:rPr lang="en-US" sz="800" b="1" kern="0" spc="100" dirty="0">
                <a:solidFill>
                  <a:srgbClr val="E23744"/>
                </a:solidFill>
                <a:latin typeface="Calibri" pitchFamily="34" charset="0"/>
                <a:ea typeface="Calibri" pitchFamily="34" charset="-122"/>
                <a:cs typeface="Calibri" pitchFamily="34" charset="-120"/>
              </a:rPr>
              <a:t>DATASETS</a:t>
            </a:r>
            <a:endParaRPr lang="en-US" sz="800" dirty="0"/>
          </a:p>
        </p:txBody>
      </p:sp>
      <p:sp>
        <p:nvSpPr>
          <p:cNvPr id="18" name="Text 16"/>
          <p:cNvSpPr/>
          <p:nvPr/>
        </p:nvSpPr>
        <p:spPr>
          <a:xfrm>
            <a:off x="5806440" y="3438144"/>
            <a:ext cx="2926080" cy="20116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6 Tables  •  800K+ Records</a:t>
            </a:r>
            <a:endParaRPr lang="en-US" sz="1000" dirty="0"/>
          </a:p>
        </p:txBody>
      </p:sp>
      <p:sp>
        <p:nvSpPr>
          <p:cNvPr id="19" name="Shape 17"/>
          <p:cNvSpPr/>
          <p:nvPr/>
        </p:nvSpPr>
        <p:spPr>
          <a:xfrm>
            <a:off x="5669280" y="3785616"/>
            <a:ext cx="3246120" cy="475488"/>
          </a:xfrm>
          <a:prstGeom prst="rect">
            <a:avLst/>
          </a:prstGeom>
          <a:solidFill>
            <a:srgbClr val="F1F5F9"/>
          </a:solidFill>
          <a:ln w="12700">
            <a:solidFill>
              <a:srgbClr val="E2E8F0"/>
            </a:solidFill>
            <a:prstDash val="solid"/>
          </a:ln>
        </p:spPr>
      </p:sp>
      <p:sp>
        <p:nvSpPr>
          <p:cNvPr id="20" name="Shape 18"/>
          <p:cNvSpPr/>
          <p:nvPr/>
        </p:nvSpPr>
        <p:spPr>
          <a:xfrm>
            <a:off x="5669280" y="3785616"/>
            <a:ext cx="54864" cy="475488"/>
          </a:xfrm>
          <a:prstGeom prst="rect">
            <a:avLst/>
          </a:prstGeom>
          <a:solidFill>
            <a:srgbClr val="E23744"/>
          </a:solidFill>
          <a:ln/>
        </p:spPr>
      </p:sp>
      <p:sp>
        <p:nvSpPr>
          <p:cNvPr id="21" name="Text 19"/>
          <p:cNvSpPr/>
          <p:nvPr/>
        </p:nvSpPr>
        <p:spPr>
          <a:xfrm>
            <a:off x="5806440" y="3822192"/>
            <a:ext cx="2926080" cy="182880"/>
          </a:xfrm>
          <a:prstGeom prst="rect">
            <a:avLst/>
          </a:prstGeom>
          <a:noFill/>
          <a:ln/>
        </p:spPr>
        <p:txBody>
          <a:bodyPr wrap="square" lIns="0" tIns="0" rIns="0" bIns="0" rtlCol="0" anchor="ctr"/>
          <a:lstStyle/>
          <a:p>
            <a:pPr marL="0" indent="0">
              <a:buNone/>
            </a:pPr>
            <a:r>
              <a:rPr lang="en-US" sz="800" b="1" kern="0" spc="100" dirty="0">
                <a:solidFill>
                  <a:srgbClr val="E23744"/>
                </a:solidFill>
                <a:latin typeface="Calibri" pitchFamily="34" charset="0"/>
                <a:ea typeface="Calibri" pitchFamily="34" charset="-122"/>
                <a:cs typeface="Calibri" pitchFamily="34" charset="-120"/>
              </a:rPr>
              <a:t>FOCUS</a:t>
            </a:r>
            <a:endParaRPr lang="en-US" sz="800" dirty="0"/>
          </a:p>
        </p:txBody>
      </p:sp>
      <p:sp>
        <p:nvSpPr>
          <p:cNvPr id="22" name="Text 20"/>
          <p:cNvSpPr/>
          <p:nvPr/>
        </p:nvSpPr>
        <p:spPr>
          <a:xfrm>
            <a:off x="5806440" y="4005072"/>
            <a:ext cx="2926080" cy="20116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Revenue  •  Delivery  •  Cuisine Trends</a:t>
            </a:r>
            <a:endParaRPr lang="en-US" sz="1000" dirty="0"/>
          </a:p>
        </p:txBody>
      </p:sp>
      <p:sp>
        <p:nvSpPr>
          <p:cNvPr id="23" name="Shape 21"/>
          <p:cNvSpPr/>
          <p:nvPr/>
        </p:nvSpPr>
        <p:spPr>
          <a:xfrm>
            <a:off x="0" y="4572000"/>
            <a:ext cx="9144000" cy="571500"/>
          </a:xfrm>
          <a:prstGeom prst="rect">
            <a:avLst/>
          </a:prstGeom>
          <a:solidFill>
            <a:srgbClr val="B71C2E"/>
          </a:solidFill>
          <a:ln/>
        </p:spPr>
      </p:sp>
      <p:sp>
        <p:nvSpPr>
          <p:cNvPr id="24" name="Text 22"/>
          <p:cNvSpPr/>
          <p:nvPr/>
        </p:nvSpPr>
        <p:spPr>
          <a:xfrm>
            <a:off x="274320" y="4617720"/>
            <a:ext cx="8595360" cy="475488"/>
          </a:xfrm>
          <a:prstGeom prst="rect">
            <a:avLst/>
          </a:prstGeom>
          <a:noFill/>
          <a:ln/>
        </p:spPr>
        <p:txBody>
          <a:bodyPr wrap="square"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Analyzing Zomato's restaurant, customer, menu, order, and delivery ecosystems to drive data-backed decisions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23744"/>
          </a:solidFill>
          <a:ln/>
        </p:spPr>
      </p:sp>
      <p:sp>
        <p:nvSpPr>
          <p:cNvPr id="3" name="Text 1"/>
          <p:cNvSpPr/>
          <p:nvPr/>
        </p:nvSpPr>
        <p:spPr>
          <a:xfrm>
            <a:off x="365760" y="73152"/>
            <a:ext cx="841248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Project Overview</a:t>
            </a:r>
            <a:endParaRPr lang="en-US" sz="2200" dirty="0"/>
          </a:p>
        </p:txBody>
      </p:sp>
      <p:sp>
        <p:nvSpPr>
          <p:cNvPr id="4" name="Text 2"/>
          <p:cNvSpPr/>
          <p:nvPr/>
        </p:nvSpPr>
        <p:spPr>
          <a:xfrm>
            <a:off x="3074494" y="182880"/>
            <a:ext cx="8412480" cy="256032"/>
          </a:xfrm>
          <a:prstGeom prst="rect">
            <a:avLst/>
          </a:prstGeom>
          <a:noFill/>
          <a:ln/>
        </p:spPr>
        <p:txBody>
          <a:bodyPr wrap="square" lIns="0" tIns="0" rIns="0" bIns="0" rtlCol="0" anchor="ctr"/>
          <a:lstStyle/>
          <a:p>
            <a:pPr marL="0" indent="0">
              <a:buNone/>
            </a:pPr>
            <a:r>
              <a:rPr lang="en-US" sz="1100" i="1" dirty="0">
                <a:solidFill>
                  <a:srgbClr val="FFD0D5"/>
                </a:solidFill>
                <a:latin typeface="Calibri" pitchFamily="34" charset="0"/>
                <a:ea typeface="Calibri" pitchFamily="34" charset="-122"/>
                <a:cs typeface="Calibri" pitchFamily="34" charset="-120"/>
              </a:rPr>
              <a:t>Business Problem • Objectives • Expected Outcomes</a:t>
            </a:r>
            <a:endParaRPr lang="en-US" sz="1100" dirty="0"/>
          </a:p>
        </p:txBody>
      </p:sp>
      <p:sp>
        <p:nvSpPr>
          <p:cNvPr id="6" name="Text 4"/>
          <p:cNvSpPr/>
          <p:nvPr/>
        </p:nvSpPr>
        <p:spPr>
          <a:xfrm>
            <a:off x="274320" y="4965192"/>
            <a:ext cx="6400800" cy="164592"/>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Zomato Market Intelligence Dashboard  •  Data Analytics Project</a:t>
            </a:r>
            <a:endParaRPr lang="en-US" sz="800" dirty="0"/>
          </a:p>
        </p:txBody>
      </p:sp>
      <p:sp>
        <p:nvSpPr>
          <p:cNvPr id="7" name="Text 5"/>
          <p:cNvSpPr/>
          <p:nvPr/>
        </p:nvSpPr>
        <p:spPr>
          <a:xfrm>
            <a:off x="8046720" y="4965192"/>
            <a:ext cx="822960" cy="164592"/>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2 / 15</a:t>
            </a:r>
            <a:endParaRPr lang="en-US" sz="800" dirty="0"/>
          </a:p>
        </p:txBody>
      </p:sp>
      <p:sp>
        <p:nvSpPr>
          <p:cNvPr id="8" name="Shape 6"/>
          <p:cNvSpPr/>
          <p:nvPr/>
        </p:nvSpPr>
        <p:spPr>
          <a:xfrm>
            <a:off x="274320" y="777240"/>
            <a:ext cx="8595360" cy="960120"/>
          </a:xfrm>
          <a:prstGeom prst="rect">
            <a:avLst/>
          </a:prstGeom>
          <a:solidFill>
            <a:srgbClr val="FCE8EA"/>
          </a:solidFill>
          <a:ln w="12700">
            <a:solidFill>
              <a:srgbClr val="E2E8F0"/>
            </a:solidFill>
            <a:prstDash val="solid"/>
          </a:ln>
          <a:effectLst>
            <a:outerShdw blurRad="101600" dist="38100" dir="8100000" algn="bl" rotWithShape="0">
              <a:srgbClr val="000000">
                <a:alpha val="10000"/>
              </a:srgbClr>
            </a:outerShdw>
          </a:effectLst>
        </p:spPr>
      </p:sp>
      <p:sp>
        <p:nvSpPr>
          <p:cNvPr id="9" name="Shape 7"/>
          <p:cNvSpPr/>
          <p:nvPr/>
        </p:nvSpPr>
        <p:spPr>
          <a:xfrm>
            <a:off x="274320" y="777240"/>
            <a:ext cx="73152" cy="960120"/>
          </a:xfrm>
          <a:prstGeom prst="rect">
            <a:avLst/>
          </a:prstGeom>
          <a:solidFill>
            <a:srgbClr val="E23744"/>
          </a:solidFill>
          <a:ln/>
        </p:spPr>
      </p:sp>
      <p:sp>
        <p:nvSpPr>
          <p:cNvPr id="10" name="Text 8"/>
          <p:cNvSpPr/>
          <p:nvPr/>
        </p:nvSpPr>
        <p:spPr>
          <a:xfrm>
            <a:off x="502920" y="804672"/>
            <a:ext cx="8046720" cy="256032"/>
          </a:xfrm>
          <a:prstGeom prst="rect">
            <a:avLst/>
          </a:prstGeom>
          <a:noFill/>
          <a:ln/>
        </p:spPr>
        <p:txBody>
          <a:bodyPr wrap="square" lIns="0" tIns="0" rIns="0" bIns="0" rtlCol="0" anchor="ctr"/>
          <a:lstStyle/>
          <a:p>
            <a:pPr marL="0" indent="0">
              <a:buNone/>
            </a:pPr>
            <a:r>
              <a:rPr lang="en-US" sz="1000" b="1" kern="0" spc="200" dirty="0">
                <a:solidFill>
                  <a:srgbClr val="E23744"/>
                </a:solidFill>
                <a:latin typeface="Calibri" pitchFamily="34" charset="0"/>
                <a:ea typeface="Calibri" pitchFamily="34" charset="-122"/>
                <a:cs typeface="Calibri" pitchFamily="34" charset="-120"/>
              </a:rPr>
              <a:t>BUSINESS PROBLEM</a:t>
            </a:r>
            <a:endParaRPr lang="en-US" sz="1000" dirty="0"/>
          </a:p>
        </p:txBody>
      </p:sp>
      <p:sp>
        <p:nvSpPr>
          <p:cNvPr id="11" name="Text 9"/>
          <p:cNvSpPr/>
          <p:nvPr/>
        </p:nvSpPr>
        <p:spPr>
          <a:xfrm>
            <a:off x="502920" y="1042416"/>
            <a:ext cx="8138160" cy="621792"/>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Zomato generates vast amounts of transactional, operational, and customer data across hundreds of cities. Without structured analysis, critical insights on revenue drivers, delivery efficiency, and customer preferences remain hidden — preventing strategic decision-making.</a:t>
            </a:r>
            <a:endParaRPr lang="en-US" sz="1100" dirty="0"/>
          </a:p>
        </p:txBody>
      </p:sp>
      <p:sp>
        <p:nvSpPr>
          <p:cNvPr id="12" name="Text 10"/>
          <p:cNvSpPr/>
          <p:nvPr/>
        </p:nvSpPr>
        <p:spPr>
          <a:xfrm>
            <a:off x="274320" y="1874520"/>
            <a:ext cx="4572000" cy="256032"/>
          </a:xfrm>
          <a:prstGeom prst="rect">
            <a:avLst/>
          </a:prstGeom>
          <a:noFill/>
          <a:ln/>
        </p:spPr>
        <p:txBody>
          <a:bodyPr wrap="square" rtlCol="0" anchor="ctr"/>
          <a:lstStyle/>
          <a:p>
            <a:pPr marL="0" indent="0">
              <a:buNone/>
            </a:pPr>
            <a:r>
              <a:rPr lang="en-US" sz="1000" b="1" kern="0" spc="200" dirty="0">
                <a:solidFill>
                  <a:srgbClr val="E23744"/>
                </a:solidFill>
                <a:latin typeface="Calibri" pitchFamily="34" charset="0"/>
                <a:ea typeface="Calibri" pitchFamily="34" charset="-122"/>
                <a:cs typeface="Calibri" pitchFamily="34" charset="-120"/>
              </a:rPr>
              <a:t>PROJECT OBJECTIVES</a:t>
            </a:r>
            <a:endParaRPr lang="en-US" sz="1000" dirty="0"/>
          </a:p>
        </p:txBody>
      </p:sp>
      <p:sp>
        <p:nvSpPr>
          <p:cNvPr id="13" name="Shape 11"/>
          <p:cNvSpPr/>
          <p:nvPr/>
        </p:nvSpPr>
        <p:spPr>
          <a:xfrm>
            <a:off x="274320" y="2231136"/>
            <a:ext cx="201168" cy="201168"/>
          </a:xfrm>
          <a:prstGeom prst="ellipse">
            <a:avLst/>
          </a:prstGeom>
          <a:solidFill>
            <a:srgbClr val="E23744"/>
          </a:solidFill>
          <a:ln/>
        </p:spPr>
      </p:sp>
      <p:sp>
        <p:nvSpPr>
          <p:cNvPr id="14" name="Text 12"/>
          <p:cNvSpPr/>
          <p:nvPr/>
        </p:nvSpPr>
        <p:spPr>
          <a:xfrm>
            <a:off x="274320" y="2212848"/>
            <a:ext cx="201168"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5" name="Text 13"/>
          <p:cNvSpPr/>
          <p:nvPr/>
        </p:nvSpPr>
        <p:spPr>
          <a:xfrm>
            <a:off x="566928" y="2176272"/>
            <a:ext cx="3749040" cy="32004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Analyze revenue performance across cities and time periods</a:t>
            </a:r>
            <a:endParaRPr lang="en-US" sz="1050" dirty="0"/>
          </a:p>
        </p:txBody>
      </p:sp>
      <p:sp>
        <p:nvSpPr>
          <p:cNvPr id="16" name="Shape 14"/>
          <p:cNvSpPr/>
          <p:nvPr/>
        </p:nvSpPr>
        <p:spPr>
          <a:xfrm>
            <a:off x="274320" y="2615184"/>
            <a:ext cx="201168" cy="201168"/>
          </a:xfrm>
          <a:prstGeom prst="ellipse">
            <a:avLst/>
          </a:prstGeom>
          <a:solidFill>
            <a:srgbClr val="E23744"/>
          </a:solidFill>
          <a:ln/>
        </p:spPr>
      </p:sp>
      <p:sp>
        <p:nvSpPr>
          <p:cNvPr id="17" name="Text 15"/>
          <p:cNvSpPr/>
          <p:nvPr/>
        </p:nvSpPr>
        <p:spPr>
          <a:xfrm>
            <a:off x="274320" y="2596896"/>
            <a:ext cx="201168"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8" name="Text 16"/>
          <p:cNvSpPr/>
          <p:nvPr/>
        </p:nvSpPr>
        <p:spPr>
          <a:xfrm>
            <a:off x="566928" y="2560320"/>
            <a:ext cx="3749040" cy="32004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Understand customer demographics, behavior, and ordering patterns</a:t>
            </a:r>
            <a:endParaRPr lang="en-US" sz="1050" dirty="0"/>
          </a:p>
        </p:txBody>
      </p:sp>
      <p:sp>
        <p:nvSpPr>
          <p:cNvPr id="19" name="Shape 17"/>
          <p:cNvSpPr/>
          <p:nvPr/>
        </p:nvSpPr>
        <p:spPr>
          <a:xfrm>
            <a:off x="274320" y="2999232"/>
            <a:ext cx="201168" cy="201168"/>
          </a:xfrm>
          <a:prstGeom prst="ellipse">
            <a:avLst/>
          </a:prstGeom>
          <a:solidFill>
            <a:srgbClr val="E23744"/>
          </a:solidFill>
          <a:ln/>
        </p:spPr>
      </p:sp>
      <p:sp>
        <p:nvSpPr>
          <p:cNvPr id="20" name="Text 18"/>
          <p:cNvSpPr/>
          <p:nvPr/>
        </p:nvSpPr>
        <p:spPr>
          <a:xfrm>
            <a:off x="274320" y="2980944"/>
            <a:ext cx="201168"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1" name="Text 19"/>
          <p:cNvSpPr/>
          <p:nvPr/>
        </p:nvSpPr>
        <p:spPr>
          <a:xfrm>
            <a:off x="566928" y="2944368"/>
            <a:ext cx="3749040" cy="32004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Evaluate restaurant distribution, cuisine trends, and ratings</a:t>
            </a:r>
            <a:endParaRPr lang="en-US" sz="1050" dirty="0"/>
          </a:p>
        </p:txBody>
      </p:sp>
      <p:sp>
        <p:nvSpPr>
          <p:cNvPr id="22" name="Shape 20"/>
          <p:cNvSpPr/>
          <p:nvPr/>
        </p:nvSpPr>
        <p:spPr>
          <a:xfrm>
            <a:off x="274320" y="3383280"/>
            <a:ext cx="201168" cy="201168"/>
          </a:xfrm>
          <a:prstGeom prst="ellipse">
            <a:avLst/>
          </a:prstGeom>
          <a:solidFill>
            <a:srgbClr val="E23744"/>
          </a:solidFill>
          <a:ln/>
        </p:spPr>
      </p:sp>
      <p:sp>
        <p:nvSpPr>
          <p:cNvPr id="23" name="Text 21"/>
          <p:cNvSpPr/>
          <p:nvPr/>
        </p:nvSpPr>
        <p:spPr>
          <a:xfrm>
            <a:off x="274320" y="3364992"/>
            <a:ext cx="201168"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4" name="Text 22"/>
          <p:cNvSpPr/>
          <p:nvPr/>
        </p:nvSpPr>
        <p:spPr>
          <a:xfrm>
            <a:off x="566928" y="3328416"/>
            <a:ext cx="3749040" cy="32004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Assess delivery operations: traffic, weather, and time efficiency</a:t>
            </a:r>
            <a:endParaRPr lang="en-US" sz="1050" dirty="0"/>
          </a:p>
        </p:txBody>
      </p:sp>
      <p:sp>
        <p:nvSpPr>
          <p:cNvPr id="25" name="Shape 23"/>
          <p:cNvSpPr/>
          <p:nvPr/>
        </p:nvSpPr>
        <p:spPr>
          <a:xfrm>
            <a:off x="274320" y="3767328"/>
            <a:ext cx="201168" cy="201168"/>
          </a:xfrm>
          <a:prstGeom prst="ellipse">
            <a:avLst/>
          </a:prstGeom>
          <a:solidFill>
            <a:srgbClr val="E23744"/>
          </a:solidFill>
          <a:ln/>
        </p:spPr>
      </p:sp>
      <p:sp>
        <p:nvSpPr>
          <p:cNvPr id="26" name="Text 24"/>
          <p:cNvSpPr/>
          <p:nvPr/>
        </p:nvSpPr>
        <p:spPr>
          <a:xfrm>
            <a:off x="274320" y="3749040"/>
            <a:ext cx="201168"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7" name="Text 25"/>
          <p:cNvSpPr/>
          <p:nvPr/>
        </p:nvSpPr>
        <p:spPr>
          <a:xfrm>
            <a:off x="566928" y="3712464"/>
            <a:ext cx="3749040" cy="32004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Build an interactive Power BI dashboard for stakeholder use</a:t>
            </a:r>
            <a:endParaRPr lang="en-US" sz="1050" dirty="0"/>
          </a:p>
        </p:txBody>
      </p:sp>
      <p:sp>
        <p:nvSpPr>
          <p:cNvPr id="28" name="Text 26"/>
          <p:cNvSpPr/>
          <p:nvPr/>
        </p:nvSpPr>
        <p:spPr>
          <a:xfrm>
            <a:off x="4846320" y="1874520"/>
            <a:ext cx="4023360" cy="256032"/>
          </a:xfrm>
          <a:prstGeom prst="rect">
            <a:avLst/>
          </a:prstGeom>
          <a:noFill/>
          <a:ln/>
        </p:spPr>
        <p:txBody>
          <a:bodyPr wrap="square" rtlCol="0" anchor="ctr"/>
          <a:lstStyle/>
          <a:p>
            <a:pPr marL="0" indent="0">
              <a:buNone/>
            </a:pPr>
            <a:r>
              <a:rPr lang="en-US" sz="1000" b="1" kern="0" spc="200" dirty="0">
                <a:solidFill>
                  <a:srgbClr val="E23744"/>
                </a:solidFill>
                <a:latin typeface="Calibri" pitchFamily="34" charset="0"/>
                <a:ea typeface="Calibri" pitchFamily="34" charset="-122"/>
                <a:cs typeface="Calibri" pitchFamily="34" charset="-120"/>
              </a:rPr>
              <a:t>EXPECTED OUTCOMES</a:t>
            </a:r>
            <a:endParaRPr lang="en-US" sz="1000" dirty="0"/>
          </a:p>
        </p:txBody>
      </p:sp>
      <p:sp>
        <p:nvSpPr>
          <p:cNvPr id="29" name="Shape 27"/>
          <p:cNvSpPr/>
          <p:nvPr/>
        </p:nvSpPr>
        <p:spPr>
          <a:xfrm>
            <a:off x="4846320" y="2176272"/>
            <a:ext cx="3977640" cy="320040"/>
          </a:xfrm>
          <a:prstGeom prst="rect">
            <a:avLst/>
          </a:prstGeom>
          <a:solidFill>
            <a:srgbClr val="F1F5F9"/>
          </a:solidFill>
          <a:ln w="12700">
            <a:solidFill>
              <a:srgbClr val="E2E8F0"/>
            </a:solidFill>
            <a:prstDash val="solid"/>
          </a:ln>
        </p:spPr>
      </p:sp>
      <p:sp>
        <p:nvSpPr>
          <p:cNvPr id="30" name="Text 28"/>
          <p:cNvSpPr/>
          <p:nvPr/>
        </p:nvSpPr>
        <p:spPr>
          <a:xfrm>
            <a:off x="4983480" y="2194560"/>
            <a:ext cx="3749040" cy="283464"/>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Actionable business insights from 800K+ records</a:t>
            </a:r>
            <a:endParaRPr lang="en-US" sz="1000" dirty="0"/>
          </a:p>
        </p:txBody>
      </p:sp>
      <p:sp>
        <p:nvSpPr>
          <p:cNvPr id="31" name="Shape 29"/>
          <p:cNvSpPr/>
          <p:nvPr/>
        </p:nvSpPr>
        <p:spPr>
          <a:xfrm>
            <a:off x="4846320" y="2560320"/>
            <a:ext cx="3977640" cy="320040"/>
          </a:xfrm>
          <a:prstGeom prst="rect">
            <a:avLst/>
          </a:prstGeom>
          <a:solidFill>
            <a:srgbClr val="F1F5F9"/>
          </a:solidFill>
          <a:ln w="12700">
            <a:solidFill>
              <a:srgbClr val="E2E8F0"/>
            </a:solidFill>
            <a:prstDash val="solid"/>
          </a:ln>
        </p:spPr>
      </p:sp>
      <p:sp>
        <p:nvSpPr>
          <p:cNvPr id="32" name="Text 30"/>
          <p:cNvSpPr/>
          <p:nvPr/>
        </p:nvSpPr>
        <p:spPr>
          <a:xfrm>
            <a:off x="4983480" y="2578608"/>
            <a:ext cx="3749040" cy="283464"/>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Interactive multi-page Power BI dashboard</a:t>
            </a:r>
            <a:endParaRPr lang="en-US" sz="1000" dirty="0"/>
          </a:p>
        </p:txBody>
      </p:sp>
      <p:sp>
        <p:nvSpPr>
          <p:cNvPr id="33" name="Shape 31"/>
          <p:cNvSpPr/>
          <p:nvPr/>
        </p:nvSpPr>
        <p:spPr>
          <a:xfrm>
            <a:off x="4846320" y="2944368"/>
            <a:ext cx="3977640" cy="320040"/>
          </a:xfrm>
          <a:prstGeom prst="rect">
            <a:avLst/>
          </a:prstGeom>
          <a:solidFill>
            <a:srgbClr val="F1F5F9"/>
          </a:solidFill>
          <a:ln w="12700">
            <a:solidFill>
              <a:srgbClr val="E2E8F0"/>
            </a:solidFill>
            <a:prstDash val="solid"/>
          </a:ln>
        </p:spPr>
      </p:sp>
      <p:sp>
        <p:nvSpPr>
          <p:cNvPr id="34" name="Text 32"/>
          <p:cNvSpPr/>
          <p:nvPr/>
        </p:nvSpPr>
        <p:spPr>
          <a:xfrm>
            <a:off x="4983480" y="2962656"/>
            <a:ext cx="3749040" cy="283464"/>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City-wise &amp; cuisine-wise performance report</a:t>
            </a:r>
            <a:endParaRPr lang="en-US" sz="1000" dirty="0"/>
          </a:p>
        </p:txBody>
      </p:sp>
      <p:sp>
        <p:nvSpPr>
          <p:cNvPr id="35" name="Shape 33"/>
          <p:cNvSpPr/>
          <p:nvPr/>
        </p:nvSpPr>
        <p:spPr>
          <a:xfrm>
            <a:off x="4846320" y="3328416"/>
            <a:ext cx="3977640" cy="320040"/>
          </a:xfrm>
          <a:prstGeom prst="rect">
            <a:avLst/>
          </a:prstGeom>
          <a:solidFill>
            <a:srgbClr val="F1F5F9"/>
          </a:solidFill>
          <a:ln w="12700">
            <a:solidFill>
              <a:srgbClr val="E2E8F0"/>
            </a:solidFill>
            <a:prstDash val="solid"/>
          </a:ln>
        </p:spPr>
      </p:sp>
      <p:sp>
        <p:nvSpPr>
          <p:cNvPr id="36" name="Text 34"/>
          <p:cNvSpPr/>
          <p:nvPr/>
        </p:nvSpPr>
        <p:spPr>
          <a:xfrm>
            <a:off x="4983480" y="3346704"/>
            <a:ext cx="3749040" cy="283464"/>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Delivery optimization recommendations</a:t>
            </a:r>
            <a:endParaRPr lang="en-US" sz="1000" dirty="0"/>
          </a:p>
        </p:txBody>
      </p:sp>
      <p:sp>
        <p:nvSpPr>
          <p:cNvPr id="37" name="Shape 35"/>
          <p:cNvSpPr/>
          <p:nvPr/>
        </p:nvSpPr>
        <p:spPr>
          <a:xfrm>
            <a:off x="4846320" y="3712464"/>
            <a:ext cx="3977640" cy="320040"/>
          </a:xfrm>
          <a:prstGeom prst="rect">
            <a:avLst/>
          </a:prstGeom>
          <a:solidFill>
            <a:srgbClr val="F1F5F9"/>
          </a:solidFill>
          <a:ln w="12700">
            <a:solidFill>
              <a:srgbClr val="E2E8F0"/>
            </a:solidFill>
            <a:prstDash val="solid"/>
          </a:ln>
        </p:spPr>
      </p:sp>
      <p:sp>
        <p:nvSpPr>
          <p:cNvPr id="38" name="Text 36"/>
          <p:cNvSpPr/>
          <p:nvPr/>
        </p:nvSpPr>
        <p:spPr>
          <a:xfrm>
            <a:off x="4983480" y="3730752"/>
            <a:ext cx="3749040" cy="283464"/>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Data-driven marketing &amp; expansion strategy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23744"/>
          </a:solidFill>
          <a:ln/>
        </p:spPr>
      </p:sp>
      <p:sp>
        <p:nvSpPr>
          <p:cNvPr id="3" name="Text 1"/>
          <p:cNvSpPr/>
          <p:nvPr/>
        </p:nvSpPr>
        <p:spPr>
          <a:xfrm>
            <a:off x="365760" y="73152"/>
            <a:ext cx="841248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Dataset Overview</a:t>
            </a:r>
            <a:endParaRPr lang="en-US" sz="2200" dirty="0"/>
          </a:p>
        </p:txBody>
      </p:sp>
      <p:sp>
        <p:nvSpPr>
          <p:cNvPr id="4" name="Text 2"/>
          <p:cNvSpPr/>
          <p:nvPr/>
        </p:nvSpPr>
        <p:spPr>
          <a:xfrm>
            <a:off x="2764301" y="189738"/>
            <a:ext cx="8412480" cy="256032"/>
          </a:xfrm>
          <a:prstGeom prst="rect">
            <a:avLst/>
          </a:prstGeom>
          <a:noFill/>
          <a:ln/>
        </p:spPr>
        <p:txBody>
          <a:bodyPr wrap="square" lIns="0" tIns="0" rIns="0" bIns="0" rtlCol="0" anchor="ctr"/>
          <a:lstStyle/>
          <a:p>
            <a:pPr marL="0" indent="0">
              <a:buNone/>
            </a:pPr>
            <a:r>
              <a:rPr lang="en-US" sz="1100" i="1" dirty="0">
                <a:solidFill>
                  <a:srgbClr val="FFD0D5"/>
                </a:solidFill>
                <a:latin typeface="Calibri" pitchFamily="34" charset="0"/>
                <a:ea typeface="Calibri" pitchFamily="34" charset="-122"/>
                <a:cs typeface="Calibri" pitchFamily="34" charset="-120"/>
              </a:rPr>
              <a:t>6 Structured Tables • 800K+ Total Records • Relational Schema</a:t>
            </a:r>
            <a:endParaRPr lang="en-US" sz="1100" dirty="0"/>
          </a:p>
        </p:txBody>
      </p:sp>
      <p:sp>
        <p:nvSpPr>
          <p:cNvPr id="6" name="Text 4"/>
          <p:cNvSpPr/>
          <p:nvPr/>
        </p:nvSpPr>
        <p:spPr>
          <a:xfrm>
            <a:off x="274320" y="4965192"/>
            <a:ext cx="6400800" cy="164592"/>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Zomato Market Intelligence Dashboard  •  Data Analytics Project</a:t>
            </a:r>
            <a:endParaRPr lang="en-US" sz="800" dirty="0"/>
          </a:p>
        </p:txBody>
      </p:sp>
      <p:sp>
        <p:nvSpPr>
          <p:cNvPr id="7" name="Text 5"/>
          <p:cNvSpPr/>
          <p:nvPr/>
        </p:nvSpPr>
        <p:spPr>
          <a:xfrm>
            <a:off x="8046720" y="4965192"/>
            <a:ext cx="822960" cy="164592"/>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3 / 15</a:t>
            </a:r>
            <a:endParaRPr lang="en-US" sz="800" dirty="0"/>
          </a:p>
        </p:txBody>
      </p:sp>
      <p:sp>
        <p:nvSpPr>
          <p:cNvPr id="8" name="Text 6"/>
          <p:cNvSpPr/>
          <p:nvPr/>
        </p:nvSpPr>
        <p:spPr>
          <a:xfrm>
            <a:off x="3200400" y="749808"/>
            <a:ext cx="2743200" cy="256032"/>
          </a:xfrm>
          <a:prstGeom prst="rect">
            <a:avLst/>
          </a:prstGeom>
          <a:noFill/>
          <a:ln/>
        </p:spPr>
        <p:txBody>
          <a:bodyPr wrap="square" rtlCol="0" anchor="ctr"/>
          <a:lstStyle/>
          <a:p>
            <a:pPr marL="0" indent="0" algn="ctr">
              <a:buNone/>
            </a:pPr>
            <a:r>
              <a:rPr lang="en-US" sz="1000" b="1" kern="0" spc="100" dirty="0">
                <a:solidFill>
                  <a:srgbClr val="E23744"/>
                </a:solidFill>
                <a:latin typeface="Calibri" pitchFamily="34" charset="0"/>
                <a:ea typeface="Calibri" pitchFamily="34" charset="-122"/>
                <a:cs typeface="Calibri" pitchFamily="34" charset="-120"/>
              </a:rPr>
              <a:t>TOTAL RECORDS  ≈  800K+</a:t>
            </a:r>
            <a:endParaRPr lang="en-US" sz="1000" dirty="0"/>
          </a:p>
        </p:txBody>
      </p:sp>
      <p:sp>
        <p:nvSpPr>
          <p:cNvPr id="9" name="Shape 7"/>
          <p:cNvSpPr/>
          <p:nvPr/>
        </p:nvSpPr>
        <p:spPr>
          <a:xfrm>
            <a:off x="228600" y="1078992"/>
            <a:ext cx="2743200" cy="164592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0" name="Shape 8"/>
          <p:cNvSpPr/>
          <p:nvPr/>
        </p:nvSpPr>
        <p:spPr>
          <a:xfrm>
            <a:off x="228600" y="1078992"/>
            <a:ext cx="2743200" cy="384048"/>
          </a:xfrm>
          <a:prstGeom prst="rect">
            <a:avLst/>
          </a:prstGeom>
          <a:solidFill>
            <a:srgbClr val="E23744"/>
          </a:solidFill>
          <a:ln/>
        </p:spPr>
      </p:sp>
      <p:sp>
        <p:nvSpPr>
          <p:cNvPr id="11" name="Text 9"/>
          <p:cNvSpPr/>
          <p:nvPr/>
        </p:nvSpPr>
        <p:spPr>
          <a:xfrm>
            <a:off x="320040" y="1115568"/>
            <a:ext cx="265176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USERS</a:t>
            </a:r>
            <a:endParaRPr lang="en-US" sz="1200" dirty="0"/>
          </a:p>
        </p:txBody>
      </p:sp>
      <p:sp>
        <p:nvSpPr>
          <p:cNvPr id="12" name="Text 10"/>
          <p:cNvSpPr/>
          <p:nvPr/>
        </p:nvSpPr>
        <p:spPr>
          <a:xfrm>
            <a:off x="365760" y="1517904"/>
            <a:ext cx="1371600" cy="201168"/>
          </a:xfrm>
          <a:prstGeom prst="rect">
            <a:avLst/>
          </a:prstGeom>
          <a:noFill/>
          <a:ln/>
        </p:spPr>
        <p:txBody>
          <a:bodyPr wrap="square" lIns="0" tIns="0" rIns="0" bIns="0" rtlCol="0" anchor="ctr"/>
          <a:lstStyle/>
          <a:p>
            <a:pPr marL="0" indent="0">
              <a:buNone/>
            </a:pPr>
            <a:r>
              <a:rPr lang="en-US" sz="800" b="1" kern="0" spc="100" dirty="0">
                <a:solidFill>
                  <a:srgbClr val="64748B"/>
                </a:solidFill>
                <a:latin typeface="Calibri" pitchFamily="34" charset="0"/>
                <a:ea typeface="Calibri" pitchFamily="34" charset="-122"/>
                <a:cs typeface="Calibri" pitchFamily="34" charset="-120"/>
              </a:rPr>
              <a:t>RECORDS</a:t>
            </a:r>
            <a:endParaRPr lang="en-US" sz="800" dirty="0"/>
          </a:p>
        </p:txBody>
      </p:sp>
      <p:sp>
        <p:nvSpPr>
          <p:cNvPr id="13" name="Text 11"/>
          <p:cNvSpPr/>
          <p:nvPr/>
        </p:nvSpPr>
        <p:spPr>
          <a:xfrm>
            <a:off x="365760" y="1700784"/>
            <a:ext cx="2468880" cy="347472"/>
          </a:xfrm>
          <a:prstGeom prst="rect">
            <a:avLst/>
          </a:prstGeom>
          <a:noFill/>
          <a:ln/>
        </p:spPr>
        <p:txBody>
          <a:bodyPr wrap="square" lIns="0" tIns="0" rIns="0" bIns="0" rtlCol="0" anchor="ctr"/>
          <a:lstStyle/>
          <a:p>
            <a:pPr marL="0" indent="0">
              <a:buNone/>
            </a:pPr>
            <a:r>
              <a:rPr lang="en-US" sz="2000" b="1" dirty="0">
                <a:solidFill>
                  <a:srgbClr val="E23744"/>
                </a:solidFill>
                <a:latin typeface="Calibri" pitchFamily="34" charset="0"/>
                <a:ea typeface="Calibri" pitchFamily="34" charset="-122"/>
                <a:cs typeface="Calibri" pitchFamily="34" charset="-120"/>
              </a:rPr>
              <a:t>100,000</a:t>
            </a:r>
            <a:endParaRPr lang="en-US" sz="2000" dirty="0"/>
          </a:p>
        </p:txBody>
      </p:sp>
      <p:sp>
        <p:nvSpPr>
          <p:cNvPr id="14" name="Shape 12"/>
          <p:cNvSpPr/>
          <p:nvPr/>
        </p:nvSpPr>
        <p:spPr>
          <a:xfrm>
            <a:off x="365760" y="2084832"/>
            <a:ext cx="2468880" cy="18288"/>
          </a:xfrm>
          <a:prstGeom prst="rect">
            <a:avLst/>
          </a:prstGeom>
          <a:solidFill>
            <a:srgbClr val="E2E8F0"/>
          </a:solidFill>
          <a:ln/>
        </p:spPr>
      </p:sp>
      <p:sp>
        <p:nvSpPr>
          <p:cNvPr id="15" name="Text 13"/>
          <p:cNvSpPr/>
          <p:nvPr/>
        </p:nvSpPr>
        <p:spPr>
          <a:xfrm>
            <a:off x="365760" y="2121408"/>
            <a:ext cx="2468880" cy="5029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Key Columns: user_id, name, age, gender, occupation, income, education</a:t>
            </a:r>
            <a:endParaRPr lang="en-US" sz="850" dirty="0"/>
          </a:p>
        </p:txBody>
      </p:sp>
      <p:sp>
        <p:nvSpPr>
          <p:cNvPr id="16" name="Shape 14"/>
          <p:cNvSpPr/>
          <p:nvPr/>
        </p:nvSpPr>
        <p:spPr>
          <a:xfrm>
            <a:off x="3246120" y="1078992"/>
            <a:ext cx="2743200" cy="164592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7" name="Shape 15"/>
          <p:cNvSpPr/>
          <p:nvPr/>
        </p:nvSpPr>
        <p:spPr>
          <a:xfrm>
            <a:off x="3246120" y="1078992"/>
            <a:ext cx="2743200" cy="384048"/>
          </a:xfrm>
          <a:prstGeom prst="rect">
            <a:avLst/>
          </a:prstGeom>
          <a:solidFill>
            <a:srgbClr val="0891B2"/>
          </a:solidFill>
          <a:ln/>
        </p:spPr>
      </p:sp>
      <p:sp>
        <p:nvSpPr>
          <p:cNvPr id="18" name="Text 16"/>
          <p:cNvSpPr/>
          <p:nvPr/>
        </p:nvSpPr>
        <p:spPr>
          <a:xfrm>
            <a:off x="3337560" y="1115568"/>
            <a:ext cx="265176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ORDERS</a:t>
            </a:r>
            <a:endParaRPr lang="en-US" sz="1200" dirty="0"/>
          </a:p>
        </p:txBody>
      </p:sp>
      <p:sp>
        <p:nvSpPr>
          <p:cNvPr id="19" name="Text 17"/>
          <p:cNvSpPr/>
          <p:nvPr/>
        </p:nvSpPr>
        <p:spPr>
          <a:xfrm>
            <a:off x="3383280" y="1517904"/>
            <a:ext cx="1371600" cy="201168"/>
          </a:xfrm>
          <a:prstGeom prst="rect">
            <a:avLst/>
          </a:prstGeom>
          <a:noFill/>
          <a:ln/>
        </p:spPr>
        <p:txBody>
          <a:bodyPr wrap="square" lIns="0" tIns="0" rIns="0" bIns="0" rtlCol="0" anchor="ctr"/>
          <a:lstStyle/>
          <a:p>
            <a:pPr marL="0" indent="0">
              <a:buNone/>
            </a:pPr>
            <a:r>
              <a:rPr lang="en-US" sz="800" b="1" kern="0" spc="100" dirty="0">
                <a:solidFill>
                  <a:srgbClr val="64748B"/>
                </a:solidFill>
                <a:latin typeface="Calibri" pitchFamily="34" charset="0"/>
                <a:ea typeface="Calibri" pitchFamily="34" charset="-122"/>
                <a:cs typeface="Calibri" pitchFamily="34" charset="-120"/>
              </a:rPr>
              <a:t>RECORDS</a:t>
            </a:r>
            <a:endParaRPr lang="en-US" sz="800" dirty="0"/>
          </a:p>
        </p:txBody>
      </p:sp>
      <p:sp>
        <p:nvSpPr>
          <p:cNvPr id="20" name="Text 18"/>
          <p:cNvSpPr/>
          <p:nvPr/>
        </p:nvSpPr>
        <p:spPr>
          <a:xfrm>
            <a:off x="3383280" y="1700784"/>
            <a:ext cx="2468880" cy="347472"/>
          </a:xfrm>
          <a:prstGeom prst="rect">
            <a:avLst/>
          </a:prstGeom>
          <a:noFill/>
          <a:ln/>
        </p:spPr>
        <p:txBody>
          <a:bodyPr wrap="square" lIns="0" tIns="0" rIns="0" bIns="0" rtlCol="0" anchor="ctr"/>
          <a:lstStyle/>
          <a:p>
            <a:pPr marL="0" indent="0">
              <a:buNone/>
            </a:pPr>
            <a:r>
              <a:rPr lang="en-US" sz="2000" b="1" dirty="0">
                <a:solidFill>
                  <a:srgbClr val="0891B2"/>
                </a:solidFill>
                <a:latin typeface="Calibri" pitchFamily="34" charset="0"/>
                <a:ea typeface="Calibri" pitchFamily="34" charset="-122"/>
                <a:cs typeface="Calibri" pitchFamily="34" charset="-120"/>
              </a:rPr>
              <a:t>150,281</a:t>
            </a:r>
            <a:endParaRPr lang="en-US" sz="2000" dirty="0"/>
          </a:p>
        </p:txBody>
      </p:sp>
      <p:sp>
        <p:nvSpPr>
          <p:cNvPr id="21" name="Shape 19"/>
          <p:cNvSpPr/>
          <p:nvPr/>
        </p:nvSpPr>
        <p:spPr>
          <a:xfrm>
            <a:off x="3383280" y="2084832"/>
            <a:ext cx="2468880" cy="18288"/>
          </a:xfrm>
          <a:prstGeom prst="rect">
            <a:avLst/>
          </a:prstGeom>
          <a:solidFill>
            <a:srgbClr val="E2E8F0"/>
          </a:solidFill>
          <a:ln/>
        </p:spPr>
      </p:sp>
      <p:sp>
        <p:nvSpPr>
          <p:cNvPr id="22" name="Text 20"/>
          <p:cNvSpPr/>
          <p:nvPr/>
        </p:nvSpPr>
        <p:spPr>
          <a:xfrm>
            <a:off x="3383280" y="2121408"/>
            <a:ext cx="2468880" cy="5029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Key Columns: order_date, sales_qty, sales_amount, currency, user_id, r_id</a:t>
            </a:r>
            <a:endParaRPr lang="en-US" sz="850" dirty="0"/>
          </a:p>
        </p:txBody>
      </p:sp>
      <p:sp>
        <p:nvSpPr>
          <p:cNvPr id="23" name="Shape 21"/>
          <p:cNvSpPr/>
          <p:nvPr/>
        </p:nvSpPr>
        <p:spPr>
          <a:xfrm>
            <a:off x="6263640" y="1078992"/>
            <a:ext cx="2743200" cy="164592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24" name="Shape 22"/>
          <p:cNvSpPr/>
          <p:nvPr/>
        </p:nvSpPr>
        <p:spPr>
          <a:xfrm>
            <a:off x="6263640" y="1078992"/>
            <a:ext cx="2743200" cy="384048"/>
          </a:xfrm>
          <a:prstGeom prst="rect">
            <a:avLst/>
          </a:prstGeom>
          <a:solidFill>
            <a:srgbClr val="10B981"/>
          </a:solidFill>
          <a:ln/>
        </p:spPr>
      </p:sp>
      <p:sp>
        <p:nvSpPr>
          <p:cNvPr id="25" name="Text 23"/>
          <p:cNvSpPr/>
          <p:nvPr/>
        </p:nvSpPr>
        <p:spPr>
          <a:xfrm>
            <a:off x="6355080" y="1115568"/>
            <a:ext cx="265176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RESTAURANT</a:t>
            </a:r>
            <a:endParaRPr lang="en-US" sz="1200" dirty="0"/>
          </a:p>
        </p:txBody>
      </p:sp>
      <p:sp>
        <p:nvSpPr>
          <p:cNvPr id="26" name="Text 24"/>
          <p:cNvSpPr/>
          <p:nvPr/>
        </p:nvSpPr>
        <p:spPr>
          <a:xfrm>
            <a:off x="6400800" y="1517904"/>
            <a:ext cx="1371600" cy="201168"/>
          </a:xfrm>
          <a:prstGeom prst="rect">
            <a:avLst/>
          </a:prstGeom>
          <a:noFill/>
          <a:ln/>
        </p:spPr>
        <p:txBody>
          <a:bodyPr wrap="square" lIns="0" tIns="0" rIns="0" bIns="0" rtlCol="0" anchor="ctr"/>
          <a:lstStyle/>
          <a:p>
            <a:pPr marL="0" indent="0">
              <a:buNone/>
            </a:pPr>
            <a:r>
              <a:rPr lang="en-US" sz="800" b="1" kern="0" spc="100" dirty="0">
                <a:solidFill>
                  <a:srgbClr val="64748B"/>
                </a:solidFill>
                <a:latin typeface="Calibri" pitchFamily="34" charset="0"/>
                <a:ea typeface="Calibri" pitchFamily="34" charset="-122"/>
                <a:cs typeface="Calibri" pitchFamily="34" charset="-120"/>
              </a:rPr>
              <a:t>RECORDS</a:t>
            </a:r>
            <a:endParaRPr lang="en-US" sz="800" dirty="0"/>
          </a:p>
        </p:txBody>
      </p:sp>
      <p:sp>
        <p:nvSpPr>
          <p:cNvPr id="27" name="Text 25"/>
          <p:cNvSpPr/>
          <p:nvPr/>
        </p:nvSpPr>
        <p:spPr>
          <a:xfrm>
            <a:off x="6400800" y="1700784"/>
            <a:ext cx="2468880" cy="347472"/>
          </a:xfrm>
          <a:prstGeom prst="rect">
            <a:avLst/>
          </a:prstGeom>
          <a:noFill/>
          <a:ln/>
        </p:spPr>
        <p:txBody>
          <a:bodyPr wrap="square" lIns="0" tIns="0" rIns="0" bIns="0" rtlCol="0" anchor="ctr"/>
          <a:lstStyle/>
          <a:p>
            <a:pPr marL="0" indent="0">
              <a:buNone/>
            </a:pPr>
            <a:r>
              <a:rPr lang="en-US" sz="2000" b="1" dirty="0">
                <a:solidFill>
                  <a:srgbClr val="10B981"/>
                </a:solidFill>
                <a:latin typeface="Calibri" pitchFamily="34" charset="0"/>
                <a:ea typeface="Calibri" pitchFamily="34" charset="-122"/>
                <a:cs typeface="Calibri" pitchFamily="34" charset="-120"/>
              </a:rPr>
              <a:t>148,544</a:t>
            </a:r>
            <a:endParaRPr lang="en-US" sz="2000" dirty="0"/>
          </a:p>
        </p:txBody>
      </p:sp>
      <p:sp>
        <p:nvSpPr>
          <p:cNvPr id="28" name="Shape 26"/>
          <p:cNvSpPr/>
          <p:nvPr/>
        </p:nvSpPr>
        <p:spPr>
          <a:xfrm>
            <a:off x="6400800" y="2084832"/>
            <a:ext cx="2468880" cy="18288"/>
          </a:xfrm>
          <a:prstGeom prst="rect">
            <a:avLst/>
          </a:prstGeom>
          <a:solidFill>
            <a:srgbClr val="E2E8F0"/>
          </a:solidFill>
          <a:ln/>
        </p:spPr>
      </p:sp>
      <p:sp>
        <p:nvSpPr>
          <p:cNvPr id="29" name="Text 27"/>
          <p:cNvSpPr/>
          <p:nvPr/>
        </p:nvSpPr>
        <p:spPr>
          <a:xfrm>
            <a:off x="6400800" y="2121408"/>
            <a:ext cx="2468880" cy="5029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Key Columns: id, name, city, rating, cost, cuisine, address</a:t>
            </a:r>
            <a:endParaRPr lang="en-US" sz="850" dirty="0"/>
          </a:p>
        </p:txBody>
      </p:sp>
      <p:sp>
        <p:nvSpPr>
          <p:cNvPr id="30" name="Shape 28"/>
          <p:cNvSpPr/>
          <p:nvPr/>
        </p:nvSpPr>
        <p:spPr>
          <a:xfrm>
            <a:off x="228600" y="3090672"/>
            <a:ext cx="2743200" cy="164592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31" name="Shape 29"/>
          <p:cNvSpPr/>
          <p:nvPr/>
        </p:nvSpPr>
        <p:spPr>
          <a:xfrm>
            <a:off x="228600" y="3090672"/>
            <a:ext cx="2743200" cy="384048"/>
          </a:xfrm>
          <a:prstGeom prst="rect">
            <a:avLst/>
          </a:prstGeom>
          <a:solidFill>
            <a:srgbClr val="F97316"/>
          </a:solidFill>
          <a:ln/>
        </p:spPr>
      </p:sp>
      <p:sp>
        <p:nvSpPr>
          <p:cNvPr id="32" name="Text 30"/>
          <p:cNvSpPr/>
          <p:nvPr/>
        </p:nvSpPr>
        <p:spPr>
          <a:xfrm>
            <a:off x="320040" y="3127248"/>
            <a:ext cx="265176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FOOD</a:t>
            </a:r>
            <a:endParaRPr lang="en-US" sz="1200" dirty="0"/>
          </a:p>
        </p:txBody>
      </p:sp>
      <p:sp>
        <p:nvSpPr>
          <p:cNvPr id="33" name="Text 31"/>
          <p:cNvSpPr/>
          <p:nvPr/>
        </p:nvSpPr>
        <p:spPr>
          <a:xfrm>
            <a:off x="365760" y="3529584"/>
            <a:ext cx="1371600" cy="201168"/>
          </a:xfrm>
          <a:prstGeom prst="rect">
            <a:avLst/>
          </a:prstGeom>
          <a:noFill/>
          <a:ln/>
        </p:spPr>
        <p:txBody>
          <a:bodyPr wrap="square" lIns="0" tIns="0" rIns="0" bIns="0" rtlCol="0" anchor="ctr"/>
          <a:lstStyle/>
          <a:p>
            <a:pPr marL="0" indent="0">
              <a:buNone/>
            </a:pPr>
            <a:r>
              <a:rPr lang="en-US" sz="800" b="1" kern="0" spc="100" dirty="0">
                <a:solidFill>
                  <a:srgbClr val="64748B"/>
                </a:solidFill>
                <a:latin typeface="Calibri" pitchFamily="34" charset="0"/>
                <a:ea typeface="Calibri" pitchFamily="34" charset="-122"/>
                <a:cs typeface="Calibri" pitchFamily="34" charset="-120"/>
              </a:rPr>
              <a:t>RECORDS</a:t>
            </a:r>
            <a:endParaRPr lang="en-US" sz="800" dirty="0"/>
          </a:p>
        </p:txBody>
      </p:sp>
      <p:sp>
        <p:nvSpPr>
          <p:cNvPr id="34" name="Text 32"/>
          <p:cNvSpPr/>
          <p:nvPr/>
        </p:nvSpPr>
        <p:spPr>
          <a:xfrm>
            <a:off x="365760" y="3712464"/>
            <a:ext cx="2468880" cy="347472"/>
          </a:xfrm>
          <a:prstGeom prst="rect">
            <a:avLst/>
          </a:prstGeom>
          <a:noFill/>
          <a:ln/>
        </p:spPr>
        <p:txBody>
          <a:bodyPr wrap="square" lIns="0" tIns="0" rIns="0" bIns="0" rtlCol="0" anchor="ctr"/>
          <a:lstStyle/>
          <a:p>
            <a:pPr marL="0" indent="0">
              <a:buNone/>
            </a:pPr>
            <a:r>
              <a:rPr lang="en-US" sz="2000" b="1" dirty="0">
                <a:solidFill>
                  <a:srgbClr val="F97316"/>
                </a:solidFill>
                <a:latin typeface="Calibri" pitchFamily="34" charset="0"/>
                <a:ea typeface="Calibri" pitchFamily="34" charset="-122"/>
                <a:cs typeface="Calibri" pitchFamily="34" charset="-120"/>
              </a:rPr>
              <a:t>371,641</a:t>
            </a:r>
            <a:endParaRPr lang="en-US" sz="2000" dirty="0"/>
          </a:p>
        </p:txBody>
      </p:sp>
      <p:sp>
        <p:nvSpPr>
          <p:cNvPr id="35" name="Shape 33"/>
          <p:cNvSpPr/>
          <p:nvPr/>
        </p:nvSpPr>
        <p:spPr>
          <a:xfrm>
            <a:off x="365760" y="4096512"/>
            <a:ext cx="2468880" cy="18288"/>
          </a:xfrm>
          <a:prstGeom prst="rect">
            <a:avLst/>
          </a:prstGeom>
          <a:solidFill>
            <a:srgbClr val="E2E8F0"/>
          </a:solidFill>
          <a:ln/>
        </p:spPr>
      </p:sp>
      <p:sp>
        <p:nvSpPr>
          <p:cNvPr id="36" name="Text 34"/>
          <p:cNvSpPr/>
          <p:nvPr/>
        </p:nvSpPr>
        <p:spPr>
          <a:xfrm>
            <a:off x="365760" y="4133088"/>
            <a:ext cx="2468880" cy="5029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Key Columns: f_id, item, veg_or_non_veg</a:t>
            </a:r>
            <a:endParaRPr lang="en-US" sz="850" dirty="0"/>
          </a:p>
        </p:txBody>
      </p:sp>
      <p:sp>
        <p:nvSpPr>
          <p:cNvPr id="37" name="Shape 35"/>
          <p:cNvSpPr/>
          <p:nvPr/>
        </p:nvSpPr>
        <p:spPr>
          <a:xfrm>
            <a:off x="3246120" y="3090672"/>
            <a:ext cx="2743200" cy="164592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38" name="Shape 36"/>
          <p:cNvSpPr/>
          <p:nvPr/>
        </p:nvSpPr>
        <p:spPr>
          <a:xfrm>
            <a:off x="3246120" y="3090672"/>
            <a:ext cx="2743200" cy="384048"/>
          </a:xfrm>
          <a:prstGeom prst="rect">
            <a:avLst/>
          </a:prstGeom>
          <a:solidFill>
            <a:srgbClr val="6366F1"/>
          </a:solidFill>
          <a:ln/>
        </p:spPr>
      </p:sp>
      <p:sp>
        <p:nvSpPr>
          <p:cNvPr id="39" name="Text 37"/>
          <p:cNvSpPr/>
          <p:nvPr/>
        </p:nvSpPr>
        <p:spPr>
          <a:xfrm>
            <a:off x="3337560" y="3127248"/>
            <a:ext cx="265176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MENU</a:t>
            </a:r>
            <a:endParaRPr lang="en-US" sz="1200" dirty="0"/>
          </a:p>
        </p:txBody>
      </p:sp>
      <p:sp>
        <p:nvSpPr>
          <p:cNvPr id="40" name="Text 38"/>
          <p:cNvSpPr/>
          <p:nvPr/>
        </p:nvSpPr>
        <p:spPr>
          <a:xfrm>
            <a:off x="3383280" y="3529584"/>
            <a:ext cx="1371600" cy="201168"/>
          </a:xfrm>
          <a:prstGeom prst="rect">
            <a:avLst/>
          </a:prstGeom>
          <a:noFill/>
          <a:ln/>
        </p:spPr>
        <p:txBody>
          <a:bodyPr wrap="square" lIns="0" tIns="0" rIns="0" bIns="0" rtlCol="0" anchor="ctr"/>
          <a:lstStyle/>
          <a:p>
            <a:pPr marL="0" indent="0">
              <a:buNone/>
            </a:pPr>
            <a:r>
              <a:rPr lang="en-US" sz="800" b="1" kern="0" spc="100" dirty="0">
                <a:solidFill>
                  <a:srgbClr val="64748B"/>
                </a:solidFill>
                <a:latin typeface="Calibri" pitchFamily="34" charset="0"/>
                <a:ea typeface="Calibri" pitchFamily="34" charset="-122"/>
                <a:cs typeface="Calibri" pitchFamily="34" charset="-120"/>
              </a:rPr>
              <a:t>RECORDS</a:t>
            </a:r>
            <a:endParaRPr lang="en-US" sz="800" dirty="0"/>
          </a:p>
        </p:txBody>
      </p:sp>
      <p:sp>
        <p:nvSpPr>
          <p:cNvPr id="41" name="Text 39"/>
          <p:cNvSpPr/>
          <p:nvPr/>
        </p:nvSpPr>
        <p:spPr>
          <a:xfrm>
            <a:off x="3383280" y="3712464"/>
            <a:ext cx="2468880" cy="347472"/>
          </a:xfrm>
          <a:prstGeom prst="rect">
            <a:avLst/>
          </a:prstGeom>
          <a:noFill/>
          <a:ln/>
        </p:spPr>
        <p:txBody>
          <a:bodyPr wrap="square" lIns="0" tIns="0" rIns="0" bIns="0" rtlCol="0" anchor="ctr"/>
          <a:lstStyle/>
          <a:p>
            <a:pPr marL="0" indent="0">
              <a:buNone/>
            </a:pPr>
            <a:r>
              <a:rPr lang="en-US" sz="2000" b="1" dirty="0">
                <a:solidFill>
                  <a:srgbClr val="6366F1"/>
                </a:solidFill>
                <a:latin typeface="Calibri" pitchFamily="34" charset="0"/>
                <a:ea typeface="Calibri" pitchFamily="34" charset="-122"/>
                <a:cs typeface="Calibri" pitchFamily="34" charset="-120"/>
              </a:rPr>
              <a:t>Linked</a:t>
            </a:r>
            <a:endParaRPr lang="en-US" sz="2000" dirty="0"/>
          </a:p>
        </p:txBody>
      </p:sp>
      <p:sp>
        <p:nvSpPr>
          <p:cNvPr id="42" name="Shape 40"/>
          <p:cNvSpPr/>
          <p:nvPr/>
        </p:nvSpPr>
        <p:spPr>
          <a:xfrm>
            <a:off x="3383280" y="4096512"/>
            <a:ext cx="2468880" cy="18288"/>
          </a:xfrm>
          <a:prstGeom prst="rect">
            <a:avLst/>
          </a:prstGeom>
          <a:solidFill>
            <a:srgbClr val="E2E8F0"/>
          </a:solidFill>
          <a:ln/>
        </p:spPr>
      </p:sp>
      <p:sp>
        <p:nvSpPr>
          <p:cNvPr id="43" name="Text 41"/>
          <p:cNvSpPr/>
          <p:nvPr/>
        </p:nvSpPr>
        <p:spPr>
          <a:xfrm>
            <a:off x="3383280" y="4133088"/>
            <a:ext cx="2468880" cy="5029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Key Columns: restaurant_id, food_id, price, portion_size</a:t>
            </a:r>
            <a:endParaRPr lang="en-US" sz="850" dirty="0"/>
          </a:p>
        </p:txBody>
      </p:sp>
      <p:sp>
        <p:nvSpPr>
          <p:cNvPr id="44" name="Shape 42"/>
          <p:cNvSpPr/>
          <p:nvPr/>
        </p:nvSpPr>
        <p:spPr>
          <a:xfrm>
            <a:off x="6263640" y="3090672"/>
            <a:ext cx="2743200" cy="164592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45" name="Shape 43"/>
          <p:cNvSpPr/>
          <p:nvPr/>
        </p:nvSpPr>
        <p:spPr>
          <a:xfrm>
            <a:off x="6263640" y="3090672"/>
            <a:ext cx="2743200" cy="384048"/>
          </a:xfrm>
          <a:prstGeom prst="rect">
            <a:avLst/>
          </a:prstGeom>
          <a:solidFill>
            <a:srgbClr val="EC4899"/>
          </a:solidFill>
          <a:ln/>
        </p:spPr>
      </p:sp>
      <p:sp>
        <p:nvSpPr>
          <p:cNvPr id="46" name="Text 44"/>
          <p:cNvSpPr/>
          <p:nvPr/>
        </p:nvSpPr>
        <p:spPr>
          <a:xfrm>
            <a:off x="6355080" y="3127248"/>
            <a:ext cx="265176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DELIVERY OPS</a:t>
            </a:r>
            <a:endParaRPr lang="en-US" sz="1200" dirty="0"/>
          </a:p>
        </p:txBody>
      </p:sp>
      <p:sp>
        <p:nvSpPr>
          <p:cNvPr id="47" name="Text 45"/>
          <p:cNvSpPr/>
          <p:nvPr/>
        </p:nvSpPr>
        <p:spPr>
          <a:xfrm>
            <a:off x="6400800" y="3529584"/>
            <a:ext cx="1371600" cy="201168"/>
          </a:xfrm>
          <a:prstGeom prst="rect">
            <a:avLst/>
          </a:prstGeom>
          <a:noFill/>
          <a:ln/>
        </p:spPr>
        <p:txBody>
          <a:bodyPr wrap="square" lIns="0" tIns="0" rIns="0" bIns="0" rtlCol="0" anchor="ctr"/>
          <a:lstStyle/>
          <a:p>
            <a:pPr marL="0" indent="0">
              <a:buNone/>
            </a:pPr>
            <a:r>
              <a:rPr lang="en-US" sz="800" b="1" kern="0" spc="100" dirty="0">
                <a:solidFill>
                  <a:srgbClr val="64748B"/>
                </a:solidFill>
                <a:latin typeface="Calibri" pitchFamily="34" charset="0"/>
                <a:ea typeface="Calibri" pitchFamily="34" charset="-122"/>
                <a:cs typeface="Calibri" pitchFamily="34" charset="-120"/>
              </a:rPr>
              <a:t>RECORDS</a:t>
            </a:r>
            <a:endParaRPr lang="en-US" sz="800" dirty="0"/>
          </a:p>
        </p:txBody>
      </p:sp>
      <p:sp>
        <p:nvSpPr>
          <p:cNvPr id="48" name="Text 46"/>
          <p:cNvSpPr/>
          <p:nvPr/>
        </p:nvSpPr>
        <p:spPr>
          <a:xfrm>
            <a:off x="6400800" y="3712464"/>
            <a:ext cx="2468880" cy="347472"/>
          </a:xfrm>
          <a:prstGeom prst="rect">
            <a:avLst/>
          </a:prstGeom>
          <a:noFill/>
          <a:ln/>
        </p:spPr>
        <p:txBody>
          <a:bodyPr wrap="square" lIns="0" tIns="0" rIns="0" bIns="0" rtlCol="0" anchor="ctr"/>
          <a:lstStyle/>
          <a:p>
            <a:pPr marL="0" indent="0">
              <a:buNone/>
            </a:pPr>
            <a:r>
              <a:rPr lang="en-US" sz="2000" b="1" dirty="0">
                <a:solidFill>
                  <a:srgbClr val="EC4899"/>
                </a:solidFill>
                <a:latin typeface="Calibri" pitchFamily="34" charset="0"/>
                <a:ea typeface="Calibri" pitchFamily="34" charset="-122"/>
                <a:cs typeface="Calibri" pitchFamily="34" charset="-120"/>
              </a:rPr>
              <a:t>43,853</a:t>
            </a:r>
            <a:endParaRPr lang="en-US" sz="2000" dirty="0"/>
          </a:p>
        </p:txBody>
      </p:sp>
      <p:sp>
        <p:nvSpPr>
          <p:cNvPr id="49" name="Shape 47"/>
          <p:cNvSpPr/>
          <p:nvPr/>
        </p:nvSpPr>
        <p:spPr>
          <a:xfrm>
            <a:off x="6400800" y="4096512"/>
            <a:ext cx="2468880" cy="18288"/>
          </a:xfrm>
          <a:prstGeom prst="rect">
            <a:avLst/>
          </a:prstGeom>
          <a:solidFill>
            <a:srgbClr val="E2E8F0"/>
          </a:solidFill>
          <a:ln/>
        </p:spPr>
      </p:sp>
      <p:sp>
        <p:nvSpPr>
          <p:cNvPr id="50" name="Text 48"/>
          <p:cNvSpPr/>
          <p:nvPr/>
        </p:nvSpPr>
        <p:spPr>
          <a:xfrm>
            <a:off x="6400800" y="4133088"/>
            <a:ext cx="2468880" cy="5029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Key Columns: age, rating, weather, traffic, vehicle, time_taken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23744"/>
          </a:solidFill>
          <a:ln/>
        </p:spPr>
      </p:sp>
      <p:sp>
        <p:nvSpPr>
          <p:cNvPr id="3" name="Text 1"/>
          <p:cNvSpPr/>
          <p:nvPr/>
        </p:nvSpPr>
        <p:spPr>
          <a:xfrm>
            <a:off x="365760" y="73152"/>
            <a:ext cx="841248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Database Design &amp; ER Diagram</a:t>
            </a:r>
            <a:endParaRPr lang="en-US" sz="2200" dirty="0"/>
          </a:p>
        </p:txBody>
      </p:sp>
      <p:sp>
        <p:nvSpPr>
          <p:cNvPr id="4" name="Text 2"/>
          <p:cNvSpPr/>
          <p:nvPr/>
        </p:nvSpPr>
        <p:spPr>
          <a:xfrm>
            <a:off x="4096512" y="192024"/>
            <a:ext cx="8412480" cy="256032"/>
          </a:xfrm>
          <a:prstGeom prst="rect">
            <a:avLst/>
          </a:prstGeom>
          <a:noFill/>
          <a:ln/>
        </p:spPr>
        <p:txBody>
          <a:bodyPr wrap="square" lIns="0" tIns="0" rIns="0" bIns="0" rtlCol="0" anchor="ctr"/>
          <a:lstStyle/>
          <a:p>
            <a:pPr marL="0" indent="0">
              <a:buNone/>
            </a:pPr>
            <a:r>
              <a:rPr lang="en-US" sz="1100" i="1" dirty="0">
                <a:solidFill>
                  <a:srgbClr val="FFD0D5"/>
                </a:solidFill>
                <a:latin typeface="Calibri" pitchFamily="34" charset="0"/>
                <a:ea typeface="Calibri" pitchFamily="34" charset="-122"/>
                <a:cs typeface="Calibri" pitchFamily="34" charset="-120"/>
              </a:rPr>
              <a:t>Entity Relationships • Normalized Schema • Primary &amp; Foreign Keys</a:t>
            </a:r>
            <a:endParaRPr lang="en-US" sz="1100" dirty="0"/>
          </a:p>
        </p:txBody>
      </p:sp>
      <p:sp>
        <p:nvSpPr>
          <p:cNvPr id="6" name="Text 4"/>
          <p:cNvSpPr/>
          <p:nvPr/>
        </p:nvSpPr>
        <p:spPr>
          <a:xfrm>
            <a:off x="274320" y="4965192"/>
            <a:ext cx="6400800" cy="164592"/>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Zomato Market Intelligence Dashboard  •  Data Analytics Project</a:t>
            </a:r>
            <a:endParaRPr lang="en-US" sz="800" dirty="0"/>
          </a:p>
        </p:txBody>
      </p:sp>
      <p:sp>
        <p:nvSpPr>
          <p:cNvPr id="7" name="Text 5"/>
          <p:cNvSpPr/>
          <p:nvPr/>
        </p:nvSpPr>
        <p:spPr>
          <a:xfrm>
            <a:off x="8046720" y="4965192"/>
            <a:ext cx="822960" cy="164592"/>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 / 15</a:t>
            </a:r>
            <a:endParaRPr lang="en-US" sz="800" dirty="0"/>
          </a:p>
        </p:txBody>
      </p:sp>
      <p:sp>
        <p:nvSpPr>
          <p:cNvPr id="8" name="Shape 6"/>
          <p:cNvSpPr/>
          <p:nvPr/>
        </p:nvSpPr>
        <p:spPr>
          <a:xfrm>
            <a:off x="228600" y="777240"/>
            <a:ext cx="3474720" cy="416052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9" name="Text 7"/>
          <p:cNvSpPr/>
          <p:nvPr/>
        </p:nvSpPr>
        <p:spPr>
          <a:xfrm>
            <a:off x="365760" y="841248"/>
            <a:ext cx="3200400" cy="274320"/>
          </a:xfrm>
          <a:prstGeom prst="rect">
            <a:avLst/>
          </a:prstGeom>
          <a:noFill/>
          <a:ln/>
        </p:spPr>
        <p:txBody>
          <a:bodyPr wrap="square" lIns="0" tIns="0" rIns="0" bIns="0" rtlCol="0" anchor="ctr"/>
          <a:lstStyle/>
          <a:p>
            <a:pPr marL="0" indent="0">
              <a:buNone/>
            </a:pPr>
            <a:r>
              <a:rPr lang="en-US" sz="1100" b="1" kern="0" spc="100" dirty="0">
                <a:solidFill>
                  <a:srgbClr val="E23744"/>
                </a:solidFill>
                <a:latin typeface="Calibri" pitchFamily="34" charset="0"/>
                <a:ea typeface="Calibri" pitchFamily="34" charset="-122"/>
                <a:cs typeface="Calibri" pitchFamily="34" charset="-120"/>
              </a:rPr>
              <a:t>WHY ER MODELING?</a:t>
            </a:r>
            <a:endParaRPr lang="en-US" sz="1100" dirty="0"/>
          </a:p>
        </p:txBody>
      </p:sp>
      <p:sp>
        <p:nvSpPr>
          <p:cNvPr id="10" name="Text 8"/>
          <p:cNvSpPr/>
          <p:nvPr/>
        </p:nvSpPr>
        <p:spPr>
          <a:xfrm>
            <a:off x="365760" y="1170432"/>
            <a:ext cx="3200400" cy="347472"/>
          </a:xfrm>
          <a:prstGeom prst="rect">
            <a:avLst/>
          </a:prstGeom>
          <a:noFill/>
          <a:ln/>
        </p:spPr>
        <p:txBody>
          <a:bodyPr wrap="square" lIns="0" tIns="0" rIns="0" bIns="0" rtlCol="0" anchor="ctr"/>
          <a:lstStyle/>
          <a:p>
            <a:pPr marL="0" indent="0">
              <a:buNone/>
            </a:pPr>
            <a:r>
              <a:rPr lang="en-US" sz="1000" b="1" dirty="0">
                <a:solidFill>
                  <a:srgbClr val="E23744"/>
                </a:solidFill>
                <a:latin typeface="Calibri" pitchFamily="34" charset="0"/>
                <a:ea typeface="Calibri" pitchFamily="34" charset="-122"/>
                <a:cs typeface="Calibri" pitchFamily="34" charset="-120"/>
              </a:rPr>
              <a:t>✦  </a:t>
            </a:r>
            <a:r>
              <a:rPr lang="en-US" sz="1000" dirty="0">
                <a:solidFill>
                  <a:srgbClr val="1E293B"/>
                </a:solidFill>
                <a:latin typeface="Calibri" pitchFamily="34" charset="0"/>
                <a:ea typeface="Calibri" pitchFamily="34" charset="-122"/>
                <a:cs typeface="Calibri" pitchFamily="34" charset="-120"/>
              </a:rPr>
              <a:t>Prevents data redundancy across large tables</a:t>
            </a:r>
            <a:endParaRPr lang="en-US" sz="1000" dirty="0"/>
          </a:p>
        </p:txBody>
      </p:sp>
      <p:sp>
        <p:nvSpPr>
          <p:cNvPr id="11" name="Text 9"/>
          <p:cNvSpPr/>
          <p:nvPr/>
        </p:nvSpPr>
        <p:spPr>
          <a:xfrm>
            <a:off x="365760" y="1554480"/>
            <a:ext cx="3200400" cy="347472"/>
          </a:xfrm>
          <a:prstGeom prst="rect">
            <a:avLst/>
          </a:prstGeom>
          <a:noFill/>
          <a:ln/>
        </p:spPr>
        <p:txBody>
          <a:bodyPr wrap="square" lIns="0" tIns="0" rIns="0" bIns="0" rtlCol="0" anchor="ctr"/>
          <a:lstStyle/>
          <a:p>
            <a:pPr marL="0" indent="0">
              <a:buNone/>
            </a:pPr>
            <a:r>
              <a:rPr lang="en-US" sz="1000" b="1" dirty="0">
                <a:solidFill>
                  <a:srgbClr val="E23744"/>
                </a:solidFill>
                <a:latin typeface="Calibri" pitchFamily="34" charset="0"/>
                <a:ea typeface="Calibri" pitchFamily="34" charset="-122"/>
                <a:cs typeface="Calibri" pitchFamily="34" charset="-120"/>
              </a:rPr>
              <a:t>✦  </a:t>
            </a:r>
            <a:r>
              <a:rPr lang="en-US" sz="1000" dirty="0">
                <a:solidFill>
                  <a:srgbClr val="1E293B"/>
                </a:solidFill>
                <a:latin typeface="Calibri" pitchFamily="34" charset="0"/>
                <a:ea typeface="Calibri" pitchFamily="34" charset="-122"/>
                <a:cs typeface="Calibri" pitchFamily="34" charset="-120"/>
              </a:rPr>
              <a:t>Enables efficient multi-table JOIN queries</a:t>
            </a:r>
            <a:endParaRPr lang="en-US" sz="1000" dirty="0"/>
          </a:p>
        </p:txBody>
      </p:sp>
      <p:sp>
        <p:nvSpPr>
          <p:cNvPr id="12" name="Text 10"/>
          <p:cNvSpPr/>
          <p:nvPr/>
        </p:nvSpPr>
        <p:spPr>
          <a:xfrm>
            <a:off x="365760" y="1938528"/>
            <a:ext cx="3200400" cy="347472"/>
          </a:xfrm>
          <a:prstGeom prst="rect">
            <a:avLst/>
          </a:prstGeom>
          <a:noFill/>
          <a:ln/>
        </p:spPr>
        <p:txBody>
          <a:bodyPr wrap="square" lIns="0" tIns="0" rIns="0" bIns="0" rtlCol="0" anchor="ctr"/>
          <a:lstStyle/>
          <a:p>
            <a:pPr marL="0" indent="0">
              <a:buNone/>
            </a:pPr>
            <a:r>
              <a:rPr lang="en-US" sz="1000" b="1" dirty="0">
                <a:solidFill>
                  <a:srgbClr val="E23744"/>
                </a:solidFill>
                <a:latin typeface="Calibri" pitchFamily="34" charset="0"/>
                <a:ea typeface="Calibri" pitchFamily="34" charset="-122"/>
                <a:cs typeface="Calibri" pitchFamily="34" charset="-120"/>
              </a:rPr>
              <a:t>✦  </a:t>
            </a:r>
            <a:r>
              <a:rPr lang="en-US" sz="1000" dirty="0">
                <a:solidFill>
                  <a:srgbClr val="1E293B"/>
                </a:solidFill>
                <a:latin typeface="Calibri" pitchFamily="34" charset="0"/>
                <a:ea typeface="Calibri" pitchFamily="34" charset="-122"/>
                <a:cs typeface="Calibri" pitchFamily="34" charset="-120"/>
              </a:rPr>
              <a:t>Maintains referential integrity across entities</a:t>
            </a:r>
            <a:endParaRPr lang="en-US" sz="1000" dirty="0"/>
          </a:p>
        </p:txBody>
      </p:sp>
      <p:sp>
        <p:nvSpPr>
          <p:cNvPr id="13" name="Text 11"/>
          <p:cNvSpPr/>
          <p:nvPr/>
        </p:nvSpPr>
        <p:spPr>
          <a:xfrm>
            <a:off x="365760" y="2322576"/>
            <a:ext cx="3200400" cy="347472"/>
          </a:xfrm>
          <a:prstGeom prst="rect">
            <a:avLst/>
          </a:prstGeom>
          <a:noFill/>
          <a:ln/>
        </p:spPr>
        <p:txBody>
          <a:bodyPr wrap="square" lIns="0" tIns="0" rIns="0" bIns="0" rtlCol="0" anchor="ctr"/>
          <a:lstStyle/>
          <a:p>
            <a:pPr marL="0" indent="0">
              <a:buNone/>
            </a:pPr>
            <a:r>
              <a:rPr lang="en-US" sz="1000" b="1" dirty="0">
                <a:solidFill>
                  <a:srgbClr val="E23744"/>
                </a:solidFill>
                <a:latin typeface="Calibri" pitchFamily="34" charset="0"/>
                <a:ea typeface="Calibri" pitchFamily="34" charset="-122"/>
                <a:cs typeface="Calibri" pitchFamily="34" charset="-120"/>
              </a:rPr>
              <a:t>✦  </a:t>
            </a:r>
            <a:r>
              <a:rPr lang="en-US" sz="1000" dirty="0">
                <a:solidFill>
                  <a:srgbClr val="1E293B"/>
                </a:solidFill>
                <a:latin typeface="Calibri" pitchFamily="34" charset="0"/>
                <a:ea typeface="Calibri" pitchFamily="34" charset="-122"/>
                <a:cs typeface="Calibri" pitchFamily="34" charset="-120"/>
              </a:rPr>
              <a:t>Supports scalable analytics and reporting</a:t>
            </a:r>
            <a:endParaRPr lang="en-US" sz="1000" dirty="0"/>
          </a:p>
        </p:txBody>
      </p:sp>
      <p:sp>
        <p:nvSpPr>
          <p:cNvPr id="14" name="Shape 12"/>
          <p:cNvSpPr/>
          <p:nvPr/>
        </p:nvSpPr>
        <p:spPr>
          <a:xfrm>
            <a:off x="365760" y="2743200"/>
            <a:ext cx="3200400" cy="18288"/>
          </a:xfrm>
          <a:prstGeom prst="rect">
            <a:avLst/>
          </a:prstGeom>
          <a:solidFill>
            <a:srgbClr val="E2E8F0"/>
          </a:solidFill>
          <a:ln/>
        </p:spPr>
      </p:sp>
      <p:sp>
        <p:nvSpPr>
          <p:cNvPr id="15" name="Text 13"/>
          <p:cNvSpPr/>
          <p:nvPr/>
        </p:nvSpPr>
        <p:spPr>
          <a:xfrm>
            <a:off x="365760" y="2834640"/>
            <a:ext cx="3200400" cy="256032"/>
          </a:xfrm>
          <a:prstGeom prst="rect">
            <a:avLst/>
          </a:prstGeom>
          <a:noFill/>
          <a:ln/>
        </p:spPr>
        <p:txBody>
          <a:bodyPr wrap="square" lIns="0" tIns="0" rIns="0" bIns="0" rtlCol="0" anchor="ctr"/>
          <a:lstStyle/>
          <a:p>
            <a:pPr marL="0" indent="0">
              <a:buNone/>
            </a:pPr>
            <a:r>
              <a:rPr lang="en-US" sz="1100" b="1" kern="0" spc="100" dirty="0">
                <a:solidFill>
                  <a:srgbClr val="E23744"/>
                </a:solidFill>
                <a:latin typeface="Calibri" pitchFamily="34" charset="0"/>
                <a:ea typeface="Calibri" pitchFamily="34" charset="-122"/>
                <a:cs typeface="Calibri" pitchFamily="34" charset="-120"/>
              </a:rPr>
              <a:t>KEY RELATIONSHIPS</a:t>
            </a:r>
            <a:endParaRPr lang="en-US" sz="1100" dirty="0"/>
          </a:p>
        </p:txBody>
      </p:sp>
      <p:sp>
        <p:nvSpPr>
          <p:cNvPr id="16" name="Text 14"/>
          <p:cNvSpPr/>
          <p:nvPr/>
        </p:nvSpPr>
        <p:spPr>
          <a:xfrm>
            <a:off x="365760" y="3145536"/>
            <a:ext cx="320040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Users → Orders  (user_id)</a:t>
            </a:r>
            <a:endParaRPr lang="en-US" sz="1000" dirty="0"/>
          </a:p>
        </p:txBody>
      </p:sp>
      <p:sp>
        <p:nvSpPr>
          <p:cNvPr id="17" name="Text 15"/>
          <p:cNvSpPr/>
          <p:nvPr/>
        </p:nvSpPr>
        <p:spPr>
          <a:xfrm>
            <a:off x="365760" y="3483864"/>
            <a:ext cx="320040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Restaurants → Orders  (r_id)</a:t>
            </a:r>
            <a:endParaRPr lang="en-US" sz="1000" dirty="0"/>
          </a:p>
        </p:txBody>
      </p:sp>
      <p:sp>
        <p:nvSpPr>
          <p:cNvPr id="18" name="Text 16"/>
          <p:cNvSpPr/>
          <p:nvPr/>
        </p:nvSpPr>
        <p:spPr>
          <a:xfrm>
            <a:off x="365760" y="3822192"/>
            <a:ext cx="320040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Restaurants → Menu  (r_id)</a:t>
            </a:r>
            <a:endParaRPr lang="en-US" sz="1000" dirty="0"/>
          </a:p>
        </p:txBody>
      </p:sp>
      <p:sp>
        <p:nvSpPr>
          <p:cNvPr id="19" name="Text 17"/>
          <p:cNvSpPr/>
          <p:nvPr/>
        </p:nvSpPr>
        <p:spPr>
          <a:xfrm>
            <a:off x="365760" y="4160520"/>
            <a:ext cx="320040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Food → Menu  (f_id)</a:t>
            </a:r>
            <a:endParaRPr lang="en-US" sz="1000" dirty="0"/>
          </a:p>
        </p:txBody>
      </p:sp>
      <p:sp>
        <p:nvSpPr>
          <p:cNvPr id="20" name="Text 18"/>
          <p:cNvSpPr/>
          <p:nvPr/>
        </p:nvSpPr>
        <p:spPr>
          <a:xfrm>
            <a:off x="365760" y="4498848"/>
            <a:ext cx="3200400" cy="29260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Menu → Price &amp; Portions</a:t>
            </a:r>
            <a:endParaRPr lang="en-US" sz="1000" dirty="0"/>
          </a:p>
        </p:txBody>
      </p:sp>
      <p:sp>
        <p:nvSpPr>
          <p:cNvPr id="21" name="Shape 19"/>
          <p:cNvSpPr/>
          <p:nvPr/>
        </p:nvSpPr>
        <p:spPr>
          <a:xfrm>
            <a:off x="4023360" y="841248"/>
            <a:ext cx="1463040" cy="1344168"/>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22" name="Shape 20"/>
          <p:cNvSpPr/>
          <p:nvPr/>
        </p:nvSpPr>
        <p:spPr>
          <a:xfrm>
            <a:off x="4023360" y="841248"/>
            <a:ext cx="1463040" cy="274320"/>
          </a:xfrm>
          <a:prstGeom prst="rect">
            <a:avLst/>
          </a:prstGeom>
          <a:solidFill>
            <a:srgbClr val="E23744"/>
          </a:solidFill>
          <a:ln/>
        </p:spPr>
      </p:sp>
      <p:sp>
        <p:nvSpPr>
          <p:cNvPr id="23" name="Text 21"/>
          <p:cNvSpPr/>
          <p:nvPr/>
        </p:nvSpPr>
        <p:spPr>
          <a:xfrm>
            <a:off x="4023360" y="841248"/>
            <a:ext cx="146304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USERS</a:t>
            </a:r>
            <a:endParaRPr lang="en-US" sz="900" dirty="0"/>
          </a:p>
        </p:txBody>
      </p:sp>
      <p:sp>
        <p:nvSpPr>
          <p:cNvPr id="24" name="Text 22"/>
          <p:cNvSpPr/>
          <p:nvPr/>
        </p:nvSpPr>
        <p:spPr>
          <a:xfrm>
            <a:off x="4096512" y="1133856"/>
            <a:ext cx="1316736" cy="219456"/>
          </a:xfrm>
          <a:prstGeom prst="rect">
            <a:avLst/>
          </a:prstGeom>
          <a:noFill/>
          <a:ln/>
        </p:spPr>
        <p:txBody>
          <a:bodyPr wrap="square" lIns="0" tIns="0" rIns="0" bIns="0" rtlCol="0" anchor="ctr"/>
          <a:lstStyle/>
          <a:p>
            <a:pPr marL="0" indent="0">
              <a:buNone/>
            </a:pPr>
            <a:r>
              <a:rPr lang="en-US" sz="800" b="1" dirty="0">
                <a:solidFill>
                  <a:srgbClr val="E23744"/>
                </a:solidFill>
                <a:latin typeface="Calibri" pitchFamily="34" charset="0"/>
                <a:ea typeface="Calibri" pitchFamily="34" charset="-122"/>
                <a:cs typeface="Calibri" pitchFamily="34" charset="-120"/>
              </a:rPr>
              <a:t>user_id (PK)</a:t>
            </a:r>
            <a:endParaRPr lang="en-US" sz="800" dirty="0"/>
          </a:p>
        </p:txBody>
      </p:sp>
      <p:sp>
        <p:nvSpPr>
          <p:cNvPr id="25" name="Text 23"/>
          <p:cNvSpPr/>
          <p:nvPr/>
        </p:nvSpPr>
        <p:spPr>
          <a:xfrm>
            <a:off x="4096512" y="1371600"/>
            <a:ext cx="1316736" cy="219456"/>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name, age</a:t>
            </a:r>
            <a:endParaRPr lang="en-US" sz="800" dirty="0"/>
          </a:p>
        </p:txBody>
      </p:sp>
      <p:sp>
        <p:nvSpPr>
          <p:cNvPr id="26" name="Text 24"/>
          <p:cNvSpPr/>
          <p:nvPr/>
        </p:nvSpPr>
        <p:spPr>
          <a:xfrm>
            <a:off x="4096512" y="1609344"/>
            <a:ext cx="1316736" cy="219456"/>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occupation</a:t>
            </a:r>
            <a:endParaRPr lang="en-US" sz="800" dirty="0"/>
          </a:p>
        </p:txBody>
      </p:sp>
      <p:sp>
        <p:nvSpPr>
          <p:cNvPr id="27" name="Shape 25"/>
          <p:cNvSpPr/>
          <p:nvPr/>
        </p:nvSpPr>
        <p:spPr>
          <a:xfrm>
            <a:off x="6217920" y="841248"/>
            <a:ext cx="1645920" cy="1344168"/>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28" name="Shape 26"/>
          <p:cNvSpPr/>
          <p:nvPr/>
        </p:nvSpPr>
        <p:spPr>
          <a:xfrm>
            <a:off x="6217920" y="841248"/>
            <a:ext cx="1645920" cy="274320"/>
          </a:xfrm>
          <a:prstGeom prst="rect">
            <a:avLst/>
          </a:prstGeom>
          <a:solidFill>
            <a:srgbClr val="0891B2"/>
          </a:solidFill>
          <a:ln/>
        </p:spPr>
      </p:sp>
      <p:sp>
        <p:nvSpPr>
          <p:cNvPr id="29" name="Text 27"/>
          <p:cNvSpPr/>
          <p:nvPr/>
        </p:nvSpPr>
        <p:spPr>
          <a:xfrm>
            <a:off x="6217920" y="841248"/>
            <a:ext cx="16459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ORDERS</a:t>
            </a:r>
            <a:endParaRPr lang="en-US" sz="900" dirty="0"/>
          </a:p>
        </p:txBody>
      </p:sp>
      <p:sp>
        <p:nvSpPr>
          <p:cNvPr id="30" name="Text 28"/>
          <p:cNvSpPr/>
          <p:nvPr/>
        </p:nvSpPr>
        <p:spPr>
          <a:xfrm>
            <a:off x="6291072" y="1133856"/>
            <a:ext cx="1499616" cy="219456"/>
          </a:xfrm>
          <a:prstGeom prst="rect">
            <a:avLst/>
          </a:prstGeom>
          <a:noFill/>
          <a:ln/>
        </p:spPr>
        <p:txBody>
          <a:bodyPr wrap="square" lIns="0" tIns="0" rIns="0" bIns="0" rtlCol="0" anchor="ctr"/>
          <a:lstStyle/>
          <a:p>
            <a:pPr marL="0" indent="0">
              <a:buNone/>
            </a:pPr>
            <a:r>
              <a:rPr lang="en-US" sz="800" b="1" dirty="0">
                <a:solidFill>
                  <a:srgbClr val="E23744"/>
                </a:solidFill>
                <a:latin typeface="Calibri" pitchFamily="34" charset="0"/>
                <a:ea typeface="Calibri" pitchFamily="34" charset="-122"/>
                <a:cs typeface="Calibri" pitchFamily="34" charset="-120"/>
              </a:rPr>
              <a:t>order_id (PK)</a:t>
            </a:r>
            <a:endParaRPr lang="en-US" sz="800" dirty="0"/>
          </a:p>
        </p:txBody>
      </p:sp>
      <p:sp>
        <p:nvSpPr>
          <p:cNvPr id="31" name="Text 29"/>
          <p:cNvSpPr/>
          <p:nvPr/>
        </p:nvSpPr>
        <p:spPr>
          <a:xfrm>
            <a:off x="6291072" y="1371600"/>
            <a:ext cx="1499616" cy="219456"/>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user_id (FK)</a:t>
            </a:r>
            <a:endParaRPr lang="en-US" sz="800" dirty="0"/>
          </a:p>
        </p:txBody>
      </p:sp>
      <p:sp>
        <p:nvSpPr>
          <p:cNvPr id="32" name="Text 30"/>
          <p:cNvSpPr/>
          <p:nvPr/>
        </p:nvSpPr>
        <p:spPr>
          <a:xfrm>
            <a:off x="6291072" y="1609344"/>
            <a:ext cx="1499616" cy="219456"/>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r_id (FK)</a:t>
            </a:r>
            <a:endParaRPr lang="en-US" sz="800" dirty="0"/>
          </a:p>
        </p:txBody>
      </p:sp>
      <p:sp>
        <p:nvSpPr>
          <p:cNvPr id="33" name="Text 31"/>
          <p:cNvSpPr/>
          <p:nvPr/>
        </p:nvSpPr>
        <p:spPr>
          <a:xfrm>
            <a:off x="6291072" y="1847088"/>
            <a:ext cx="1499616" cy="219456"/>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amount</a:t>
            </a:r>
            <a:endParaRPr lang="en-US" sz="800" dirty="0"/>
          </a:p>
        </p:txBody>
      </p:sp>
      <p:sp>
        <p:nvSpPr>
          <p:cNvPr id="34" name="Shape 32"/>
          <p:cNvSpPr/>
          <p:nvPr/>
        </p:nvSpPr>
        <p:spPr>
          <a:xfrm>
            <a:off x="6217920" y="2103120"/>
            <a:ext cx="1645920" cy="1344168"/>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35" name="Shape 33"/>
          <p:cNvSpPr/>
          <p:nvPr/>
        </p:nvSpPr>
        <p:spPr>
          <a:xfrm>
            <a:off x="6217920" y="2103120"/>
            <a:ext cx="1645920" cy="274320"/>
          </a:xfrm>
          <a:prstGeom prst="rect">
            <a:avLst/>
          </a:prstGeom>
          <a:solidFill>
            <a:srgbClr val="10B981"/>
          </a:solidFill>
          <a:ln/>
        </p:spPr>
      </p:sp>
      <p:sp>
        <p:nvSpPr>
          <p:cNvPr id="36" name="Text 34"/>
          <p:cNvSpPr/>
          <p:nvPr/>
        </p:nvSpPr>
        <p:spPr>
          <a:xfrm>
            <a:off x="6217920" y="2103120"/>
            <a:ext cx="16459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RESTAURANTS</a:t>
            </a:r>
            <a:endParaRPr lang="en-US" sz="900" dirty="0"/>
          </a:p>
        </p:txBody>
      </p:sp>
      <p:sp>
        <p:nvSpPr>
          <p:cNvPr id="37" name="Text 35"/>
          <p:cNvSpPr/>
          <p:nvPr/>
        </p:nvSpPr>
        <p:spPr>
          <a:xfrm>
            <a:off x="6291072" y="2395728"/>
            <a:ext cx="1499616" cy="219456"/>
          </a:xfrm>
          <a:prstGeom prst="rect">
            <a:avLst/>
          </a:prstGeom>
          <a:noFill/>
          <a:ln/>
        </p:spPr>
        <p:txBody>
          <a:bodyPr wrap="square" lIns="0" tIns="0" rIns="0" bIns="0" rtlCol="0" anchor="ctr"/>
          <a:lstStyle/>
          <a:p>
            <a:pPr marL="0" indent="0">
              <a:buNone/>
            </a:pPr>
            <a:r>
              <a:rPr lang="en-US" sz="800" b="1" dirty="0">
                <a:solidFill>
                  <a:srgbClr val="E23744"/>
                </a:solidFill>
                <a:latin typeface="Calibri" pitchFamily="34" charset="0"/>
                <a:ea typeface="Calibri" pitchFamily="34" charset="-122"/>
                <a:cs typeface="Calibri" pitchFamily="34" charset="-120"/>
              </a:rPr>
              <a:t>id (PK)</a:t>
            </a:r>
            <a:endParaRPr lang="en-US" sz="800" dirty="0"/>
          </a:p>
        </p:txBody>
      </p:sp>
      <p:sp>
        <p:nvSpPr>
          <p:cNvPr id="38" name="Text 36"/>
          <p:cNvSpPr/>
          <p:nvPr/>
        </p:nvSpPr>
        <p:spPr>
          <a:xfrm>
            <a:off x="6291072" y="2633472"/>
            <a:ext cx="1499616" cy="219456"/>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name, city</a:t>
            </a:r>
            <a:endParaRPr lang="en-US" sz="800" dirty="0"/>
          </a:p>
        </p:txBody>
      </p:sp>
      <p:sp>
        <p:nvSpPr>
          <p:cNvPr id="39" name="Text 37"/>
          <p:cNvSpPr/>
          <p:nvPr/>
        </p:nvSpPr>
        <p:spPr>
          <a:xfrm>
            <a:off x="6291072" y="2871216"/>
            <a:ext cx="1499616" cy="219456"/>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rating, cuisine</a:t>
            </a:r>
            <a:endParaRPr lang="en-US" sz="800" dirty="0"/>
          </a:p>
        </p:txBody>
      </p:sp>
      <p:sp>
        <p:nvSpPr>
          <p:cNvPr id="40" name="Shape 38"/>
          <p:cNvSpPr/>
          <p:nvPr/>
        </p:nvSpPr>
        <p:spPr>
          <a:xfrm>
            <a:off x="4023360" y="2103120"/>
            <a:ext cx="1463040" cy="1344168"/>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41" name="Shape 39"/>
          <p:cNvSpPr/>
          <p:nvPr/>
        </p:nvSpPr>
        <p:spPr>
          <a:xfrm>
            <a:off x="4023360" y="2103120"/>
            <a:ext cx="1463040" cy="274320"/>
          </a:xfrm>
          <a:prstGeom prst="rect">
            <a:avLst/>
          </a:prstGeom>
          <a:solidFill>
            <a:srgbClr val="6366F1"/>
          </a:solidFill>
          <a:ln/>
        </p:spPr>
      </p:sp>
      <p:sp>
        <p:nvSpPr>
          <p:cNvPr id="42" name="Text 40"/>
          <p:cNvSpPr/>
          <p:nvPr/>
        </p:nvSpPr>
        <p:spPr>
          <a:xfrm>
            <a:off x="4023360" y="2103120"/>
            <a:ext cx="146304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MENU</a:t>
            </a:r>
            <a:endParaRPr lang="en-US" sz="900" dirty="0"/>
          </a:p>
        </p:txBody>
      </p:sp>
      <p:sp>
        <p:nvSpPr>
          <p:cNvPr id="43" name="Text 41"/>
          <p:cNvSpPr/>
          <p:nvPr/>
        </p:nvSpPr>
        <p:spPr>
          <a:xfrm>
            <a:off x="4096512" y="2395728"/>
            <a:ext cx="1316736" cy="219456"/>
          </a:xfrm>
          <a:prstGeom prst="rect">
            <a:avLst/>
          </a:prstGeom>
          <a:noFill/>
          <a:ln/>
        </p:spPr>
        <p:txBody>
          <a:bodyPr wrap="square" lIns="0" tIns="0" rIns="0" bIns="0" rtlCol="0" anchor="ctr"/>
          <a:lstStyle/>
          <a:p>
            <a:pPr marL="0" indent="0">
              <a:buNone/>
            </a:pPr>
            <a:r>
              <a:rPr lang="en-US" sz="800" b="1" dirty="0">
                <a:solidFill>
                  <a:srgbClr val="E23744"/>
                </a:solidFill>
                <a:latin typeface="Calibri" pitchFamily="34" charset="0"/>
                <a:ea typeface="Calibri" pitchFamily="34" charset="-122"/>
                <a:cs typeface="Calibri" pitchFamily="34" charset="-120"/>
              </a:rPr>
              <a:t>menu_id (PK)</a:t>
            </a:r>
            <a:endParaRPr lang="en-US" sz="800" dirty="0"/>
          </a:p>
        </p:txBody>
      </p:sp>
      <p:sp>
        <p:nvSpPr>
          <p:cNvPr id="44" name="Text 42"/>
          <p:cNvSpPr/>
          <p:nvPr/>
        </p:nvSpPr>
        <p:spPr>
          <a:xfrm>
            <a:off x="4096512" y="2633472"/>
            <a:ext cx="1316736" cy="219456"/>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r_id (FK)</a:t>
            </a:r>
            <a:endParaRPr lang="en-US" sz="800" dirty="0"/>
          </a:p>
        </p:txBody>
      </p:sp>
      <p:sp>
        <p:nvSpPr>
          <p:cNvPr id="45" name="Text 43"/>
          <p:cNvSpPr/>
          <p:nvPr/>
        </p:nvSpPr>
        <p:spPr>
          <a:xfrm>
            <a:off x="4096512" y="2871216"/>
            <a:ext cx="1316736" cy="219456"/>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f_id (FK)</a:t>
            </a:r>
            <a:endParaRPr lang="en-US" sz="800" dirty="0"/>
          </a:p>
        </p:txBody>
      </p:sp>
      <p:sp>
        <p:nvSpPr>
          <p:cNvPr id="46" name="Text 44"/>
          <p:cNvSpPr/>
          <p:nvPr/>
        </p:nvSpPr>
        <p:spPr>
          <a:xfrm>
            <a:off x="4096512" y="3108960"/>
            <a:ext cx="1316736" cy="219456"/>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price</a:t>
            </a:r>
            <a:endParaRPr lang="en-US" sz="800" dirty="0"/>
          </a:p>
        </p:txBody>
      </p:sp>
      <p:sp>
        <p:nvSpPr>
          <p:cNvPr id="47" name="Shape 45"/>
          <p:cNvSpPr/>
          <p:nvPr/>
        </p:nvSpPr>
        <p:spPr>
          <a:xfrm>
            <a:off x="4023360" y="3383280"/>
            <a:ext cx="1463040" cy="1344168"/>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48" name="Shape 46"/>
          <p:cNvSpPr/>
          <p:nvPr/>
        </p:nvSpPr>
        <p:spPr>
          <a:xfrm>
            <a:off x="4023360" y="3383280"/>
            <a:ext cx="1463040" cy="274320"/>
          </a:xfrm>
          <a:prstGeom prst="rect">
            <a:avLst/>
          </a:prstGeom>
          <a:solidFill>
            <a:srgbClr val="F97316"/>
          </a:solidFill>
          <a:ln/>
        </p:spPr>
      </p:sp>
      <p:sp>
        <p:nvSpPr>
          <p:cNvPr id="49" name="Text 47"/>
          <p:cNvSpPr/>
          <p:nvPr/>
        </p:nvSpPr>
        <p:spPr>
          <a:xfrm>
            <a:off x="4023360" y="3383280"/>
            <a:ext cx="146304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FOOD</a:t>
            </a:r>
            <a:endParaRPr lang="en-US" sz="900" dirty="0"/>
          </a:p>
        </p:txBody>
      </p:sp>
      <p:sp>
        <p:nvSpPr>
          <p:cNvPr id="50" name="Text 48"/>
          <p:cNvSpPr/>
          <p:nvPr/>
        </p:nvSpPr>
        <p:spPr>
          <a:xfrm>
            <a:off x="4096512" y="3675888"/>
            <a:ext cx="1316736" cy="219456"/>
          </a:xfrm>
          <a:prstGeom prst="rect">
            <a:avLst/>
          </a:prstGeom>
          <a:noFill/>
          <a:ln/>
        </p:spPr>
        <p:txBody>
          <a:bodyPr wrap="square" lIns="0" tIns="0" rIns="0" bIns="0" rtlCol="0" anchor="ctr"/>
          <a:lstStyle/>
          <a:p>
            <a:pPr marL="0" indent="0">
              <a:buNone/>
            </a:pPr>
            <a:r>
              <a:rPr lang="en-US" sz="800" b="1" dirty="0">
                <a:solidFill>
                  <a:srgbClr val="E23744"/>
                </a:solidFill>
                <a:latin typeface="Calibri" pitchFamily="34" charset="0"/>
                <a:ea typeface="Calibri" pitchFamily="34" charset="-122"/>
                <a:cs typeface="Calibri" pitchFamily="34" charset="-120"/>
              </a:rPr>
              <a:t>f_id (PK)</a:t>
            </a:r>
            <a:endParaRPr lang="en-US" sz="800" dirty="0"/>
          </a:p>
        </p:txBody>
      </p:sp>
      <p:sp>
        <p:nvSpPr>
          <p:cNvPr id="51" name="Text 49"/>
          <p:cNvSpPr/>
          <p:nvPr/>
        </p:nvSpPr>
        <p:spPr>
          <a:xfrm>
            <a:off x="4096512" y="3913632"/>
            <a:ext cx="1316736" cy="219456"/>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item_name</a:t>
            </a:r>
            <a:endParaRPr lang="en-US" sz="800" dirty="0"/>
          </a:p>
        </p:txBody>
      </p:sp>
      <p:sp>
        <p:nvSpPr>
          <p:cNvPr id="52" name="Text 50"/>
          <p:cNvSpPr/>
          <p:nvPr/>
        </p:nvSpPr>
        <p:spPr>
          <a:xfrm>
            <a:off x="4096512" y="4151376"/>
            <a:ext cx="1316736" cy="219456"/>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veg/non-veg</a:t>
            </a:r>
            <a:endParaRPr lang="en-US" sz="800" dirty="0"/>
          </a:p>
        </p:txBody>
      </p:sp>
      <p:sp>
        <p:nvSpPr>
          <p:cNvPr id="53" name="Shape 51"/>
          <p:cNvSpPr/>
          <p:nvPr/>
        </p:nvSpPr>
        <p:spPr>
          <a:xfrm>
            <a:off x="6217920" y="3383280"/>
            <a:ext cx="1645920" cy="1344168"/>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54" name="Shape 52"/>
          <p:cNvSpPr/>
          <p:nvPr/>
        </p:nvSpPr>
        <p:spPr>
          <a:xfrm>
            <a:off x="6217920" y="3383280"/>
            <a:ext cx="1645920" cy="274320"/>
          </a:xfrm>
          <a:prstGeom prst="rect">
            <a:avLst/>
          </a:prstGeom>
          <a:solidFill>
            <a:srgbClr val="EC4899"/>
          </a:solidFill>
          <a:ln/>
        </p:spPr>
      </p:sp>
      <p:sp>
        <p:nvSpPr>
          <p:cNvPr id="55" name="Text 53"/>
          <p:cNvSpPr/>
          <p:nvPr/>
        </p:nvSpPr>
        <p:spPr>
          <a:xfrm>
            <a:off x="6217920" y="3383280"/>
            <a:ext cx="16459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DELIVERY</a:t>
            </a:r>
            <a:endParaRPr lang="en-US" sz="900" dirty="0"/>
          </a:p>
        </p:txBody>
      </p:sp>
      <p:sp>
        <p:nvSpPr>
          <p:cNvPr id="56" name="Text 54"/>
          <p:cNvSpPr/>
          <p:nvPr/>
        </p:nvSpPr>
        <p:spPr>
          <a:xfrm>
            <a:off x="6291072" y="3675888"/>
            <a:ext cx="1499616" cy="219456"/>
          </a:xfrm>
          <a:prstGeom prst="rect">
            <a:avLst/>
          </a:prstGeom>
          <a:noFill/>
          <a:ln/>
        </p:spPr>
        <p:txBody>
          <a:bodyPr wrap="square" lIns="0" tIns="0" rIns="0" bIns="0" rtlCol="0" anchor="ctr"/>
          <a:lstStyle/>
          <a:p>
            <a:pPr marL="0" indent="0">
              <a:buNone/>
            </a:pPr>
            <a:r>
              <a:rPr lang="en-US" sz="800" b="1" dirty="0">
                <a:solidFill>
                  <a:srgbClr val="E23744"/>
                </a:solidFill>
                <a:latin typeface="Calibri" pitchFamily="34" charset="0"/>
                <a:ea typeface="Calibri" pitchFamily="34" charset="-122"/>
                <a:cs typeface="Calibri" pitchFamily="34" charset="-120"/>
              </a:rPr>
              <a:t>delivery_id</a:t>
            </a:r>
            <a:endParaRPr lang="en-US" sz="800" dirty="0"/>
          </a:p>
        </p:txBody>
      </p:sp>
      <p:sp>
        <p:nvSpPr>
          <p:cNvPr id="57" name="Text 55"/>
          <p:cNvSpPr/>
          <p:nvPr/>
        </p:nvSpPr>
        <p:spPr>
          <a:xfrm>
            <a:off x="6291072" y="3913632"/>
            <a:ext cx="1499616" cy="219456"/>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weather, traffic</a:t>
            </a:r>
            <a:endParaRPr lang="en-US" sz="800" dirty="0"/>
          </a:p>
        </p:txBody>
      </p:sp>
      <p:sp>
        <p:nvSpPr>
          <p:cNvPr id="58" name="Text 56"/>
          <p:cNvSpPr/>
          <p:nvPr/>
        </p:nvSpPr>
        <p:spPr>
          <a:xfrm>
            <a:off x="6291072" y="4151376"/>
            <a:ext cx="1499616" cy="219456"/>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time_taken</a:t>
            </a:r>
            <a:endParaRPr lang="en-US" sz="800" dirty="0"/>
          </a:p>
        </p:txBody>
      </p:sp>
      <p:sp>
        <p:nvSpPr>
          <p:cNvPr id="59" name="Shape 57"/>
          <p:cNvSpPr/>
          <p:nvPr/>
        </p:nvSpPr>
        <p:spPr>
          <a:xfrm>
            <a:off x="5486400" y="1188720"/>
            <a:ext cx="731520" cy="0"/>
          </a:xfrm>
          <a:prstGeom prst="line">
            <a:avLst/>
          </a:prstGeom>
          <a:noFill/>
          <a:ln w="19050">
            <a:solidFill>
              <a:srgbClr val="64748B"/>
            </a:solidFill>
            <a:prstDash val="dash"/>
          </a:ln>
        </p:spPr>
      </p:sp>
      <p:sp>
        <p:nvSpPr>
          <p:cNvPr id="60" name="Shape 58"/>
          <p:cNvSpPr/>
          <p:nvPr/>
        </p:nvSpPr>
        <p:spPr>
          <a:xfrm>
            <a:off x="5486400" y="2450592"/>
            <a:ext cx="731520" cy="0"/>
          </a:xfrm>
          <a:prstGeom prst="line">
            <a:avLst/>
          </a:prstGeom>
          <a:noFill/>
          <a:ln w="19050">
            <a:solidFill>
              <a:srgbClr val="64748B"/>
            </a:solidFill>
            <a:prstDash val="dash"/>
          </a:ln>
        </p:spPr>
      </p:sp>
      <p:sp>
        <p:nvSpPr>
          <p:cNvPr id="61" name="Shape 59"/>
          <p:cNvSpPr/>
          <p:nvPr/>
        </p:nvSpPr>
        <p:spPr>
          <a:xfrm>
            <a:off x="7040880" y="1536192"/>
            <a:ext cx="0" cy="566928"/>
          </a:xfrm>
          <a:prstGeom prst="line">
            <a:avLst/>
          </a:prstGeom>
          <a:noFill/>
          <a:ln w="19050">
            <a:solidFill>
              <a:srgbClr val="64748B"/>
            </a:solidFill>
            <a:prstDash val="dash"/>
          </a:ln>
        </p:spPr>
      </p:sp>
      <p:sp>
        <p:nvSpPr>
          <p:cNvPr id="62" name="Shape 60"/>
          <p:cNvSpPr/>
          <p:nvPr/>
        </p:nvSpPr>
        <p:spPr>
          <a:xfrm>
            <a:off x="4754880" y="2450592"/>
            <a:ext cx="0" cy="932688"/>
          </a:xfrm>
          <a:prstGeom prst="line">
            <a:avLst/>
          </a:prstGeom>
          <a:noFill/>
          <a:ln w="19050">
            <a:solidFill>
              <a:srgbClr val="64748B"/>
            </a:solidFill>
            <a:prstDash val="dash"/>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E75561F-C3A3-E7A6-A92D-42E5ABB46847}"/>
              </a:ext>
            </a:extLst>
          </p:cNvPr>
          <p:cNvSpPr/>
          <p:nvPr/>
        </p:nvSpPr>
        <p:spPr>
          <a:xfrm>
            <a:off x="0" y="0"/>
            <a:ext cx="9144000" cy="658368"/>
          </a:xfrm>
          <a:prstGeom prst="rect">
            <a:avLst/>
          </a:prstGeom>
          <a:solidFill>
            <a:srgbClr val="E23744"/>
          </a:solidFill>
          <a:ln/>
        </p:spPr>
      </p:sp>
      <p:sp>
        <p:nvSpPr>
          <p:cNvPr id="3" name="Text 1">
            <a:extLst>
              <a:ext uri="{FF2B5EF4-FFF2-40B4-BE49-F238E27FC236}">
                <a16:creationId xmlns:a16="http://schemas.microsoft.com/office/drawing/2014/main" id="{344FD346-AC65-E14E-8C7A-7380B4E63B40}"/>
              </a:ext>
            </a:extLst>
          </p:cNvPr>
          <p:cNvSpPr/>
          <p:nvPr/>
        </p:nvSpPr>
        <p:spPr>
          <a:xfrm>
            <a:off x="365760" y="73152"/>
            <a:ext cx="841248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ER Diagram</a:t>
            </a:r>
            <a:endParaRPr lang="en-US" sz="2200" dirty="0"/>
          </a:p>
        </p:txBody>
      </p:sp>
      <p:pic>
        <p:nvPicPr>
          <p:cNvPr id="5" name="Picture 4">
            <a:extLst>
              <a:ext uri="{FF2B5EF4-FFF2-40B4-BE49-F238E27FC236}">
                <a16:creationId xmlns:a16="http://schemas.microsoft.com/office/drawing/2014/main" id="{322A4879-E2EE-5654-2776-878FB7E01535}"/>
              </a:ext>
            </a:extLst>
          </p:cNvPr>
          <p:cNvPicPr>
            <a:picLocks noChangeAspect="1"/>
          </p:cNvPicPr>
          <p:nvPr/>
        </p:nvPicPr>
        <p:blipFill>
          <a:blip r:embed="rId2"/>
          <a:stretch>
            <a:fillRect/>
          </a:stretch>
        </p:blipFill>
        <p:spPr>
          <a:xfrm>
            <a:off x="1792318" y="815926"/>
            <a:ext cx="5812583" cy="3953021"/>
          </a:xfrm>
          <a:prstGeom prst="rect">
            <a:avLst/>
          </a:prstGeom>
        </p:spPr>
      </p:pic>
    </p:spTree>
    <p:extLst>
      <p:ext uri="{BB962C8B-B14F-4D97-AF65-F5344CB8AC3E}">
        <p14:creationId xmlns:p14="http://schemas.microsoft.com/office/powerpoint/2010/main" val="972525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23744"/>
          </a:solidFill>
          <a:ln/>
        </p:spPr>
      </p:sp>
      <p:sp>
        <p:nvSpPr>
          <p:cNvPr id="3" name="Text 1"/>
          <p:cNvSpPr/>
          <p:nvPr/>
        </p:nvSpPr>
        <p:spPr>
          <a:xfrm>
            <a:off x="365760" y="73152"/>
            <a:ext cx="841248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 Cleaning Process</a:t>
            </a:r>
            <a:endParaRPr lang="en-US" sz="2200" dirty="0"/>
          </a:p>
        </p:txBody>
      </p:sp>
      <p:sp>
        <p:nvSpPr>
          <p:cNvPr id="4" name="Text 2"/>
          <p:cNvSpPr/>
          <p:nvPr/>
        </p:nvSpPr>
        <p:spPr>
          <a:xfrm>
            <a:off x="3362178" y="181825"/>
            <a:ext cx="3233022" cy="256032"/>
          </a:xfrm>
          <a:prstGeom prst="rect">
            <a:avLst/>
          </a:prstGeom>
          <a:noFill/>
          <a:ln/>
        </p:spPr>
        <p:txBody>
          <a:bodyPr wrap="square" lIns="0" tIns="0" rIns="0" bIns="0" rtlCol="0" anchor="ctr"/>
          <a:lstStyle/>
          <a:p>
            <a:pPr marL="0" indent="0">
              <a:buNone/>
            </a:pPr>
            <a:r>
              <a:rPr lang="en-US" sz="1100" i="1" dirty="0">
                <a:solidFill>
                  <a:srgbClr val="FFD0D5"/>
                </a:solidFill>
                <a:latin typeface="Calibri" pitchFamily="34" charset="0"/>
                <a:ea typeface="Calibri" pitchFamily="34" charset="-122"/>
                <a:cs typeface="Calibri" pitchFamily="34" charset="-120"/>
              </a:rPr>
              <a:t>Ensuring Data Quality Before Analysis</a:t>
            </a:r>
            <a:endParaRPr lang="en-US" sz="1100" dirty="0"/>
          </a:p>
        </p:txBody>
      </p:sp>
      <p:sp>
        <p:nvSpPr>
          <p:cNvPr id="6" name="Text 4"/>
          <p:cNvSpPr/>
          <p:nvPr/>
        </p:nvSpPr>
        <p:spPr>
          <a:xfrm>
            <a:off x="274320" y="4965192"/>
            <a:ext cx="6400800" cy="164592"/>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Zomato Market Intelligence Dashboard  •  Data Analytics Project</a:t>
            </a:r>
            <a:endParaRPr lang="en-US" sz="800" dirty="0"/>
          </a:p>
        </p:txBody>
      </p:sp>
      <p:sp>
        <p:nvSpPr>
          <p:cNvPr id="7" name="Text 5"/>
          <p:cNvSpPr/>
          <p:nvPr/>
        </p:nvSpPr>
        <p:spPr>
          <a:xfrm>
            <a:off x="8046720" y="4965192"/>
            <a:ext cx="822960" cy="164592"/>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5 / 15</a:t>
            </a:r>
            <a:endParaRPr lang="en-US" sz="800" dirty="0"/>
          </a:p>
        </p:txBody>
      </p:sp>
      <p:sp>
        <p:nvSpPr>
          <p:cNvPr id="8" name="Shape 6"/>
          <p:cNvSpPr/>
          <p:nvPr/>
        </p:nvSpPr>
        <p:spPr>
          <a:xfrm>
            <a:off x="228600" y="841248"/>
            <a:ext cx="8686800" cy="71323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9" name="Shape 7"/>
          <p:cNvSpPr/>
          <p:nvPr/>
        </p:nvSpPr>
        <p:spPr>
          <a:xfrm>
            <a:off x="228600" y="841248"/>
            <a:ext cx="640080" cy="713232"/>
          </a:xfrm>
          <a:prstGeom prst="rect">
            <a:avLst/>
          </a:prstGeom>
          <a:solidFill>
            <a:srgbClr val="E23744"/>
          </a:solidFill>
          <a:ln/>
        </p:spPr>
      </p:sp>
      <p:sp>
        <p:nvSpPr>
          <p:cNvPr id="10" name="Text 8"/>
          <p:cNvSpPr/>
          <p:nvPr/>
        </p:nvSpPr>
        <p:spPr>
          <a:xfrm>
            <a:off x="228600" y="841248"/>
            <a:ext cx="640080" cy="713232"/>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11" name="Text 9"/>
          <p:cNvSpPr/>
          <p:nvPr/>
        </p:nvSpPr>
        <p:spPr>
          <a:xfrm>
            <a:off x="960120" y="914400"/>
            <a:ext cx="2194560" cy="274320"/>
          </a:xfrm>
          <a:prstGeom prst="rect">
            <a:avLst/>
          </a:prstGeom>
          <a:noFill/>
          <a:ln/>
        </p:spPr>
        <p:txBody>
          <a:bodyPr wrap="square" lIns="0" tIns="0" rIns="0" bIns="0" rtlCol="0" anchor="ctr"/>
          <a:lstStyle/>
          <a:p>
            <a:pPr marL="0" indent="0">
              <a:buNone/>
            </a:pPr>
            <a:r>
              <a:rPr lang="en-US" sz="1200" b="1" dirty="0">
                <a:solidFill>
                  <a:srgbClr val="E23744"/>
                </a:solidFill>
                <a:latin typeface="Calibri" pitchFamily="34" charset="0"/>
                <a:ea typeface="Calibri" pitchFamily="34" charset="-122"/>
                <a:cs typeface="Calibri" pitchFamily="34" charset="-120"/>
              </a:rPr>
              <a:t>Duplicate Removal</a:t>
            </a:r>
            <a:endParaRPr lang="en-US" sz="1200" dirty="0"/>
          </a:p>
        </p:txBody>
      </p:sp>
      <p:sp>
        <p:nvSpPr>
          <p:cNvPr id="12" name="Text 10"/>
          <p:cNvSpPr/>
          <p:nvPr/>
        </p:nvSpPr>
        <p:spPr>
          <a:xfrm>
            <a:off x="960120" y="1170432"/>
            <a:ext cx="7772400"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Identified and dropped duplicate records using SQL DISTINCT and Python drop_duplicates() to ensure accurate aggregations.</a:t>
            </a:r>
            <a:endParaRPr lang="en-US" sz="1000" dirty="0"/>
          </a:p>
        </p:txBody>
      </p:sp>
      <p:sp>
        <p:nvSpPr>
          <p:cNvPr id="13" name="Shape 11"/>
          <p:cNvSpPr/>
          <p:nvPr/>
        </p:nvSpPr>
        <p:spPr>
          <a:xfrm>
            <a:off x="228600" y="1645920"/>
            <a:ext cx="8686800" cy="71323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4" name="Shape 12"/>
          <p:cNvSpPr/>
          <p:nvPr/>
        </p:nvSpPr>
        <p:spPr>
          <a:xfrm>
            <a:off x="228600" y="1645920"/>
            <a:ext cx="640080" cy="713232"/>
          </a:xfrm>
          <a:prstGeom prst="rect">
            <a:avLst/>
          </a:prstGeom>
          <a:solidFill>
            <a:srgbClr val="0891B2"/>
          </a:solidFill>
          <a:ln/>
        </p:spPr>
      </p:sp>
      <p:sp>
        <p:nvSpPr>
          <p:cNvPr id="15" name="Text 13"/>
          <p:cNvSpPr/>
          <p:nvPr/>
        </p:nvSpPr>
        <p:spPr>
          <a:xfrm>
            <a:off x="228600" y="1645920"/>
            <a:ext cx="640080" cy="713232"/>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16" name="Text 14"/>
          <p:cNvSpPr/>
          <p:nvPr/>
        </p:nvSpPr>
        <p:spPr>
          <a:xfrm>
            <a:off x="960120" y="1719072"/>
            <a:ext cx="2194560" cy="274320"/>
          </a:xfrm>
          <a:prstGeom prst="rect">
            <a:avLst/>
          </a:prstGeom>
          <a:noFill/>
          <a:ln/>
        </p:spPr>
        <p:txBody>
          <a:bodyPr wrap="square" lIns="0" tIns="0" rIns="0" bIns="0" rtlCol="0" anchor="ctr"/>
          <a:lstStyle/>
          <a:p>
            <a:pPr marL="0" indent="0">
              <a:buNone/>
            </a:pPr>
            <a:r>
              <a:rPr lang="en-US" sz="1200" b="1" dirty="0">
                <a:solidFill>
                  <a:srgbClr val="0891B2"/>
                </a:solidFill>
                <a:latin typeface="Calibri" pitchFamily="34" charset="0"/>
                <a:ea typeface="Calibri" pitchFamily="34" charset="-122"/>
                <a:cs typeface="Calibri" pitchFamily="34" charset="-120"/>
              </a:rPr>
              <a:t>Missing Value Handling</a:t>
            </a:r>
            <a:endParaRPr lang="en-US" sz="1200" dirty="0"/>
          </a:p>
        </p:txBody>
      </p:sp>
      <p:sp>
        <p:nvSpPr>
          <p:cNvPr id="17" name="Text 15"/>
          <p:cNvSpPr/>
          <p:nvPr/>
        </p:nvSpPr>
        <p:spPr>
          <a:xfrm>
            <a:off x="960120" y="1975104"/>
            <a:ext cx="7772400"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Replaced NULL entries with mean/median for numeric fields; flagged missing categorical values as 'Unknown' for restaurant ratings and menu data.</a:t>
            </a:r>
            <a:endParaRPr lang="en-US" sz="1000" dirty="0"/>
          </a:p>
        </p:txBody>
      </p:sp>
      <p:sp>
        <p:nvSpPr>
          <p:cNvPr id="18" name="Shape 16"/>
          <p:cNvSpPr/>
          <p:nvPr/>
        </p:nvSpPr>
        <p:spPr>
          <a:xfrm>
            <a:off x="228600" y="2450592"/>
            <a:ext cx="8686800" cy="71323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9" name="Shape 17"/>
          <p:cNvSpPr/>
          <p:nvPr/>
        </p:nvSpPr>
        <p:spPr>
          <a:xfrm>
            <a:off x="228600" y="2450592"/>
            <a:ext cx="640080" cy="713232"/>
          </a:xfrm>
          <a:prstGeom prst="rect">
            <a:avLst/>
          </a:prstGeom>
          <a:solidFill>
            <a:srgbClr val="10B981"/>
          </a:solidFill>
          <a:ln/>
        </p:spPr>
      </p:sp>
      <p:sp>
        <p:nvSpPr>
          <p:cNvPr id="20" name="Text 18"/>
          <p:cNvSpPr/>
          <p:nvPr/>
        </p:nvSpPr>
        <p:spPr>
          <a:xfrm>
            <a:off x="228600" y="2450592"/>
            <a:ext cx="640080" cy="713232"/>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03</a:t>
            </a:r>
            <a:endParaRPr lang="en-US" sz="1800" dirty="0"/>
          </a:p>
        </p:txBody>
      </p:sp>
      <p:sp>
        <p:nvSpPr>
          <p:cNvPr id="21" name="Text 19"/>
          <p:cNvSpPr/>
          <p:nvPr/>
        </p:nvSpPr>
        <p:spPr>
          <a:xfrm>
            <a:off x="960120" y="2523744"/>
            <a:ext cx="2194560" cy="274320"/>
          </a:xfrm>
          <a:prstGeom prst="rect">
            <a:avLst/>
          </a:prstGeom>
          <a:noFill/>
          <a:ln/>
        </p:spPr>
        <p:txBody>
          <a:bodyPr wrap="square" lIns="0" tIns="0" rIns="0" bIns="0" rtlCol="0" anchor="ctr"/>
          <a:lstStyle/>
          <a:p>
            <a:pPr marL="0" indent="0">
              <a:buNone/>
            </a:pPr>
            <a:r>
              <a:rPr lang="en-US" sz="1200" b="1" dirty="0">
                <a:solidFill>
                  <a:srgbClr val="10B981"/>
                </a:solidFill>
                <a:latin typeface="Calibri" pitchFamily="34" charset="0"/>
                <a:ea typeface="Calibri" pitchFamily="34" charset="-122"/>
                <a:cs typeface="Calibri" pitchFamily="34" charset="-120"/>
              </a:rPr>
              <a:t>Data Type Corrections</a:t>
            </a:r>
            <a:endParaRPr lang="en-US" sz="1200" dirty="0"/>
          </a:p>
        </p:txBody>
      </p:sp>
      <p:sp>
        <p:nvSpPr>
          <p:cNvPr id="22" name="Text 20"/>
          <p:cNvSpPr/>
          <p:nvPr/>
        </p:nvSpPr>
        <p:spPr>
          <a:xfrm>
            <a:off x="960120" y="2779776"/>
            <a:ext cx="7772400"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Converted order_date to DATE type, sales_amount to FLOAT, and ensured rating fields were stored as numeric for comparison operations.</a:t>
            </a:r>
            <a:endParaRPr lang="en-US" sz="1000" dirty="0"/>
          </a:p>
        </p:txBody>
      </p:sp>
      <p:sp>
        <p:nvSpPr>
          <p:cNvPr id="23" name="Shape 21"/>
          <p:cNvSpPr/>
          <p:nvPr/>
        </p:nvSpPr>
        <p:spPr>
          <a:xfrm>
            <a:off x="228600" y="3255264"/>
            <a:ext cx="8686800" cy="71323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24" name="Shape 22"/>
          <p:cNvSpPr/>
          <p:nvPr/>
        </p:nvSpPr>
        <p:spPr>
          <a:xfrm>
            <a:off x="228600" y="3255264"/>
            <a:ext cx="640080" cy="713232"/>
          </a:xfrm>
          <a:prstGeom prst="rect">
            <a:avLst/>
          </a:prstGeom>
          <a:solidFill>
            <a:srgbClr val="F97316"/>
          </a:solidFill>
          <a:ln/>
        </p:spPr>
      </p:sp>
      <p:sp>
        <p:nvSpPr>
          <p:cNvPr id="25" name="Text 23"/>
          <p:cNvSpPr/>
          <p:nvPr/>
        </p:nvSpPr>
        <p:spPr>
          <a:xfrm>
            <a:off x="228600" y="3255264"/>
            <a:ext cx="640080" cy="713232"/>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04</a:t>
            </a:r>
            <a:endParaRPr lang="en-US" sz="1800" dirty="0"/>
          </a:p>
        </p:txBody>
      </p:sp>
      <p:sp>
        <p:nvSpPr>
          <p:cNvPr id="26" name="Text 24"/>
          <p:cNvSpPr/>
          <p:nvPr/>
        </p:nvSpPr>
        <p:spPr>
          <a:xfrm>
            <a:off x="960120" y="3328416"/>
            <a:ext cx="2194560" cy="274320"/>
          </a:xfrm>
          <a:prstGeom prst="rect">
            <a:avLst/>
          </a:prstGeom>
          <a:noFill/>
          <a:ln/>
        </p:spPr>
        <p:txBody>
          <a:bodyPr wrap="square" lIns="0" tIns="0" rIns="0" bIns="0" rtlCol="0" anchor="ctr"/>
          <a:lstStyle/>
          <a:p>
            <a:pPr marL="0" indent="0">
              <a:buNone/>
            </a:pPr>
            <a:r>
              <a:rPr lang="en-US" sz="1200" b="1" dirty="0">
                <a:solidFill>
                  <a:srgbClr val="F97316"/>
                </a:solidFill>
                <a:latin typeface="Calibri" pitchFamily="34" charset="0"/>
                <a:ea typeface="Calibri" pitchFamily="34" charset="-122"/>
                <a:cs typeface="Calibri" pitchFamily="34" charset="-120"/>
              </a:rPr>
              <a:t>Menu Table Cleaning</a:t>
            </a:r>
            <a:endParaRPr lang="en-US" sz="1200" dirty="0"/>
          </a:p>
        </p:txBody>
      </p:sp>
      <p:sp>
        <p:nvSpPr>
          <p:cNvPr id="27" name="Text 25"/>
          <p:cNvSpPr/>
          <p:nvPr/>
        </p:nvSpPr>
        <p:spPr>
          <a:xfrm>
            <a:off x="960120" y="3584448"/>
            <a:ext cx="7772400"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Parsed nested JSON menu references, standardized cuisine categories, and resolved encoding issues in food item names.</a:t>
            </a:r>
            <a:endParaRPr lang="en-US" sz="1000" dirty="0"/>
          </a:p>
        </p:txBody>
      </p:sp>
      <p:sp>
        <p:nvSpPr>
          <p:cNvPr id="28" name="Shape 26"/>
          <p:cNvSpPr/>
          <p:nvPr/>
        </p:nvSpPr>
        <p:spPr>
          <a:xfrm>
            <a:off x="228600" y="4059936"/>
            <a:ext cx="8686800" cy="71323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29" name="Shape 27"/>
          <p:cNvSpPr/>
          <p:nvPr/>
        </p:nvSpPr>
        <p:spPr>
          <a:xfrm>
            <a:off x="228600" y="4059936"/>
            <a:ext cx="640080" cy="713232"/>
          </a:xfrm>
          <a:prstGeom prst="rect">
            <a:avLst/>
          </a:prstGeom>
          <a:solidFill>
            <a:srgbClr val="6366F1"/>
          </a:solidFill>
          <a:ln/>
        </p:spPr>
      </p:sp>
      <p:sp>
        <p:nvSpPr>
          <p:cNvPr id="30" name="Text 28"/>
          <p:cNvSpPr/>
          <p:nvPr/>
        </p:nvSpPr>
        <p:spPr>
          <a:xfrm>
            <a:off x="228600" y="4059936"/>
            <a:ext cx="640080" cy="713232"/>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05</a:t>
            </a:r>
            <a:endParaRPr lang="en-US" sz="1800" dirty="0"/>
          </a:p>
        </p:txBody>
      </p:sp>
      <p:sp>
        <p:nvSpPr>
          <p:cNvPr id="31" name="Text 29"/>
          <p:cNvSpPr/>
          <p:nvPr/>
        </p:nvSpPr>
        <p:spPr>
          <a:xfrm>
            <a:off x="960120" y="4133088"/>
            <a:ext cx="2194560" cy="274320"/>
          </a:xfrm>
          <a:prstGeom prst="rect">
            <a:avLst/>
          </a:prstGeom>
          <a:noFill/>
          <a:ln/>
        </p:spPr>
        <p:txBody>
          <a:bodyPr wrap="square" lIns="0" tIns="0" rIns="0" bIns="0" rtlCol="0" anchor="ctr"/>
          <a:lstStyle/>
          <a:p>
            <a:pPr marL="0" indent="0">
              <a:buNone/>
            </a:pPr>
            <a:r>
              <a:rPr lang="en-US" sz="1200" b="1" dirty="0">
                <a:solidFill>
                  <a:srgbClr val="6366F1"/>
                </a:solidFill>
                <a:latin typeface="Calibri" pitchFamily="34" charset="0"/>
                <a:ea typeface="Calibri" pitchFamily="34" charset="-122"/>
                <a:cs typeface="Calibri" pitchFamily="34" charset="-120"/>
              </a:rPr>
              <a:t>SQL Optimization</a:t>
            </a:r>
            <a:endParaRPr lang="en-US" sz="1200" dirty="0"/>
          </a:p>
        </p:txBody>
      </p:sp>
      <p:sp>
        <p:nvSpPr>
          <p:cNvPr id="32" name="Text 30"/>
          <p:cNvSpPr/>
          <p:nvPr/>
        </p:nvSpPr>
        <p:spPr>
          <a:xfrm>
            <a:off x="960120" y="4389120"/>
            <a:ext cx="7772400"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Created indexed views and optimized JOIN conditions to improve query performance across 800K+ records during analysis.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23744"/>
          </a:solidFill>
          <a:ln/>
        </p:spPr>
      </p:sp>
      <p:sp>
        <p:nvSpPr>
          <p:cNvPr id="3" name="Text 1"/>
          <p:cNvSpPr/>
          <p:nvPr/>
        </p:nvSpPr>
        <p:spPr>
          <a:xfrm>
            <a:off x="365760" y="73152"/>
            <a:ext cx="841248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SQL Analysis</a:t>
            </a:r>
            <a:endParaRPr lang="en-US" sz="2200" dirty="0"/>
          </a:p>
        </p:txBody>
      </p:sp>
      <p:sp>
        <p:nvSpPr>
          <p:cNvPr id="4" name="Text 2"/>
          <p:cNvSpPr/>
          <p:nvPr/>
        </p:nvSpPr>
        <p:spPr>
          <a:xfrm>
            <a:off x="2363373" y="201168"/>
            <a:ext cx="8412480" cy="256032"/>
          </a:xfrm>
          <a:prstGeom prst="rect">
            <a:avLst/>
          </a:prstGeom>
          <a:noFill/>
          <a:ln/>
        </p:spPr>
        <p:txBody>
          <a:bodyPr wrap="square" lIns="0" tIns="0" rIns="0" bIns="0" rtlCol="0" anchor="ctr"/>
          <a:lstStyle/>
          <a:p>
            <a:pPr marL="0" indent="0">
              <a:buNone/>
            </a:pPr>
            <a:r>
              <a:rPr lang="en-US" sz="1100" i="1" dirty="0">
                <a:solidFill>
                  <a:srgbClr val="FFD0D5"/>
                </a:solidFill>
                <a:latin typeface="Calibri" pitchFamily="34" charset="0"/>
                <a:ea typeface="Calibri" pitchFamily="34" charset="-122"/>
                <a:cs typeface="Calibri" pitchFamily="34" charset="-120"/>
              </a:rPr>
              <a:t>Core Business Queries Across 5 Analysis Dimensions</a:t>
            </a:r>
            <a:endParaRPr lang="en-US" sz="1100" dirty="0"/>
          </a:p>
        </p:txBody>
      </p:sp>
      <p:sp>
        <p:nvSpPr>
          <p:cNvPr id="6" name="Text 4"/>
          <p:cNvSpPr/>
          <p:nvPr/>
        </p:nvSpPr>
        <p:spPr>
          <a:xfrm>
            <a:off x="274320" y="4965192"/>
            <a:ext cx="6400800" cy="164592"/>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Zomato Market Intelligence Dashboard  •  Data Analytics Project</a:t>
            </a:r>
            <a:endParaRPr lang="en-US" sz="800" dirty="0"/>
          </a:p>
        </p:txBody>
      </p:sp>
      <p:sp>
        <p:nvSpPr>
          <p:cNvPr id="7" name="Text 5"/>
          <p:cNvSpPr/>
          <p:nvPr/>
        </p:nvSpPr>
        <p:spPr>
          <a:xfrm>
            <a:off x="8046720" y="4965192"/>
            <a:ext cx="822960" cy="164592"/>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6 / 15</a:t>
            </a:r>
            <a:endParaRPr lang="en-US" sz="800" dirty="0"/>
          </a:p>
        </p:txBody>
      </p:sp>
      <p:sp>
        <p:nvSpPr>
          <p:cNvPr id="8" name="Shape 6"/>
          <p:cNvSpPr/>
          <p:nvPr/>
        </p:nvSpPr>
        <p:spPr>
          <a:xfrm>
            <a:off x="201168" y="777240"/>
            <a:ext cx="1664208" cy="406908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9" name="Shape 7"/>
          <p:cNvSpPr/>
          <p:nvPr/>
        </p:nvSpPr>
        <p:spPr>
          <a:xfrm>
            <a:off x="201168" y="777240"/>
            <a:ext cx="1664208" cy="411480"/>
          </a:xfrm>
          <a:prstGeom prst="rect">
            <a:avLst/>
          </a:prstGeom>
          <a:solidFill>
            <a:srgbClr val="E23744"/>
          </a:solidFill>
          <a:ln/>
        </p:spPr>
      </p:sp>
      <p:sp>
        <p:nvSpPr>
          <p:cNvPr id="10" name="Text 8"/>
          <p:cNvSpPr/>
          <p:nvPr/>
        </p:nvSpPr>
        <p:spPr>
          <a:xfrm>
            <a:off x="274320" y="777240"/>
            <a:ext cx="1572768" cy="4114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Revenue Analysis</a:t>
            </a:r>
            <a:endParaRPr lang="en-US" sz="950" dirty="0"/>
          </a:p>
        </p:txBody>
      </p:sp>
      <p:sp>
        <p:nvSpPr>
          <p:cNvPr id="11" name="Text 9"/>
          <p:cNvSpPr/>
          <p:nvPr/>
        </p:nvSpPr>
        <p:spPr>
          <a:xfrm>
            <a:off x="292608" y="1261872"/>
            <a:ext cx="1527048" cy="384048"/>
          </a:xfrm>
          <a:prstGeom prst="rect">
            <a:avLst/>
          </a:prstGeom>
          <a:noFill/>
          <a:ln/>
        </p:spPr>
        <p:txBody>
          <a:bodyPr wrap="square" lIns="0" tIns="0" rIns="0" bIns="0" rtlCol="0" anchor="ctr"/>
          <a:lstStyle/>
          <a:p>
            <a:pPr marL="0" indent="0">
              <a:buNone/>
            </a:pPr>
            <a:r>
              <a:rPr lang="en-US" sz="900" b="1" dirty="0">
                <a:solidFill>
                  <a:srgbClr val="E23744"/>
                </a:solidFill>
                <a:latin typeface="Calibri" pitchFamily="34" charset="0"/>
                <a:ea typeface="Calibri" pitchFamily="34" charset="-122"/>
                <a:cs typeface="Calibri" pitchFamily="34" charset="-120"/>
              </a:rPr>
              <a:t>▸  </a:t>
            </a:r>
            <a:r>
              <a:rPr lang="en-US" sz="900" dirty="0">
                <a:solidFill>
                  <a:srgbClr val="1E293B"/>
                </a:solidFill>
                <a:latin typeface="Calibri" pitchFamily="34" charset="0"/>
                <a:ea typeface="Calibri" pitchFamily="34" charset="-122"/>
                <a:cs typeface="Calibri" pitchFamily="34" charset="-120"/>
              </a:rPr>
              <a:t>Total revenue by month and city</a:t>
            </a:r>
            <a:endParaRPr lang="en-US" sz="900" dirty="0"/>
          </a:p>
        </p:txBody>
      </p:sp>
      <p:sp>
        <p:nvSpPr>
          <p:cNvPr id="12" name="Text 10"/>
          <p:cNvSpPr/>
          <p:nvPr/>
        </p:nvSpPr>
        <p:spPr>
          <a:xfrm>
            <a:off x="292608" y="1673352"/>
            <a:ext cx="1527048" cy="384048"/>
          </a:xfrm>
          <a:prstGeom prst="rect">
            <a:avLst/>
          </a:prstGeom>
          <a:noFill/>
          <a:ln/>
        </p:spPr>
        <p:txBody>
          <a:bodyPr wrap="square" lIns="0" tIns="0" rIns="0" bIns="0" rtlCol="0" anchor="ctr"/>
          <a:lstStyle/>
          <a:p>
            <a:pPr marL="0" indent="0">
              <a:buNone/>
            </a:pPr>
            <a:r>
              <a:rPr lang="en-US" sz="900" b="1" dirty="0">
                <a:solidFill>
                  <a:srgbClr val="E23744"/>
                </a:solidFill>
                <a:latin typeface="Calibri" pitchFamily="34" charset="0"/>
                <a:ea typeface="Calibri" pitchFamily="34" charset="-122"/>
                <a:cs typeface="Calibri" pitchFamily="34" charset="-120"/>
              </a:rPr>
              <a:t>▸  </a:t>
            </a:r>
            <a:r>
              <a:rPr lang="en-US" sz="900" dirty="0">
                <a:solidFill>
                  <a:srgbClr val="1E293B"/>
                </a:solidFill>
                <a:latin typeface="Calibri" pitchFamily="34" charset="0"/>
                <a:ea typeface="Calibri" pitchFamily="34" charset="-122"/>
                <a:cs typeface="Calibri" pitchFamily="34" charset="-120"/>
              </a:rPr>
              <a:t>Average order value per customer</a:t>
            </a:r>
            <a:endParaRPr lang="en-US" sz="900" dirty="0"/>
          </a:p>
        </p:txBody>
      </p:sp>
      <p:sp>
        <p:nvSpPr>
          <p:cNvPr id="13" name="Text 11"/>
          <p:cNvSpPr/>
          <p:nvPr/>
        </p:nvSpPr>
        <p:spPr>
          <a:xfrm>
            <a:off x="292608" y="2084832"/>
            <a:ext cx="1527048" cy="384048"/>
          </a:xfrm>
          <a:prstGeom prst="rect">
            <a:avLst/>
          </a:prstGeom>
          <a:noFill/>
          <a:ln/>
        </p:spPr>
        <p:txBody>
          <a:bodyPr wrap="square" lIns="0" tIns="0" rIns="0" bIns="0" rtlCol="0" anchor="ctr"/>
          <a:lstStyle/>
          <a:p>
            <a:pPr marL="0" indent="0">
              <a:buNone/>
            </a:pPr>
            <a:r>
              <a:rPr lang="en-US" sz="900" b="1" dirty="0">
                <a:solidFill>
                  <a:srgbClr val="E23744"/>
                </a:solidFill>
                <a:latin typeface="Calibri" pitchFamily="34" charset="0"/>
                <a:ea typeface="Calibri" pitchFamily="34" charset="-122"/>
                <a:cs typeface="Calibri" pitchFamily="34" charset="-120"/>
              </a:rPr>
              <a:t>▸  </a:t>
            </a:r>
            <a:r>
              <a:rPr lang="en-US" sz="900" dirty="0">
                <a:solidFill>
                  <a:srgbClr val="1E293B"/>
                </a:solidFill>
                <a:latin typeface="Calibri" pitchFamily="34" charset="0"/>
                <a:ea typeface="Calibri" pitchFamily="34" charset="-122"/>
                <a:cs typeface="Calibri" pitchFamily="34" charset="-120"/>
              </a:rPr>
              <a:t>Monthly revenue trend identification</a:t>
            </a:r>
            <a:endParaRPr lang="en-US" sz="900" dirty="0"/>
          </a:p>
        </p:txBody>
      </p:sp>
      <p:sp>
        <p:nvSpPr>
          <p:cNvPr id="15" name="Text 13"/>
          <p:cNvSpPr/>
          <p:nvPr/>
        </p:nvSpPr>
        <p:spPr>
          <a:xfrm>
            <a:off x="310896" y="2633472"/>
            <a:ext cx="1463040" cy="1170432"/>
          </a:xfrm>
          <a:prstGeom prst="rect">
            <a:avLst/>
          </a:prstGeom>
          <a:noFill/>
          <a:ln/>
        </p:spPr>
        <p:txBody>
          <a:bodyPr wrap="square" lIns="0" tIns="0" rIns="0" bIns="0" rtlCol="0" anchor="ctr"/>
          <a:lstStyle/>
          <a:p>
            <a:pPr marL="0" indent="0">
              <a:buNone/>
            </a:pPr>
            <a:endParaRPr lang="en-US" sz="700" dirty="0"/>
          </a:p>
        </p:txBody>
      </p:sp>
      <p:sp>
        <p:nvSpPr>
          <p:cNvPr id="16" name="Shape 14"/>
          <p:cNvSpPr/>
          <p:nvPr/>
        </p:nvSpPr>
        <p:spPr>
          <a:xfrm>
            <a:off x="1938528" y="777240"/>
            <a:ext cx="1664208" cy="406908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7" name="Shape 15"/>
          <p:cNvSpPr/>
          <p:nvPr/>
        </p:nvSpPr>
        <p:spPr>
          <a:xfrm>
            <a:off x="1938528" y="777240"/>
            <a:ext cx="1664208" cy="411480"/>
          </a:xfrm>
          <a:prstGeom prst="rect">
            <a:avLst/>
          </a:prstGeom>
          <a:solidFill>
            <a:srgbClr val="0891B2"/>
          </a:solidFill>
          <a:ln/>
        </p:spPr>
      </p:sp>
      <p:sp>
        <p:nvSpPr>
          <p:cNvPr id="18" name="Text 16"/>
          <p:cNvSpPr/>
          <p:nvPr/>
        </p:nvSpPr>
        <p:spPr>
          <a:xfrm>
            <a:off x="2011680" y="777240"/>
            <a:ext cx="1572768" cy="4114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Customer Analysis</a:t>
            </a:r>
            <a:endParaRPr lang="en-US" sz="950" dirty="0"/>
          </a:p>
        </p:txBody>
      </p:sp>
      <p:sp>
        <p:nvSpPr>
          <p:cNvPr id="19" name="Text 17"/>
          <p:cNvSpPr/>
          <p:nvPr/>
        </p:nvSpPr>
        <p:spPr>
          <a:xfrm>
            <a:off x="2029968" y="1261872"/>
            <a:ext cx="1527048" cy="384048"/>
          </a:xfrm>
          <a:prstGeom prst="rect">
            <a:avLst/>
          </a:prstGeom>
          <a:noFill/>
          <a:ln/>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  </a:t>
            </a:r>
            <a:r>
              <a:rPr lang="en-US" sz="900" dirty="0">
                <a:solidFill>
                  <a:srgbClr val="1E293B"/>
                </a:solidFill>
                <a:latin typeface="Calibri" pitchFamily="34" charset="0"/>
                <a:ea typeface="Calibri" pitchFamily="34" charset="-122"/>
                <a:cs typeface="Calibri" pitchFamily="34" charset="-120"/>
              </a:rPr>
              <a:t>Customer demographics breakdown</a:t>
            </a:r>
            <a:endParaRPr lang="en-US" sz="900" dirty="0"/>
          </a:p>
        </p:txBody>
      </p:sp>
      <p:sp>
        <p:nvSpPr>
          <p:cNvPr id="20" name="Text 18"/>
          <p:cNvSpPr/>
          <p:nvPr/>
        </p:nvSpPr>
        <p:spPr>
          <a:xfrm>
            <a:off x="2029968" y="1673352"/>
            <a:ext cx="1527048" cy="384048"/>
          </a:xfrm>
          <a:prstGeom prst="rect">
            <a:avLst/>
          </a:prstGeom>
          <a:noFill/>
          <a:ln/>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  </a:t>
            </a:r>
            <a:r>
              <a:rPr lang="en-US" sz="900" dirty="0">
                <a:solidFill>
                  <a:srgbClr val="1E293B"/>
                </a:solidFill>
                <a:latin typeface="Calibri" pitchFamily="34" charset="0"/>
                <a:ea typeface="Calibri" pitchFamily="34" charset="-122"/>
                <a:cs typeface="Calibri" pitchFamily="34" charset="-120"/>
              </a:rPr>
              <a:t>High-value customer segmentation</a:t>
            </a:r>
            <a:endParaRPr lang="en-US" sz="900" dirty="0"/>
          </a:p>
        </p:txBody>
      </p:sp>
      <p:sp>
        <p:nvSpPr>
          <p:cNvPr id="21" name="Text 19"/>
          <p:cNvSpPr/>
          <p:nvPr/>
        </p:nvSpPr>
        <p:spPr>
          <a:xfrm>
            <a:off x="2029968" y="2084832"/>
            <a:ext cx="1527048" cy="384048"/>
          </a:xfrm>
          <a:prstGeom prst="rect">
            <a:avLst/>
          </a:prstGeom>
          <a:noFill/>
          <a:ln/>
        </p:spPr>
        <p:txBody>
          <a:bodyPr wrap="square" lIns="0" tIns="0" rIns="0" bIns="0" rtlCol="0" anchor="ctr"/>
          <a:lstStyle/>
          <a:p>
            <a:pPr marL="0" indent="0">
              <a:buNone/>
            </a:pPr>
            <a:r>
              <a:rPr lang="en-US" sz="900" b="1" dirty="0">
                <a:solidFill>
                  <a:srgbClr val="0891B2"/>
                </a:solidFill>
                <a:latin typeface="Calibri" pitchFamily="34" charset="0"/>
                <a:ea typeface="Calibri" pitchFamily="34" charset="-122"/>
                <a:cs typeface="Calibri" pitchFamily="34" charset="-120"/>
              </a:rPr>
              <a:t>▸  </a:t>
            </a:r>
            <a:r>
              <a:rPr lang="en-US" sz="900" dirty="0">
                <a:solidFill>
                  <a:srgbClr val="1E293B"/>
                </a:solidFill>
                <a:latin typeface="Calibri" pitchFamily="34" charset="0"/>
                <a:ea typeface="Calibri" pitchFamily="34" charset="-122"/>
                <a:cs typeface="Calibri" pitchFamily="34" charset="-120"/>
              </a:rPr>
              <a:t>Order frequency per user</a:t>
            </a:r>
            <a:endParaRPr lang="en-US" sz="900" dirty="0"/>
          </a:p>
        </p:txBody>
      </p:sp>
      <p:sp>
        <p:nvSpPr>
          <p:cNvPr id="23" name="Text 21"/>
          <p:cNvSpPr/>
          <p:nvPr/>
        </p:nvSpPr>
        <p:spPr>
          <a:xfrm>
            <a:off x="2048256" y="2633472"/>
            <a:ext cx="1463040" cy="1170432"/>
          </a:xfrm>
          <a:prstGeom prst="rect">
            <a:avLst/>
          </a:prstGeom>
          <a:noFill/>
          <a:ln/>
        </p:spPr>
        <p:txBody>
          <a:bodyPr wrap="square" lIns="0" tIns="0" rIns="0" bIns="0" rtlCol="0" anchor="ctr"/>
          <a:lstStyle/>
          <a:p>
            <a:pPr marL="0" indent="0">
              <a:buNone/>
            </a:pPr>
            <a:endParaRPr lang="en-US" sz="700" dirty="0"/>
          </a:p>
        </p:txBody>
      </p:sp>
      <p:sp>
        <p:nvSpPr>
          <p:cNvPr id="24" name="Shape 22"/>
          <p:cNvSpPr/>
          <p:nvPr/>
        </p:nvSpPr>
        <p:spPr>
          <a:xfrm>
            <a:off x="3675888" y="777240"/>
            <a:ext cx="1664208" cy="406908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25" name="Shape 23"/>
          <p:cNvSpPr/>
          <p:nvPr/>
        </p:nvSpPr>
        <p:spPr>
          <a:xfrm>
            <a:off x="3675888" y="777240"/>
            <a:ext cx="1664208" cy="411480"/>
          </a:xfrm>
          <a:prstGeom prst="rect">
            <a:avLst/>
          </a:prstGeom>
          <a:solidFill>
            <a:srgbClr val="10B981"/>
          </a:solidFill>
          <a:ln/>
        </p:spPr>
      </p:sp>
      <p:sp>
        <p:nvSpPr>
          <p:cNvPr id="26" name="Text 24"/>
          <p:cNvSpPr/>
          <p:nvPr/>
        </p:nvSpPr>
        <p:spPr>
          <a:xfrm>
            <a:off x="3749040" y="777240"/>
            <a:ext cx="1572768" cy="4114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Restaurant Analysis</a:t>
            </a:r>
            <a:endParaRPr lang="en-US" sz="950" dirty="0"/>
          </a:p>
        </p:txBody>
      </p:sp>
      <p:sp>
        <p:nvSpPr>
          <p:cNvPr id="27" name="Text 25"/>
          <p:cNvSpPr/>
          <p:nvPr/>
        </p:nvSpPr>
        <p:spPr>
          <a:xfrm>
            <a:off x="3767328" y="1261872"/>
            <a:ext cx="1527048" cy="384048"/>
          </a:xfrm>
          <a:prstGeom prst="rect">
            <a:avLst/>
          </a:prstGeom>
          <a:noFill/>
          <a:ln/>
        </p:spPr>
        <p:txBody>
          <a:bodyPr wrap="square" lIns="0" tIns="0" rIns="0" bIns="0" rtlCol="0" anchor="ctr"/>
          <a:lstStyle/>
          <a:p>
            <a:pPr marL="0" indent="0">
              <a:buNone/>
            </a:pPr>
            <a:r>
              <a:rPr lang="en-US" sz="900" b="1" dirty="0">
                <a:solidFill>
                  <a:srgbClr val="10B981"/>
                </a:solidFill>
                <a:latin typeface="Calibri" pitchFamily="34" charset="0"/>
                <a:ea typeface="Calibri" pitchFamily="34" charset="-122"/>
                <a:cs typeface="Calibri" pitchFamily="34" charset="-120"/>
              </a:rPr>
              <a:t>▸  </a:t>
            </a:r>
            <a:r>
              <a:rPr lang="en-US" sz="900" dirty="0">
                <a:solidFill>
                  <a:srgbClr val="1E293B"/>
                </a:solidFill>
                <a:latin typeface="Calibri" pitchFamily="34" charset="0"/>
                <a:ea typeface="Calibri" pitchFamily="34" charset="-122"/>
                <a:cs typeface="Calibri" pitchFamily="34" charset="-120"/>
              </a:rPr>
              <a:t>Top-rated restaurants per city</a:t>
            </a:r>
            <a:endParaRPr lang="en-US" sz="900" dirty="0"/>
          </a:p>
        </p:txBody>
      </p:sp>
      <p:sp>
        <p:nvSpPr>
          <p:cNvPr id="28" name="Text 26"/>
          <p:cNvSpPr/>
          <p:nvPr/>
        </p:nvSpPr>
        <p:spPr>
          <a:xfrm>
            <a:off x="3767328" y="1673352"/>
            <a:ext cx="1527048" cy="384048"/>
          </a:xfrm>
          <a:prstGeom prst="rect">
            <a:avLst/>
          </a:prstGeom>
          <a:noFill/>
          <a:ln/>
        </p:spPr>
        <p:txBody>
          <a:bodyPr wrap="square" lIns="0" tIns="0" rIns="0" bIns="0" rtlCol="0" anchor="ctr"/>
          <a:lstStyle/>
          <a:p>
            <a:pPr marL="0" indent="0">
              <a:buNone/>
            </a:pPr>
            <a:r>
              <a:rPr lang="en-US" sz="900" b="1" dirty="0">
                <a:solidFill>
                  <a:srgbClr val="10B981"/>
                </a:solidFill>
                <a:latin typeface="Calibri" pitchFamily="34" charset="0"/>
                <a:ea typeface="Calibri" pitchFamily="34" charset="-122"/>
                <a:cs typeface="Calibri" pitchFamily="34" charset="-120"/>
              </a:rPr>
              <a:t>▸  </a:t>
            </a:r>
            <a:r>
              <a:rPr lang="en-US" sz="900" dirty="0">
                <a:solidFill>
                  <a:srgbClr val="1E293B"/>
                </a:solidFill>
                <a:latin typeface="Calibri" pitchFamily="34" charset="0"/>
                <a:ea typeface="Calibri" pitchFamily="34" charset="-122"/>
                <a:cs typeface="Calibri" pitchFamily="34" charset="-120"/>
              </a:rPr>
              <a:t>Restaurant count by city density</a:t>
            </a:r>
            <a:endParaRPr lang="en-US" sz="900" dirty="0"/>
          </a:p>
        </p:txBody>
      </p:sp>
      <p:sp>
        <p:nvSpPr>
          <p:cNvPr id="29" name="Text 27"/>
          <p:cNvSpPr/>
          <p:nvPr/>
        </p:nvSpPr>
        <p:spPr>
          <a:xfrm>
            <a:off x="3767328" y="2084832"/>
            <a:ext cx="1527048" cy="384048"/>
          </a:xfrm>
          <a:prstGeom prst="rect">
            <a:avLst/>
          </a:prstGeom>
          <a:noFill/>
          <a:ln/>
        </p:spPr>
        <p:txBody>
          <a:bodyPr wrap="square" lIns="0" tIns="0" rIns="0" bIns="0" rtlCol="0" anchor="ctr"/>
          <a:lstStyle/>
          <a:p>
            <a:pPr marL="0" indent="0">
              <a:buNone/>
            </a:pPr>
            <a:r>
              <a:rPr lang="en-US" sz="900" b="1" dirty="0">
                <a:solidFill>
                  <a:srgbClr val="10B981"/>
                </a:solidFill>
                <a:latin typeface="Calibri" pitchFamily="34" charset="0"/>
                <a:ea typeface="Calibri" pitchFamily="34" charset="-122"/>
                <a:cs typeface="Calibri" pitchFamily="34" charset="-120"/>
              </a:rPr>
              <a:t>▸  </a:t>
            </a:r>
            <a:r>
              <a:rPr lang="en-US" sz="900" dirty="0">
                <a:solidFill>
                  <a:srgbClr val="1E293B"/>
                </a:solidFill>
                <a:latin typeface="Calibri" pitchFamily="34" charset="0"/>
                <a:ea typeface="Calibri" pitchFamily="34" charset="-122"/>
                <a:cs typeface="Calibri" pitchFamily="34" charset="-120"/>
              </a:rPr>
              <a:t>Cost vs. rating correlation</a:t>
            </a:r>
            <a:endParaRPr lang="en-US" sz="900" dirty="0"/>
          </a:p>
        </p:txBody>
      </p:sp>
      <p:sp>
        <p:nvSpPr>
          <p:cNvPr id="31" name="Text 29"/>
          <p:cNvSpPr/>
          <p:nvPr/>
        </p:nvSpPr>
        <p:spPr>
          <a:xfrm>
            <a:off x="3785616" y="2633472"/>
            <a:ext cx="1463040" cy="1170432"/>
          </a:xfrm>
          <a:prstGeom prst="rect">
            <a:avLst/>
          </a:prstGeom>
          <a:noFill/>
          <a:ln/>
        </p:spPr>
        <p:txBody>
          <a:bodyPr wrap="square" lIns="0" tIns="0" rIns="0" bIns="0" rtlCol="0" anchor="ctr"/>
          <a:lstStyle/>
          <a:p>
            <a:pPr marL="0" indent="0">
              <a:buNone/>
            </a:pPr>
            <a:r>
              <a:rPr lang="en-US" sz="700" dirty="0">
                <a:solidFill>
                  <a:srgbClr val="7DD3FC"/>
                </a:solidFill>
                <a:latin typeface="Consolas" pitchFamily="34" charset="0"/>
                <a:ea typeface="Consolas" pitchFamily="34" charset="-122"/>
                <a:cs typeface="Consolas" pitchFamily="34" charset="-120"/>
              </a:rPr>
              <a:t>=</a:t>
            </a:r>
            <a:endParaRPr lang="en-US" sz="700" dirty="0"/>
          </a:p>
        </p:txBody>
      </p:sp>
      <p:sp>
        <p:nvSpPr>
          <p:cNvPr id="32" name="Shape 30"/>
          <p:cNvSpPr/>
          <p:nvPr/>
        </p:nvSpPr>
        <p:spPr>
          <a:xfrm>
            <a:off x="5413248" y="777240"/>
            <a:ext cx="1664208" cy="406908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33" name="Shape 31"/>
          <p:cNvSpPr/>
          <p:nvPr/>
        </p:nvSpPr>
        <p:spPr>
          <a:xfrm>
            <a:off x="5413248" y="777240"/>
            <a:ext cx="1664208" cy="411480"/>
          </a:xfrm>
          <a:prstGeom prst="rect">
            <a:avLst/>
          </a:prstGeom>
          <a:solidFill>
            <a:srgbClr val="F97316"/>
          </a:solidFill>
          <a:ln/>
        </p:spPr>
      </p:sp>
      <p:sp>
        <p:nvSpPr>
          <p:cNvPr id="34" name="Text 32"/>
          <p:cNvSpPr/>
          <p:nvPr/>
        </p:nvSpPr>
        <p:spPr>
          <a:xfrm>
            <a:off x="5486400" y="777240"/>
            <a:ext cx="1572768" cy="4114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Cuisine Analysis</a:t>
            </a:r>
            <a:endParaRPr lang="en-US" sz="950" dirty="0"/>
          </a:p>
        </p:txBody>
      </p:sp>
      <p:sp>
        <p:nvSpPr>
          <p:cNvPr id="35" name="Text 33"/>
          <p:cNvSpPr/>
          <p:nvPr/>
        </p:nvSpPr>
        <p:spPr>
          <a:xfrm>
            <a:off x="5504688" y="1261872"/>
            <a:ext cx="1527048" cy="384048"/>
          </a:xfrm>
          <a:prstGeom prst="rect">
            <a:avLst/>
          </a:prstGeom>
          <a:noFill/>
          <a:ln/>
        </p:spPr>
        <p:txBody>
          <a:bodyPr wrap="square" lIns="0" tIns="0" rIns="0" bIns="0" rtlCol="0" anchor="ctr"/>
          <a:lstStyle/>
          <a:p>
            <a:pPr marL="0" indent="0">
              <a:buNone/>
            </a:pPr>
            <a:r>
              <a:rPr lang="en-US" sz="900" b="1" dirty="0">
                <a:solidFill>
                  <a:srgbClr val="F97316"/>
                </a:solidFill>
                <a:latin typeface="Calibri" pitchFamily="34" charset="0"/>
                <a:ea typeface="Calibri" pitchFamily="34" charset="-122"/>
                <a:cs typeface="Calibri" pitchFamily="34" charset="-120"/>
              </a:rPr>
              <a:t>▸  </a:t>
            </a:r>
            <a:r>
              <a:rPr lang="en-US" sz="900" dirty="0">
                <a:solidFill>
                  <a:srgbClr val="1E293B"/>
                </a:solidFill>
                <a:latin typeface="Calibri" pitchFamily="34" charset="0"/>
                <a:ea typeface="Calibri" pitchFamily="34" charset="-122"/>
                <a:cs typeface="Calibri" pitchFamily="34" charset="-120"/>
              </a:rPr>
              <a:t>Most popular cuisines by order volume</a:t>
            </a:r>
            <a:endParaRPr lang="en-US" sz="900" dirty="0"/>
          </a:p>
        </p:txBody>
      </p:sp>
      <p:sp>
        <p:nvSpPr>
          <p:cNvPr id="36" name="Text 34"/>
          <p:cNvSpPr/>
          <p:nvPr/>
        </p:nvSpPr>
        <p:spPr>
          <a:xfrm>
            <a:off x="5504688" y="1673352"/>
            <a:ext cx="1527048" cy="384048"/>
          </a:xfrm>
          <a:prstGeom prst="rect">
            <a:avLst/>
          </a:prstGeom>
          <a:noFill/>
          <a:ln/>
        </p:spPr>
        <p:txBody>
          <a:bodyPr wrap="square" lIns="0" tIns="0" rIns="0" bIns="0" rtlCol="0" anchor="ctr"/>
          <a:lstStyle/>
          <a:p>
            <a:pPr marL="0" indent="0">
              <a:buNone/>
            </a:pPr>
            <a:r>
              <a:rPr lang="en-US" sz="900" b="1" dirty="0">
                <a:solidFill>
                  <a:srgbClr val="F97316"/>
                </a:solidFill>
                <a:latin typeface="Calibri" pitchFamily="34" charset="0"/>
                <a:ea typeface="Calibri" pitchFamily="34" charset="-122"/>
                <a:cs typeface="Calibri" pitchFamily="34" charset="-120"/>
              </a:rPr>
              <a:t>▸  </a:t>
            </a:r>
            <a:r>
              <a:rPr lang="en-US" sz="900" dirty="0">
                <a:solidFill>
                  <a:srgbClr val="1E293B"/>
                </a:solidFill>
                <a:latin typeface="Calibri" pitchFamily="34" charset="0"/>
                <a:ea typeface="Calibri" pitchFamily="34" charset="-122"/>
                <a:cs typeface="Calibri" pitchFamily="34" charset="-120"/>
              </a:rPr>
              <a:t>Cuisine distribution across regions</a:t>
            </a:r>
            <a:endParaRPr lang="en-US" sz="900" dirty="0"/>
          </a:p>
        </p:txBody>
      </p:sp>
      <p:sp>
        <p:nvSpPr>
          <p:cNvPr id="37" name="Text 35"/>
          <p:cNvSpPr/>
          <p:nvPr/>
        </p:nvSpPr>
        <p:spPr>
          <a:xfrm>
            <a:off x="5504688" y="2084832"/>
            <a:ext cx="1527048" cy="384048"/>
          </a:xfrm>
          <a:prstGeom prst="rect">
            <a:avLst/>
          </a:prstGeom>
          <a:noFill/>
          <a:ln/>
        </p:spPr>
        <p:txBody>
          <a:bodyPr wrap="square" lIns="0" tIns="0" rIns="0" bIns="0" rtlCol="0" anchor="ctr"/>
          <a:lstStyle/>
          <a:p>
            <a:pPr marL="0" indent="0">
              <a:buNone/>
            </a:pPr>
            <a:r>
              <a:rPr lang="en-US" sz="900" b="1" dirty="0">
                <a:solidFill>
                  <a:srgbClr val="F97316"/>
                </a:solidFill>
                <a:latin typeface="Calibri" pitchFamily="34" charset="0"/>
                <a:ea typeface="Calibri" pitchFamily="34" charset="-122"/>
                <a:cs typeface="Calibri" pitchFamily="34" charset="-120"/>
              </a:rPr>
              <a:t>▸  </a:t>
            </a:r>
            <a:r>
              <a:rPr lang="en-US" sz="900" dirty="0">
                <a:solidFill>
                  <a:srgbClr val="1E293B"/>
                </a:solidFill>
                <a:latin typeface="Calibri" pitchFamily="34" charset="0"/>
                <a:ea typeface="Calibri" pitchFamily="34" charset="-122"/>
                <a:cs typeface="Calibri" pitchFamily="34" charset="-120"/>
              </a:rPr>
              <a:t>Veg vs. Non-veg preference</a:t>
            </a:r>
            <a:endParaRPr lang="en-US" sz="900" dirty="0"/>
          </a:p>
        </p:txBody>
      </p:sp>
      <p:sp>
        <p:nvSpPr>
          <p:cNvPr id="39" name="Text 37"/>
          <p:cNvSpPr/>
          <p:nvPr/>
        </p:nvSpPr>
        <p:spPr>
          <a:xfrm>
            <a:off x="5522976" y="2633472"/>
            <a:ext cx="1463040" cy="1170432"/>
          </a:xfrm>
          <a:prstGeom prst="rect">
            <a:avLst/>
          </a:prstGeom>
          <a:noFill/>
          <a:ln/>
        </p:spPr>
        <p:txBody>
          <a:bodyPr wrap="square" lIns="0" tIns="0" rIns="0" bIns="0" rtlCol="0" anchor="ctr"/>
          <a:lstStyle/>
          <a:p>
            <a:pPr marL="0" indent="0">
              <a:buNone/>
            </a:pPr>
            <a:endParaRPr lang="en-US" sz="700" dirty="0"/>
          </a:p>
        </p:txBody>
      </p:sp>
      <p:sp>
        <p:nvSpPr>
          <p:cNvPr id="40" name="Shape 38"/>
          <p:cNvSpPr/>
          <p:nvPr/>
        </p:nvSpPr>
        <p:spPr>
          <a:xfrm>
            <a:off x="7141464" y="658368"/>
            <a:ext cx="1664208" cy="418795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41" name="Shape 39"/>
          <p:cNvSpPr/>
          <p:nvPr/>
        </p:nvSpPr>
        <p:spPr>
          <a:xfrm>
            <a:off x="7150608" y="777240"/>
            <a:ext cx="1664208" cy="411480"/>
          </a:xfrm>
          <a:prstGeom prst="rect">
            <a:avLst/>
          </a:prstGeom>
          <a:solidFill>
            <a:srgbClr val="6366F1"/>
          </a:solidFill>
          <a:ln/>
        </p:spPr>
      </p:sp>
      <p:sp>
        <p:nvSpPr>
          <p:cNvPr id="42" name="Text 40"/>
          <p:cNvSpPr/>
          <p:nvPr/>
        </p:nvSpPr>
        <p:spPr>
          <a:xfrm>
            <a:off x="7223760" y="777240"/>
            <a:ext cx="1572768" cy="4114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Delivery Analysis</a:t>
            </a:r>
            <a:endParaRPr lang="en-US" sz="950" dirty="0"/>
          </a:p>
        </p:txBody>
      </p:sp>
      <p:sp>
        <p:nvSpPr>
          <p:cNvPr id="43" name="Text 41"/>
          <p:cNvSpPr/>
          <p:nvPr/>
        </p:nvSpPr>
        <p:spPr>
          <a:xfrm>
            <a:off x="7242048" y="1261872"/>
            <a:ext cx="1527048" cy="384048"/>
          </a:xfrm>
          <a:prstGeom prst="rect">
            <a:avLst/>
          </a:prstGeom>
          <a:noFill/>
          <a:ln/>
        </p:spPr>
        <p:txBody>
          <a:bodyPr wrap="square" lIns="0" tIns="0" rIns="0" bIns="0" rtlCol="0" anchor="ctr"/>
          <a:lstStyle/>
          <a:p>
            <a:pPr marL="0" indent="0">
              <a:buNone/>
            </a:pPr>
            <a:r>
              <a:rPr lang="en-US" sz="900" b="1" dirty="0">
                <a:solidFill>
                  <a:srgbClr val="6366F1"/>
                </a:solidFill>
                <a:latin typeface="Calibri" pitchFamily="34" charset="0"/>
                <a:ea typeface="Calibri" pitchFamily="34" charset="-122"/>
                <a:cs typeface="Calibri" pitchFamily="34" charset="-120"/>
              </a:rPr>
              <a:t>▸  </a:t>
            </a:r>
            <a:r>
              <a:rPr lang="en-US" sz="900" dirty="0">
                <a:solidFill>
                  <a:srgbClr val="1E293B"/>
                </a:solidFill>
                <a:latin typeface="Calibri" pitchFamily="34" charset="0"/>
                <a:ea typeface="Calibri" pitchFamily="34" charset="-122"/>
                <a:cs typeface="Calibri" pitchFamily="34" charset="-120"/>
              </a:rPr>
              <a:t>Average delivery time by traffic density</a:t>
            </a:r>
            <a:endParaRPr lang="en-US" sz="900" dirty="0"/>
          </a:p>
        </p:txBody>
      </p:sp>
      <p:sp>
        <p:nvSpPr>
          <p:cNvPr id="44" name="Text 42"/>
          <p:cNvSpPr/>
          <p:nvPr/>
        </p:nvSpPr>
        <p:spPr>
          <a:xfrm>
            <a:off x="7242048" y="1673352"/>
            <a:ext cx="1527048" cy="384048"/>
          </a:xfrm>
          <a:prstGeom prst="rect">
            <a:avLst/>
          </a:prstGeom>
          <a:noFill/>
          <a:ln/>
        </p:spPr>
        <p:txBody>
          <a:bodyPr wrap="square" lIns="0" tIns="0" rIns="0" bIns="0" rtlCol="0" anchor="ctr"/>
          <a:lstStyle/>
          <a:p>
            <a:pPr marL="0" indent="0">
              <a:buNone/>
            </a:pPr>
            <a:r>
              <a:rPr lang="en-US" sz="900" b="1" dirty="0">
                <a:solidFill>
                  <a:srgbClr val="6366F1"/>
                </a:solidFill>
                <a:latin typeface="Calibri" pitchFamily="34" charset="0"/>
                <a:ea typeface="Calibri" pitchFamily="34" charset="-122"/>
                <a:cs typeface="Calibri" pitchFamily="34" charset="-120"/>
              </a:rPr>
              <a:t>▸  </a:t>
            </a:r>
            <a:r>
              <a:rPr lang="en-US" sz="900" dirty="0">
                <a:solidFill>
                  <a:srgbClr val="1E293B"/>
                </a:solidFill>
                <a:latin typeface="Calibri" pitchFamily="34" charset="0"/>
                <a:ea typeface="Calibri" pitchFamily="34" charset="-122"/>
                <a:cs typeface="Calibri" pitchFamily="34" charset="-120"/>
              </a:rPr>
              <a:t>Weather impact on delivery duration</a:t>
            </a:r>
            <a:endParaRPr lang="en-US" sz="900" dirty="0"/>
          </a:p>
        </p:txBody>
      </p:sp>
      <p:sp>
        <p:nvSpPr>
          <p:cNvPr id="45" name="Text 43"/>
          <p:cNvSpPr/>
          <p:nvPr/>
        </p:nvSpPr>
        <p:spPr>
          <a:xfrm>
            <a:off x="7242048" y="2084832"/>
            <a:ext cx="1527048" cy="384048"/>
          </a:xfrm>
          <a:prstGeom prst="rect">
            <a:avLst/>
          </a:prstGeom>
          <a:noFill/>
          <a:ln/>
        </p:spPr>
        <p:txBody>
          <a:bodyPr wrap="square" lIns="0" tIns="0" rIns="0" bIns="0" rtlCol="0" anchor="ctr"/>
          <a:lstStyle/>
          <a:p>
            <a:pPr marL="0" indent="0">
              <a:buNone/>
            </a:pPr>
            <a:r>
              <a:rPr lang="en-US" sz="900" b="1" dirty="0">
                <a:solidFill>
                  <a:srgbClr val="6366F1"/>
                </a:solidFill>
                <a:latin typeface="Calibri" pitchFamily="34" charset="0"/>
                <a:ea typeface="Calibri" pitchFamily="34" charset="-122"/>
                <a:cs typeface="Calibri" pitchFamily="34" charset="-120"/>
              </a:rPr>
              <a:t>▸  </a:t>
            </a:r>
            <a:r>
              <a:rPr lang="en-US" sz="900" dirty="0">
                <a:solidFill>
                  <a:srgbClr val="1E293B"/>
                </a:solidFill>
                <a:latin typeface="Calibri" pitchFamily="34" charset="0"/>
                <a:ea typeface="Calibri" pitchFamily="34" charset="-122"/>
                <a:cs typeface="Calibri" pitchFamily="34" charset="-120"/>
              </a:rPr>
              <a:t>Vehicle type performance</a:t>
            </a:r>
            <a:endParaRPr lang="en-US" sz="900" dirty="0"/>
          </a:p>
        </p:txBody>
      </p:sp>
      <p:sp>
        <p:nvSpPr>
          <p:cNvPr id="47" name="Text 45"/>
          <p:cNvSpPr/>
          <p:nvPr/>
        </p:nvSpPr>
        <p:spPr>
          <a:xfrm>
            <a:off x="7260336" y="2633472"/>
            <a:ext cx="1463040" cy="1170432"/>
          </a:xfrm>
          <a:prstGeom prst="rect">
            <a:avLst/>
          </a:prstGeom>
          <a:noFill/>
          <a:ln/>
        </p:spPr>
        <p:txBody>
          <a:bodyPr wrap="square" lIns="0" tIns="0" rIns="0" bIns="0" rtlCol="0" anchor="ctr"/>
          <a:lstStyle/>
          <a:p>
            <a:pPr marL="0" indent="0">
              <a:buNone/>
            </a:pPr>
            <a:endParaRPr lang="en-US" sz="700" dirty="0"/>
          </a:p>
        </p:txBody>
      </p:sp>
      <p:pic>
        <p:nvPicPr>
          <p:cNvPr id="49" name="Picture 48">
            <a:extLst>
              <a:ext uri="{FF2B5EF4-FFF2-40B4-BE49-F238E27FC236}">
                <a16:creationId xmlns:a16="http://schemas.microsoft.com/office/drawing/2014/main" id="{EB41FDF1-C815-C092-9650-F325CC55EAF8}"/>
              </a:ext>
            </a:extLst>
          </p:cNvPr>
          <p:cNvPicPr>
            <a:picLocks noChangeAspect="1"/>
          </p:cNvPicPr>
          <p:nvPr/>
        </p:nvPicPr>
        <p:blipFill>
          <a:blip r:embed="rId3"/>
          <a:stretch>
            <a:fillRect/>
          </a:stretch>
        </p:blipFill>
        <p:spPr>
          <a:xfrm>
            <a:off x="1999968" y="2564892"/>
            <a:ext cx="1511328" cy="1316736"/>
          </a:xfrm>
          <a:prstGeom prst="rect">
            <a:avLst/>
          </a:prstGeom>
          <a:ln>
            <a:solidFill>
              <a:schemeClr val="tx1"/>
            </a:solidFill>
          </a:ln>
        </p:spPr>
      </p:pic>
      <p:pic>
        <p:nvPicPr>
          <p:cNvPr id="51" name="Picture 50">
            <a:extLst>
              <a:ext uri="{FF2B5EF4-FFF2-40B4-BE49-F238E27FC236}">
                <a16:creationId xmlns:a16="http://schemas.microsoft.com/office/drawing/2014/main" id="{A54B1D3C-458D-7E12-11C2-CC4765CA86DF}"/>
              </a:ext>
            </a:extLst>
          </p:cNvPr>
          <p:cNvPicPr>
            <a:picLocks noChangeAspect="1"/>
          </p:cNvPicPr>
          <p:nvPr/>
        </p:nvPicPr>
        <p:blipFill>
          <a:blip r:embed="rId4"/>
          <a:stretch>
            <a:fillRect/>
          </a:stretch>
        </p:blipFill>
        <p:spPr>
          <a:xfrm>
            <a:off x="3735324" y="2569464"/>
            <a:ext cx="1527048" cy="1312164"/>
          </a:xfrm>
          <a:prstGeom prst="rect">
            <a:avLst/>
          </a:prstGeom>
          <a:ln>
            <a:solidFill>
              <a:schemeClr val="tx1"/>
            </a:solidFill>
          </a:ln>
        </p:spPr>
      </p:pic>
      <p:pic>
        <p:nvPicPr>
          <p:cNvPr id="53" name="Picture 52">
            <a:extLst>
              <a:ext uri="{FF2B5EF4-FFF2-40B4-BE49-F238E27FC236}">
                <a16:creationId xmlns:a16="http://schemas.microsoft.com/office/drawing/2014/main" id="{735344B0-2EDF-668E-E8C9-E3B6B09EC452}"/>
              </a:ext>
            </a:extLst>
          </p:cNvPr>
          <p:cNvPicPr>
            <a:picLocks noChangeAspect="1"/>
          </p:cNvPicPr>
          <p:nvPr/>
        </p:nvPicPr>
        <p:blipFill>
          <a:blip r:embed="rId5"/>
          <a:stretch>
            <a:fillRect/>
          </a:stretch>
        </p:blipFill>
        <p:spPr>
          <a:xfrm>
            <a:off x="5522976" y="2539570"/>
            <a:ext cx="1463040" cy="1342058"/>
          </a:xfrm>
          <a:prstGeom prst="rect">
            <a:avLst/>
          </a:prstGeom>
          <a:ln>
            <a:solidFill>
              <a:schemeClr val="tx1"/>
            </a:solidFill>
          </a:ln>
        </p:spPr>
      </p:pic>
      <p:pic>
        <p:nvPicPr>
          <p:cNvPr id="55" name="Picture 54">
            <a:extLst>
              <a:ext uri="{FF2B5EF4-FFF2-40B4-BE49-F238E27FC236}">
                <a16:creationId xmlns:a16="http://schemas.microsoft.com/office/drawing/2014/main" id="{C1217942-AA81-069A-56CC-8D7C2EF02910}"/>
              </a:ext>
            </a:extLst>
          </p:cNvPr>
          <p:cNvPicPr>
            <a:picLocks noChangeAspect="1"/>
          </p:cNvPicPr>
          <p:nvPr/>
        </p:nvPicPr>
        <p:blipFill>
          <a:blip r:embed="rId6"/>
          <a:stretch>
            <a:fillRect/>
          </a:stretch>
        </p:blipFill>
        <p:spPr>
          <a:xfrm>
            <a:off x="7200900" y="2510028"/>
            <a:ext cx="1463040" cy="1371600"/>
          </a:xfrm>
          <a:prstGeom prst="rect">
            <a:avLst/>
          </a:prstGeom>
          <a:ln>
            <a:solidFill>
              <a:schemeClr val="tx1"/>
            </a:solidFill>
          </a:ln>
        </p:spPr>
      </p:pic>
      <p:pic>
        <p:nvPicPr>
          <p:cNvPr id="58" name="Picture 57">
            <a:extLst>
              <a:ext uri="{FF2B5EF4-FFF2-40B4-BE49-F238E27FC236}">
                <a16:creationId xmlns:a16="http://schemas.microsoft.com/office/drawing/2014/main" id="{09229A19-C9A3-C0C4-6C3B-DCE153080E1B}"/>
              </a:ext>
            </a:extLst>
          </p:cNvPr>
          <p:cNvPicPr>
            <a:picLocks noChangeAspect="1"/>
          </p:cNvPicPr>
          <p:nvPr/>
        </p:nvPicPr>
        <p:blipFill>
          <a:blip r:embed="rId7"/>
          <a:stretch>
            <a:fillRect/>
          </a:stretch>
        </p:blipFill>
        <p:spPr>
          <a:xfrm>
            <a:off x="317754" y="2564892"/>
            <a:ext cx="1463040" cy="1316736"/>
          </a:xfrm>
          <a:prstGeom prst="rect">
            <a:avLst/>
          </a:prstGeom>
          <a:ln>
            <a:solidFill>
              <a:schemeClr val="tx1"/>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23744"/>
          </a:solidFill>
          <a:ln/>
        </p:spPr>
      </p:sp>
      <p:sp>
        <p:nvSpPr>
          <p:cNvPr id="3" name="Text 1"/>
          <p:cNvSpPr/>
          <p:nvPr/>
        </p:nvSpPr>
        <p:spPr>
          <a:xfrm>
            <a:off x="365760" y="73152"/>
            <a:ext cx="841248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Advanced SQL Queries</a:t>
            </a:r>
            <a:endParaRPr lang="en-US" sz="2200" dirty="0"/>
          </a:p>
        </p:txBody>
      </p:sp>
      <p:sp>
        <p:nvSpPr>
          <p:cNvPr id="4" name="Text 2"/>
          <p:cNvSpPr/>
          <p:nvPr/>
        </p:nvSpPr>
        <p:spPr>
          <a:xfrm>
            <a:off x="3337560" y="250405"/>
            <a:ext cx="3263705" cy="256032"/>
          </a:xfrm>
          <a:prstGeom prst="rect">
            <a:avLst/>
          </a:prstGeom>
          <a:noFill/>
          <a:ln/>
        </p:spPr>
        <p:txBody>
          <a:bodyPr wrap="square" lIns="0" tIns="0" rIns="0" bIns="0" rtlCol="0" anchor="ctr"/>
          <a:lstStyle/>
          <a:p>
            <a:pPr marL="0" indent="0">
              <a:buNone/>
            </a:pPr>
            <a:r>
              <a:rPr lang="en-US" sz="1100" i="1" dirty="0">
                <a:solidFill>
                  <a:srgbClr val="FFD0D5"/>
                </a:solidFill>
                <a:latin typeface="Calibri" pitchFamily="34" charset="0"/>
                <a:ea typeface="Calibri" pitchFamily="34" charset="-122"/>
                <a:cs typeface="Calibri" pitchFamily="34" charset="-120"/>
              </a:rPr>
              <a:t>Joins • Aggregations • Window Functions • Business KPIs</a:t>
            </a:r>
            <a:endParaRPr lang="en-US" sz="1100" dirty="0"/>
          </a:p>
        </p:txBody>
      </p:sp>
      <p:sp>
        <p:nvSpPr>
          <p:cNvPr id="7" name="Text 5"/>
          <p:cNvSpPr/>
          <p:nvPr/>
        </p:nvSpPr>
        <p:spPr>
          <a:xfrm>
            <a:off x="8046720" y="4965192"/>
            <a:ext cx="822960" cy="164592"/>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7 / 15</a:t>
            </a:r>
            <a:endParaRPr lang="en-US" sz="800" dirty="0"/>
          </a:p>
        </p:txBody>
      </p:sp>
      <p:sp>
        <p:nvSpPr>
          <p:cNvPr id="8" name="Shape 6"/>
          <p:cNvSpPr/>
          <p:nvPr/>
        </p:nvSpPr>
        <p:spPr>
          <a:xfrm>
            <a:off x="228600" y="804672"/>
            <a:ext cx="5120640" cy="1298448"/>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9" name="Shape 7"/>
          <p:cNvSpPr/>
          <p:nvPr/>
        </p:nvSpPr>
        <p:spPr>
          <a:xfrm>
            <a:off x="228600" y="804672"/>
            <a:ext cx="73152" cy="1298448"/>
          </a:xfrm>
          <a:prstGeom prst="rect">
            <a:avLst/>
          </a:prstGeom>
          <a:solidFill>
            <a:srgbClr val="E23744"/>
          </a:solidFill>
          <a:ln/>
        </p:spPr>
      </p:sp>
      <p:sp>
        <p:nvSpPr>
          <p:cNvPr id="10" name="Text 8"/>
          <p:cNvSpPr/>
          <p:nvPr/>
        </p:nvSpPr>
        <p:spPr>
          <a:xfrm>
            <a:off x="411480" y="877824"/>
            <a:ext cx="2743200" cy="274320"/>
          </a:xfrm>
          <a:prstGeom prst="rect">
            <a:avLst/>
          </a:prstGeom>
          <a:noFill/>
          <a:ln/>
        </p:spPr>
        <p:txBody>
          <a:bodyPr wrap="square" lIns="0" tIns="0" rIns="0" bIns="0" rtlCol="0" anchor="ctr"/>
          <a:lstStyle/>
          <a:p>
            <a:pPr marL="0" indent="0">
              <a:buNone/>
            </a:pPr>
            <a:r>
              <a:rPr lang="en-US" sz="1200" b="1" dirty="0">
                <a:solidFill>
                  <a:srgbClr val="E23744"/>
                </a:solidFill>
                <a:latin typeface="Calibri" pitchFamily="34" charset="0"/>
                <a:ea typeface="Calibri" pitchFamily="34" charset="-122"/>
                <a:cs typeface="Calibri" pitchFamily="34" charset="-120"/>
              </a:rPr>
              <a:t>Multi-Table JOINs</a:t>
            </a:r>
            <a:endParaRPr lang="en-US" sz="1200" dirty="0"/>
          </a:p>
        </p:txBody>
      </p:sp>
      <p:sp>
        <p:nvSpPr>
          <p:cNvPr id="11" name="Text 9"/>
          <p:cNvSpPr/>
          <p:nvPr/>
        </p:nvSpPr>
        <p:spPr>
          <a:xfrm>
            <a:off x="411480" y="1152144"/>
            <a:ext cx="2743200" cy="50292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Integrated customer, order, and restaurant data to generate cross-functional business insights.</a:t>
            </a:r>
            <a:endParaRPr lang="en-US" sz="950" dirty="0"/>
          </a:p>
        </p:txBody>
      </p:sp>
      <p:sp>
        <p:nvSpPr>
          <p:cNvPr id="13" name="Text 11"/>
          <p:cNvSpPr/>
          <p:nvPr/>
        </p:nvSpPr>
        <p:spPr>
          <a:xfrm>
            <a:off x="3154680" y="1005840"/>
            <a:ext cx="1828800" cy="1024128"/>
          </a:xfrm>
          <a:prstGeom prst="rect">
            <a:avLst/>
          </a:prstGeom>
          <a:noFill/>
          <a:ln/>
        </p:spPr>
        <p:txBody>
          <a:bodyPr wrap="square" lIns="0" tIns="0" rIns="0" bIns="0" rtlCol="0" anchor="ctr"/>
          <a:lstStyle/>
          <a:p>
            <a:pPr marL="0" indent="0">
              <a:buNone/>
            </a:pPr>
            <a:endParaRPr lang="en-US" sz="750" dirty="0"/>
          </a:p>
        </p:txBody>
      </p:sp>
      <p:sp>
        <p:nvSpPr>
          <p:cNvPr id="14" name="Shape 12"/>
          <p:cNvSpPr/>
          <p:nvPr/>
        </p:nvSpPr>
        <p:spPr>
          <a:xfrm>
            <a:off x="228600" y="2221992"/>
            <a:ext cx="5120640" cy="1298448"/>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5" name="Shape 13"/>
          <p:cNvSpPr/>
          <p:nvPr/>
        </p:nvSpPr>
        <p:spPr>
          <a:xfrm>
            <a:off x="228600" y="2221992"/>
            <a:ext cx="73152" cy="1298448"/>
          </a:xfrm>
          <a:prstGeom prst="rect">
            <a:avLst/>
          </a:prstGeom>
          <a:solidFill>
            <a:srgbClr val="0891B2"/>
          </a:solidFill>
          <a:ln/>
        </p:spPr>
      </p:sp>
      <p:sp>
        <p:nvSpPr>
          <p:cNvPr id="16" name="Text 14"/>
          <p:cNvSpPr/>
          <p:nvPr/>
        </p:nvSpPr>
        <p:spPr>
          <a:xfrm>
            <a:off x="411480" y="2295144"/>
            <a:ext cx="2743200" cy="274320"/>
          </a:xfrm>
          <a:prstGeom prst="rect">
            <a:avLst/>
          </a:prstGeom>
          <a:noFill/>
          <a:ln/>
        </p:spPr>
        <p:txBody>
          <a:bodyPr wrap="square" lIns="0" tIns="0" rIns="0" bIns="0" rtlCol="0" anchor="ctr"/>
          <a:lstStyle/>
          <a:p>
            <a:pPr marL="0" indent="0">
              <a:buNone/>
            </a:pPr>
            <a:r>
              <a:rPr lang="en-US" sz="1200" b="1" dirty="0">
                <a:solidFill>
                  <a:srgbClr val="0891B2"/>
                </a:solidFill>
                <a:latin typeface="Calibri" pitchFamily="34" charset="0"/>
                <a:ea typeface="Calibri" pitchFamily="34" charset="-122"/>
                <a:cs typeface="Calibri" pitchFamily="34" charset="-120"/>
              </a:rPr>
              <a:t>Window Functions</a:t>
            </a:r>
            <a:endParaRPr lang="en-US" sz="1200" dirty="0"/>
          </a:p>
        </p:txBody>
      </p:sp>
      <p:sp>
        <p:nvSpPr>
          <p:cNvPr id="17" name="Text 15"/>
          <p:cNvSpPr/>
          <p:nvPr/>
        </p:nvSpPr>
        <p:spPr>
          <a:xfrm>
            <a:off x="411480" y="2569464"/>
            <a:ext cx="2743200" cy="50292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Use ROW_NUMBER() and RANK() to identify top-performing restaurants within each city.</a:t>
            </a:r>
            <a:endParaRPr lang="en-US" sz="950" dirty="0"/>
          </a:p>
        </p:txBody>
      </p:sp>
      <p:sp>
        <p:nvSpPr>
          <p:cNvPr id="19" name="Text 17"/>
          <p:cNvSpPr/>
          <p:nvPr/>
        </p:nvSpPr>
        <p:spPr>
          <a:xfrm>
            <a:off x="3337560" y="2350008"/>
            <a:ext cx="1828800" cy="1024128"/>
          </a:xfrm>
          <a:prstGeom prst="rect">
            <a:avLst/>
          </a:prstGeom>
          <a:noFill/>
          <a:ln/>
        </p:spPr>
        <p:txBody>
          <a:bodyPr wrap="square" lIns="0" tIns="0" rIns="0" bIns="0" rtlCol="0" anchor="ctr"/>
          <a:lstStyle/>
          <a:p>
            <a:pPr marL="0" indent="0">
              <a:buNone/>
            </a:pPr>
            <a:endParaRPr lang="en-US" sz="750" dirty="0"/>
          </a:p>
        </p:txBody>
      </p:sp>
      <p:sp>
        <p:nvSpPr>
          <p:cNvPr id="20" name="Shape 18"/>
          <p:cNvSpPr/>
          <p:nvPr/>
        </p:nvSpPr>
        <p:spPr>
          <a:xfrm>
            <a:off x="228600" y="3639312"/>
            <a:ext cx="5120640" cy="1298448"/>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21" name="Shape 19"/>
          <p:cNvSpPr/>
          <p:nvPr/>
        </p:nvSpPr>
        <p:spPr>
          <a:xfrm>
            <a:off x="228600" y="3639312"/>
            <a:ext cx="73152" cy="1298448"/>
          </a:xfrm>
          <a:prstGeom prst="rect">
            <a:avLst/>
          </a:prstGeom>
          <a:solidFill>
            <a:srgbClr val="10B981"/>
          </a:solidFill>
          <a:ln/>
        </p:spPr>
      </p:sp>
      <p:sp>
        <p:nvSpPr>
          <p:cNvPr id="22" name="Text 20"/>
          <p:cNvSpPr/>
          <p:nvPr/>
        </p:nvSpPr>
        <p:spPr>
          <a:xfrm>
            <a:off x="411480" y="3712464"/>
            <a:ext cx="2743200" cy="274320"/>
          </a:xfrm>
          <a:prstGeom prst="rect">
            <a:avLst/>
          </a:prstGeom>
          <a:noFill/>
          <a:ln/>
        </p:spPr>
        <p:txBody>
          <a:bodyPr wrap="square" lIns="0" tIns="0" rIns="0" bIns="0" rtlCol="0" anchor="ctr"/>
          <a:lstStyle/>
          <a:p>
            <a:pPr marL="0" indent="0">
              <a:buNone/>
            </a:pPr>
            <a:r>
              <a:rPr lang="en-US" sz="1200" b="1" dirty="0">
                <a:solidFill>
                  <a:srgbClr val="10B981"/>
                </a:solidFill>
                <a:latin typeface="Calibri" pitchFamily="34" charset="0"/>
                <a:ea typeface="Calibri" pitchFamily="34" charset="-122"/>
                <a:cs typeface="Calibri" pitchFamily="34" charset="-120"/>
              </a:rPr>
              <a:t>KPI Analytics &amp; Aggregation</a:t>
            </a:r>
            <a:endParaRPr lang="en-US" sz="1200" dirty="0"/>
          </a:p>
        </p:txBody>
      </p:sp>
      <p:sp>
        <p:nvSpPr>
          <p:cNvPr id="23" name="Text 21"/>
          <p:cNvSpPr/>
          <p:nvPr/>
        </p:nvSpPr>
        <p:spPr>
          <a:xfrm>
            <a:off x="411480" y="3986784"/>
            <a:ext cx="2743200" cy="50292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Generated business KPIs including Total Revenue, Avg Order Value, Customer Lifetime Value, and Delivery Efficiency Score.</a:t>
            </a:r>
            <a:endParaRPr lang="en-US" sz="950" dirty="0"/>
          </a:p>
        </p:txBody>
      </p:sp>
      <p:sp>
        <p:nvSpPr>
          <p:cNvPr id="25" name="Text 23"/>
          <p:cNvSpPr/>
          <p:nvPr/>
        </p:nvSpPr>
        <p:spPr>
          <a:xfrm>
            <a:off x="3337560" y="3767328"/>
            <a:ext cx="1828800" cy="1024128"/>
          </a:xfrm>
          <a:prstGeom prst="rect">
            <a:avLst/>
          </a:prstGeom>
          <a:noFill/>
          <a:ln/>
        </p:spPr>
        <p:txBody>
          <a:bodyPr wrap="square" lIns="0" tIns="0" rIns="0" bIns="0" rtlCol="0" anchor="ctr"/>
          <a:lstStyle/>
          <a:p>
            <a:pPr marL="0" indent="0">
              <a:buNone/>
            </a:pPr>
            <a:endParaRPr lang="en-US" sz="750" dirty="0"/>
          </a:p>
        </p:txBody>
      </p:sp>
      <p:sp>
        <p:nvSpPr>
          <p:cNvPr id="26" name="Text 24"/>
          <p:cNvSpPr/>
          <p:nvPr/>
        </p:nvSpPr>
        <p:spPr>
          <a:xfrm>
            <a:off x="5623560" y="804672"/>
            <a:ext cx="3291840" cy="274320"/>
          </a:xfrm>
          <a:prstGeom prst="rect">
            <a:avLst/>
          </a:prstGeom>
          <a:noFill/>
          <a:ln/>
        </p:spPr>
        <p:txBody>
          <a:bodyPr wrap="square" lIns="0" tIns="0" rIns="0" bIns="0" rtlCol="0" anchor="ctr"/>
          <a:lstStyle/>
          <a:p>
            <a:pPr marL="0" indent="0">
              <a:buNone/>
            </a:pPr>
            <a:r>
              <a:rPr lang="en-US" sz="1100" b="1" kern="0" spc="100" dirty="0">
                <a:solidFill>
                  <a:srgbClr val="E23744"/>
                </a:solidFill>
                <a:latin typeface="Calibri" pitchFamily="34" charset="0"/>
                <a:ea typeface="Calibri" pitchFamily="34" charset="-122"/>
                <a:cs typeface="Calibri" pitchFamily="34" charset="-120"/>
              </a:rPr>
              <a:t>BUSINESS KPIs GENERATED</a:t>
            </a:r>
            <a:endParaRPr lang="en-US" sz="1100" dirty="0"/>
          </a:p>
        </p:txBody>
      </p:sp>
      <p:sp>
        <p:nvSpPr>
          <p:cNvPr id="27" name="Shape 25"/>
          <p:cNvSpPr/>
          <p:nvPr/>
        </p:nvSpPr>
        <p:spPr>
          <a:xfrm>
            <a:off x="5623560" y="1170432"/>
            <a:ext cx="1600200" cy="749808"/>
          </a:xfrm>
          <a:prstGeom prst="rect">
            <a:avLst/>
          </a:prstGeom>
          <a:solidFill>
            <a:srgbClr val="F1F5F9"/>
          </a:solidFill>
          <a:ln w="12700">
            <a:solidFill>
              <a:srgbClr val="E2E8F0"/>
            </a:solidFill>
            <a:prstDash val="solid"/>
          </a:ln>
        </p:spPr>
      </p:sp>
      <p:sp>
        <p:nvSpPr>
          <p:cNvPr id="28" name="Shape 26"/>
          <p:cNvSpPr/>
          <p:nvPr/>
        </p:nvSpPr>
        <p:spPr>
          <a:xfrm>
            <a:off x="5623560" y="1170432"/>
            <a:ext cx="1600200" cy="54864"/>
          </a:xfrm>
          <a:prstGeom prst="rect">
            <a:avLst/>
          </a:prstGeom>
          <a:solidFill>
            <a:srgbClr val="E23744"/>
          </a:solidFill>
          <a:ln/>
        </p:spPr>
      </p:sp>
      <p:sp>
        <p:nvSpPr>
          <p:cNvPr id="29" name="Text 27"/>
          <p:cNvSpPr/>
          <p:nvPr/>
        </p:nvSpPr>
        <p:spPr>
          <a:xfrm>
            <a:off x="5696712" y="1261872"/>
            <a:ext cx="457200" cy="411480"/>
          </a:xfrm>
          <a:prstGeom prst="rect">
            <a:avLst/>
          </a:prstGeom>
          <a:noFill/>
          <a:ln/>
        </p:spPr>
        <p:txBody>
          <a:bodyPr wrap="square" lIns="0" tIns="0" rIns="0" bIns="0"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30" name="Text 28"/>
          <p:cNvSpPr/>
          <p:nvPr/>
        </p:nvSpPr>
        <p:spPr>
          <a:xfrm>
            <a:off x="5696712" y="1645920"/>
            <a:ext cx="1463040" cy="237744"/>
          </a:xfrm>
          <a:prstGeom prst="rect">
            <a:avLst/>
          </a:prstGeom>
          <a:noFill/>
          <a:ln/>
        </p:spPr>
        <p:txBody>
          <a:bodyPr wrap="square" lIns="0" tIns="0" rIns="0" bIns="0" rtlCol="0" anchor="ctr"/>
          <a:lstStyle/>
          <a:p>
            <a:pPr marL="0" indent="0">
              <a:buNone/>
            </a:pPr>
            <a:r>
              <a:rPr lang="en-US" sz="850" b="1" dirty="0">
                <a:solidFill>
                  <a:srgbClr val="1E293B"/>
                </a:solidFill>
                <a:latin typeface="Calibri" pitchFamily="34" charset="0"/>
                <a:ea typeface="Calibri" pitchFamily="34" charset="-122"/>
                <a:cs typeface="Calibri" pitchFamily="34" charset="-120"/>
              </a:rPr>
              <a:t>Total Revenue</a:t>
            </a:r>
            <a:endParaRPr lang="en-US" sz="850" dirty="0"/>
          </a:p>
        </p:txBody>
      </p:sp>
      <p:sp>
        <p:nvSpPr>
          <p:cNvPr id="31" name="Shape 29"/>
          <p:cNvSpPr/>
          <p:nvPr/>
        </p:nvSpPr>
        <p:spPr>
          <a:xfrm>
            <a:off x="7315200" y="1170432"/>
            <a:ext cx="1600200" cy="749808"/>
          </a:xfrm>
          <a:prstGeom prst="rect">
            <a:avLst/>
          </a:prstGeom>
          <a:solidFill>
            <a:srgbClr val="F1F5F9"/>
          </a:solidFill>
          <a:ln w="12700">
            <a:solidFill>
              <a:srgbClr val="E2E8F0"/>
            </a:solidFill>
            <a:prstDash val="solid"/>
          </a:ln>
        </p:spPr>
      </p:sp>
      <p:sp>
        <p:nvSpPr>
          <p:cNvPr id="32" name="Shape 30"/>
          <p:cNvSpPr/>
          <p:nvPr/>
        </p:nvSpPr>
        <p:spPr>
          <a:xfrm>
            <a:off x="7315200" y="1170432"/>
            <a:ext cx="1600200" cy="54864"/>
          </a:xfrm>
          <a:prstGeom prst="rect">
            <a:avLst/>
          </a:prstGeom>
          <a:solidFill>
            <a:srgbClr val="0891B2"/>
          </a:solidFill>
          <a:ln/>
        </p:spPr>
      </p:sp>
      <p:sp>
        <p:nvSpPr>
          <p:cNvPr id="33" name="Text 31"/>
          <p:cNvSpPr/>
          <p:nvPr/>
        </p:nvSpPr>
        <p:spPr>
          <a:xfrm>
            <a:off x="7388352" y="1261872"/>
            <a:ext cx="457200" cy="411480"/>
          </a:xfrm>
          <a:prstGeom prst="rect">
            <a:avLst/>
          </a:prstGeom>
          <a:noFill/>
          <a:ln/>
        </p:spPr>
        <p:txBody>
          <a:bodyPr wrap="square" lIns="0" tIns="0" rIns="0" bIns="0"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34" name="Text 32"/>
          <p:cNvSpPr/>
          <p:nvPr/>
        </p:nvSpPr>
        <p:spPr>
          <a:xfrm>
            <a:off x="7388352" y="1645920"/>
            <a:ext cx="1463040" cy="237744"/>
          </a:xfrm>
          <a:prstGeom prst="rect">
            <a:avLst/>
          </a:prstGeom>
          <a:noFill/>
          <a:ln/>
        </p:spPr>
        <p:txBody>
          <a:bodyPr wrap="square" lIns="0" tIns="0" rIns="0" bIns="0" rtlCol="0" anchor="ctr"/>
          <a:lstStyle/>
          <a:p>
            <a:pPr marL="0" indent="0">
              <a:buNone/>
            </a:pPr>
            <a:r>
              <a:rPr lang="en-US" sz="850" b="1" dirty="0">
                <a:solidFill>
                  <a:srgbClr val="1E293B"/>
                </a:solidFill>
                <a:latin typeface="Calibri" pitchFamily="34" charset="0"/>
                <a:ea typeface="Calibri" pitchFamily="34" charset="-122"/>
                <a:cs typeface="Calibri" pitchFamily="34" charset="-120"/>
              </a:rPr>
              <a:t>Avg Order Value</a:t>
            </a:r>
            <a:endParaRPr lang="en-US" sz="850" dirty="0"/>
          </a:p>
        </p:txBody>
      </p:sp>
      <p:sp>
        <p:nvSpPr>
          <p:cNvPr id="35" name="Shape 33"/>
          <p:cNvSpPr/>
          <p:nvPr/>
        </p:nvSpPr>
        <p:spPr>
          <a:xfrm>
            <a:off x="5623560" y="2066544"/>
            <a:ext cx="1600200" cy="749808"/>
          </a:xfrm>
          <a:prstGeom prst="rect">
            <a:avLst/>
          </a:prstGeom>
          <a:solidFill>
            <a:srgbClr val="F1F5F9"/>
          </a:solidFill>
          <a:ln w="12700">
            <a:solidFill>
              <a:srgbClr val="E2E8F0"/>
            </a:solidFill>
            <a:prstDash val="solid"/>
          </a:ln>
        </p:spPr>
      </p:sp>
      <p:sp>
        <p:nvSpPr>
          <p:cNvPr id="36" name="Shape 34"/>
          <p:cNvSpPr/>
          <p:nvPr/>
        </p:nvSpPr>
        <p:spPr>
          <a:xfrm>
            <a:off x="5623560" y="2066544"/>
            <a:ext cx="1600200" cy="54864"/>
          </a:xfrm>
          <a:prstGeom prst="rect">
            <a:avLst/>
          </a:prstGeom>
          <a:solidFill>
            <a:srgbClr val="10B981"/>
          </a:solidFill>
          <a:ln/>
        </p:spPr>
      </p:sp>
      <p:sp>
        <p:nvSpPr>
          <p:cNvPr id="37" name="Text 35"/>
          <p:cNvSpPr/>
          <p:nvPr/>
        </p:nvSpPr>
        <p:spPr>
          <a:xfrm>
            <a:off x="5696712" y="2157984"/>
            <a:ext cx="457200" cy="411480"/>
          </a:xfrm>
          <a:prstGeom prst="rect">
            <a:avLst/>
          </a:prstGeom>
          <a:noFill/>
          <a:ln/>
        </p:spPr>
        <p:txBody>
          <a:bodyPr wrap="square" lIns="0" tIns="0" rIns="0" bIns="0"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38" name="Text 36"/>
          <p:cNvSpPr/>
          <p:nvPr/>
        </p:nvSpPr>
        <p:spPr>
          <a:xfrm>
            <a:off x="5696712" y="2542032"/>
            <a:ext cx="1463040" cy="237744"/>
          </a:xfrm>
          <a:prstGeom prst="rect">
            <a:avLst/>
          </a:prstGeom>
          <a:noFill/>
          <a:ln/>
        </p:spPr>
        <p:txBody>
          <a:bodyPr wrap="square" lIns="0" tIns="0" rIns="0" bIns="0" rtlCol="0" anchor="ctr"/>
          <a:lstStyle/>
          <a:p>
            <a:pPr marL="0" indent="0">
              <a:buNone/>
            </a:pPr>
            <a:r>
              <a:rPr lang="en-US" sz="850" b="1" dirty="0">
                <a:solidFill>
                  <a:srgbClr val="1E293B"/>
                </a:solidFill>
                <a:latin typeface="Calibri" pitchFamily="34" charset="0"/>
                <a:ea typeface="Calibri" pitchFamily="34" charset="-122"/>
                <a:cs typeface="Calibri" pitchFamily="34" charset="-120"/>
              </a:rPr>
              <a:t>Customer LTV</a:t>
            </a:r>
            <a:endParaRPr lang="en-US" sz="850" dirty="0"/>
          </a:p>
        </p:txBody>
      </p:sp>
      <p:sp>
        <p:nvSpPr>
          <p:cNvPr id="39" name="Shape 37"/>
          <p:cNvSpPr/>
          <p:nvPr/>
        </p:nvSpPr>
        <p:spPr>
          <a:xfrm>
            <a:off x="7315200" y="2066544"/>
            <a:ext cx="1600200" cy="749808"/>
          </a:xfrm>
          <a:prstGeom prst="rect">
            <a:avLst/>
          </a:prstGeom>
          <a:solidFill>
            <a:srgbClr val="F1F5F9"/>
          </a:solidFill>
          <a:ln w="12700">
            <a:solidFill>
              <a:srgbClr val="E2E8F0"/>
            </a:solidFill>
            <a:prstDash val="solid"/>
          </a:ln>
        </p:spPr>
      </p:sp>
      <p:sp>
        <p:nvSpPr>
          <p:cNvPr id="40" name="Shape 38"/>
          <p:cNvSpPr/>
          <p:nvPr/>
        </p:nvSpPr>
        <p:spPr>
          <a:xfrm>
            <a:off x="7315200" y="2066544"/>
            <a:ext cx="1600200" cy="54864"/>
          </a:xfrm>
          <a:prstGeom prst="rect">
            <a:avLst/>
          </a:prstGeom>
          <a:solidFill>
            <a:srgbClr val="F97316"/>
          </a:solidFill>
          <a:ln/>
        </p:spPr>
      </p:sp>
      <p:sp>
        <p:nvSpPr>
          <p:cNvPr id="41" name="Text 39"/>
          <p:cNvSpPr/>
          <p:nvPr/>
        </p:nvSpPr>
        <p:spPr>
          <a:xfrm>
            <a:off x="7388352" y="2157984"/>
            <a:ext cx="457200" cy="411480"/>
          </a:xfrm>
          <a:prstGeom prst="rect">
            <a:avLst/>
          </a:prstGeom>
          <a:noFill/>
          <a:ln/>
        </p:spPr>
        <p:txBody>
          <a:bodyPr wrap="square" lIns="0" tIns="0" rIns="0" bIns="0"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42" name="Text 40"/>
          <p:cNvSpPr/>
          <p:nvPr/>
        </p:nvSpPr>
        <p:spPr>
          <a:xfrm>
            <a:off x="7388352" y="2542032"/>
            <a:ext cx="1463040" cy="237744"/>
          </a:xfrm>
          <a:prstGeom prst="rect">
            <a:avLst/>
          </a:prstGeom>
          <a:noFill/>
          <a:ln/>
        </p:spPr>
        <p:txBody>
          <a:bodyPr wrap="square" lIns="0" tIns="0" rIns="0" bIns="0" rtlCol="0" anchor="ctr"/>
          <a:lstStyle/>
          <a:p>
            <a:pPr marL="0" indent="0">
              <a:buNone/>
            </a:pPr>
            <a:r>
              <a:rPr lang="en-US" sz="850" b="1" dirty="0">
                <a:solidFill>
                  <a:srgbClr val="1E293B"/>
                </a:solidFill>
                <a:latin typeface="Calibri" pitchFamily="34" charset="0"/>
                <a:ea typeface="Calibri" pitchFamily="34" charset="-122"/>
                <a:cs typeface="Calibri" pitchFamily="34" charset="-120"/>
              </a:rPr>
              <a:t>Top City by Orders</a:t>
            </a:r>
            <a:endParaRPr lang="en-US" sz="850" dirty="0"/>
          </a:p>
        </p:txBody>
      </p:sp>
      <p:sp>
        <p:nvSpPr>
          <p:cNvPr id="43" name="Shape 41"/>
          <p:cNvSpPr/>
          <p:nvPr/>
        </p:nvSpPr>
        <p:spPr>
          <a:xfrm>
            <a:off x="5623560" y="2962656"/>
            <a:ext cx="1600200" cy="749808"/>
          </a:xfrm>
          <a:prstGeom prst="rect">
            <a:avLst/>
          </a:prstGeom>
          <a:solidFill>
            <a:srgbClr val="F1F5F9"/>
          </a:solidFill>
          <a:ln w="12700">
            <a:solidFill>
              <a:srgbClr val="E2E8F0"/>
            </a:solidFill>
            <a:prstDash val="solid"/>
          </a:ln>
        </p:spPr>
      </p:sp>
      <p:sp>
        <p:nvSpPr>
          <p:cNvPr id="44" name="Shape 42"/>
          <p:cNvSpPr/>
          <p:nvPr/>
        </p:nvSpPr>
        <p:spPr>
          <a:xfrm>
            <a:off x="5623560" y="2962656"/>
            <a:ext cx="1600200" cy="54864"/>
          </a:xfrm>
          <a:prstGeom prst="rect">
            <a:avLst/>
          </a:prstGeom>
          <a:solidFill>
            <a:srgbClr val="6366F1"/>
          </a:solidFill>
          <a:ln/>
        </p:spPr>
      </p:sp>
      <p:sp>
        <p:nvSpPr>
          <p:cNvPr id="45" name="Text 43"/>
          <p:cNvSpPr/>
          <p:nvPr/>
        </p:nvSpPr>
        <p:spPr>
          <a:xfrm>
            <a:off x="5696712" y="3054096"/>
            <a:ext cx="457200" cy="411480"/>
          </a:xfrm>
          <a:prstGeom prst="rect">
            <a:avLst/>
          </a:prstGeom>
          <a:noFill/>
          <a:ln/>
        </p:spPr>
        <p:txBody>
          <a:bodyPr wrap="square" lIns="0" tIns="0" rIns="0" bIns="0"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46" name="Text 44"/>
          <p:cNvSpPr/>
          <p:nvPr/>
        </p:nvSpPr>
        <p:spPr>
          <a:xfrm>
            <a:off x="5696712" y="3438144"/>
            <a:ext cx="1463040" cy="237744"/>
          </a:xfrm>
          <a:prstGeom prst="rect">
            <a:avLst/>
          </a:prstGeom>
          <a:noFill/>
          <a:ln/>
        </p:spPr>
        <p:txBody>
          <a:bodyPr wrap="square" lIns="0" tIns="0" rIns="0" bIns="0" rtlCol="0" anchor="ctr"/>
          <a:lstStyle/>
          <a:p>
            <a:pPr marL="0" indent="0">
              <a:buNone/>
            </a:pPr>
            <a:r>
              <a:rPr lang="en-US" sz="850" b="1" dirty="0">
                <a:solidFill>
                  <a:srgbClr val="1E293B"/>
                </a:solidFill>
                <a:latin typeface="Calibri" pitchFamily="34" charset="0"/>
                <a:ea typeface="Calibri" pitchFamily="34" charset="-122"/>
                <a:cs typeface="Calibri" pitchFamily="34" charset="-120"/>
              </a:rPr>
              <a:t>Avg Delivery Time</a:t>
            </a:r>
            <a:endParaRPr lang="en-US" sz="850" dirty="0"/>
          </a:p>
        </p:txBody>
      </p:sp>
      <p:sp>
        <p:nvSpPr>
          <p:cNvPr id="47" name="Shape 45"/>
          <p:cNvSpPr/>
          <p:nvPr/>
        </p:nvSpPr>
        <p:spPr>
          <a:xfrm>
            <a:off x="7315200" y="2962656"/>
            <a:ext cx="1600200" cy="749808"/>
          </a:xfrm>
          <a:prstGeom prst="rect">
            <a:avLst/>
          </a:prstGeom>
          <a:solidFill>
            <a:srgbClr val="F1F5F9"/>
          </a:solidFill>
          <a:ln w="12700">
            <a:solidFill>
              <a:srgbClr val="E2E8F0"/>
            </a:solidFill>
            <a:prstDash val="solid"/>
          </a:ln>
        </p:spPr>
      </p:sp>
      <p:sp>
        <p:nvSpPr>
          <p:cNvPr id="48" name="Shape 46"/>
          <p:cNvSpPr/>
          <p:nvPr/>
        </p:nvSpPr>
        <p:spPr>
          <a:xfrm>
            <a:off x="7315200" y="2962656"/>
            <a:ext cx="1600200" cy="54864"/>
          </a:xfrm>
          <a:prstGeom prst="rect">
            <a:avLst/>
          </a:prstGeom>
          <a:solidFill>
            <a:srgbClr val="EC4899"/>
          </a:solidFill>
          <a:ln/>
        </p:spPr>
      </p:sp>
      <p:sp>
        <p:nvSpPr>
          <p:cNvPr id="49" name="Text 47"/>
          <p:cNvSpPr/>
          <p:nvPr/>
        </p:nvSpPr>
        <p:spPr>
          <a:xfrm>
            <a:off x="7388352" y="3054096"/>
            <a:ext cx="457200" cy="411480"/>
          </a:xfrm>
          <a:prstGeom prst="rect">
            <a:avLst/>
          </a:prstGeom>
          <a:noFill/>
          <a:ln/>
        </p:spPr>
        <p:txBody>
          <a:bodyPr wrap="square" lIns="0" tIns="0" rIns="0" bIns="0"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50" name="Text 48"/>
          <p:cNvSpPr/>
          <p:nvPr/>
        </p:nvSpPr>
        <p:spPr>
          <a:xfrm>
            <a:off x="7388352" y="3438144"/>
            <a:ext cx="1463040" cy="237744"/>
          </a:xfrm>
          <a:prstGeom prst="rect">
            <a:avLst/>
          </a:prstGeom>
          <a:noFill/>
          <a:ln/>
        </p:spPr>
        <p:txBody>
          <a:bodyPr wrap="square" lIns="0" tIns="0" rIns="0" bIns="0" rtlCol="0" anchor="ctr"/>
          <a:lstStyle/>
          <a:p>
            <a:pPr marL="0" indent="0">
              <a:buNone/>
            </a:pPr>
            <a:r>
              <a:rPr lang="en-US" sz="850" b="1" dirty="0">
                <a:solidFill>
                  <a:srgbClr val="1E293B"/>
                </a:solidFill>
                <a:latin typeface="Calibri" pitchFamily="34" charset="0"/>
                <a:ea typeface="Calibri" pitchFamily="34" charset="-122"/>
                <a:cs typeface="Calibri" pitchFamily="34" charset="-120"/>
              </a:rPr>
              <a:t>Top Cuisine by Revenue</a:t>
            </a:r>
            <a:endParaRPr lang="en-US" sz="850" dirty="0"/>
          </a:p>
        </p:txBody>
      </p:sp>
      <p:sp>
        <p:nvSpPr>
          <p:cNvPr id="51" name="Shape 49"/>
          <p:cNvSpPr/>
          <p:nvPr/>
        </p:nvSpPr>
        <p:spPr>
          <a:xfrm>
            <a:off x="5623560" y="3858768"/>
            <a:ext cx="1600200" cy="749808"/>
          </a:xfrm>
          <a:prstGeom prst="rect">
            <a:avLst/>
          </a:prstGeom>
          <a:solidFill>
            <a:srgbClr val="F1F5F9"/>
          </a:solidFill>
          <a:ln w="12700">
            <a:solidFill>
              <a:srgbClr val="E2E8F0"/>
            </a:solidFill>
            <a:prstDash val="solid"/>
          </a:ln>
        </p:spPr>
      </p:sp>
      <p:sp>
        <p:nvSpPr>
          <p:cNvPr id="52" name="Shape 50"/>
          <p:cNvSpPr/>
          <p:nvPr/>
        </p:nvSpPr>
        <p:spPr>
          <a:xfrm>
            <a:off x="5623560" y="3858768"/>
            <a:ext cx="1600200" cy="54864"/>
          </a:xfrm>
          <a:prstGeom prst="rect">
            <a:avLst/>
          </a:prstGeom>
          <a:solidFill>
            <a:srgbClr val="E23744"/>
          </a:solidFill>
          <a:ln/>
        </p:spPr>
      </p:sp>
      <p:sp>
        <p:nvSpPr>
          <p:cNvPr id="53" name="Text 51"/>
          <p:cNvSpPr/>
          <p:nvPr/>
        </p:nvSpPr>
        <p:spPr>
          <a:xfrm>
            <a:off x="5696712" y="3950208"/>
            <a:ext cx="457200" cy="411480"/>
          </a:xfrm>
          <a:prstGeom prst="rect">
            <a:avLst/>
          </a:prstGeom>
          <a:noFill/>
          <a:ln/>
        </p:spPr>
        <p:txBody>
          <a:bodyPr wrap="square" lIns="0" tIns="0" rIns="0" bIns="0"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54" name="Text 52"/>
          <p:cNvSpPr/>
          <p:nvPr/>
        </p:nvSpPr>
        <p:spPr>
          <a:xfrm>
            <a:off x="5696712" y="4334256"/>
            <a:ext cx="1463040" cy="237744"/>
          </a:xfrm>
          <a:prstGeom prst="rect">
            <a:avLst/>
          </a:prstGeom>
          <a:noFill/>
          <a:ln/>
        </p:spPr>
        <p:txBody>
          <a:bodyPr wrap="square" lIns="0" tIns="0" rIns="0" bIns="0" rtlCol="0" anchor="ctr"/>
          <a:lstStyle/>
          <a:p>
            <a:pPr marL="0" indent="0">
              <a:buNone/>
            </a:pPr>
            <a:r>
              <a:rPr lang="en-US" sz="850" b="1" dirty="0">
                <a:solidFill>
                  <a:srgbClr val="1E293B"/>
                </a:solidFill>
                <a:latin typeface="Calibri" pitchFamily="34" charset="0"/>
                <a:ea typeface="Calibri" pitchFamily="34" charset="-122"/>
                <a:cs typeface="Calibri" pitchFamily="34" charset="-120"/>
              </a:rPr>
              <a:t>Restaurant Rating Avg</a:t>
            </a:r>
            <a:endParaRPr lang="en-US" sz="850" dirty="0"/>
          </a:p>
        </p:txBody>
      </p:sp>
      <p:sp>
        <p:nvSpPr>
          <p:cNvPr id="55" name="Shape 53"/>
          <p:cNvSpPr/>
          <p:nvPr/>
        </p:nvSpPr>
        <p:spPr>
          <a:xfrm>
            <a:off x="7315200" y="3858768"/>
            <a:ext cx="1600200" cy="749808"/>
          </a:xfrm>
          <a:prstGeom prst="rect">
            <a:avLst/>
          </a:prstGeom>
          <a:solidFill>
            <a:srgbClr val="F1F5F9"/>
          </a:solidFill>
          <a:ln w="12700">
            <a:solidFill>
              <a:srgbClr val="E2E8F0"/>
            </a:solidFill>
            <a:prstDash val="solid"/>
          </a:ln>
        </p:spPr>
      </p:sp>
      <p:sp>
        <p:nvSpPr>
          <p:cNvPr id="56" name="Shape 54"/>
          <p:cNvSpPr/>
          <p:nvPr/>
        </p:nvSpPr>
        <p:spPr>
          <a:xfrm>
            <a:off x="7315200" y="3858768"/>
            <a:ext cx="1600200" cy="54864"/>
          </a:xfrm>
          <a:prstGeom prst="rect">
            <a:avLst/>
          </a:prstGeom>
          <a:solidFill>
            <a:srgbClr val="0891B2"/>
          </a:solidFill>
          <a:ln/>
        </p:spPr>
      </p:sp>
      <p:sp>
        <p:nvSpPr>
          <p:cNvPr id="57" name="Text 55"/>
          <p:cNvSpPr/>
          <p:nvPr/>
        </p:nvSpPr>
        <p:spPr>
          <a:xfrm>
            <a:off x="7388352" y="3950208"/>
            <a:ext cx="457200" cy="411480"/>
          </a:xfrm>
          <a:prstGeom prst="rect">
            <a:avLst/>
          </a:prstGeom>
          <a:noFill/>
          <a:ln/>
        </p:spPr>
        <p:txBody>
          <a:bodyPr wrap="square" lIns="0" tIns="0" rIns="0" bIns="0" rtlCol="0" anchor="ctr"/>
          <a:lstStyle/>
          <a:p>
            <a:pPr marL="0" indent="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58" name="Text 56"/>
          <p:cNvSpPr/>
          <p:nvPr/>
        </p:nvSpPr>
        <p:spPr>
          <a:xfrm>
            <a:off x="7388352" y="4334256"/>
            <a:ext cx="1463040" cy="237744"/>
          </a:xfrm>
          <a:prstGeom prst="rect">
            <a:avLst/>
          </a:prstGeom>
          <a:noFill/>
          <a:ln/>
        </p:spPr>
        <p:txBody>
          <a:bodyPr wrap="square" lIns="0" tIns="0" rIns="0" bIns="0" rtlCol="0" anchor="ctr"/>
          <a:lstStyle/>
          <a:p>
            <a:pPr marL="0" indent="0">
              <a:buNone/>
            </a:pPr>
            <a:r>
              <a:rPr lang="en-US" sz="850" b="1" dirty="0">
                <a:solidFill>
                  <a:srgbClr val="1E293B"/>
                </a:solidFill>
                <a:latin typeface="Calibri" pitchFamily="34" charset="0"/>
                <a:ea typeface="Calibri" pitchFamily="34" charset="-122"/>
                <a:cs typeface="Calibri" pitchFamily="34" charset="-120"/>
              </a:rPr>
              <a:t>Traffic Impact Score</a:t>
            </a:r>
            <a:endParaRPr lang="en-US" sz="850" dirty="0"/>
          </a:p>
        </p:txBody>
      </p:sp>
      <p:pic>
        <p:nvPicPr>
          <p:cNvPr id="61" name="Picture 60">
            <a:extLst>
              <a:ext uri="{FF2B5EF4-FFF2-40B4-BE49-F238E27FC236}">
                <a16:creationId xmlns:a16="http://schemas.microsoft.com/office/drawing/2014/main" id="{2F2DE55A-6533-6E4B-C878-69653A2286E9}"/>
              </a:ext>
            </a:extLst>
          </p:cNvPr>
          <p:cNvPicPr>
            <a:picLocks noChangeAspect="1"/>
          </p:cNvPicPr>
          <p:nvPr/>
        </p:nvPicPr>
        <p:blipFill>
          <a:blip r:embed="rId3"/>
          <a:stretch>
            <a:fillRect/>
          </a:stretch>
        </p:blipFill>
        <p:spPr>
          <a:xfrm>
            <a:off x="3066757" y="862509"/>
            <a:ext cx="2181518" cy="1182773"/>
          </a:xfrm>
          <a:prstGeom prst="rect">
            <a:avLst/>
          </a:prstGeom>
          <a:ln>
            <a:solidFill>
              <a:schemeClr val="tx1"/>
            </a:solidFill>
          </a:ln>
        </p:spPr>
      </p:pic>
      <p:pic>
        <p:nvPicPr>
          <p:cNvPr id="64" name="Picture 63">
            <a:extLst>
              <a:ext uri="{FF2B5EF4-FFF2-40B4-BE49-F238E27FC236}">
                <a16:creationId xmlns:a16="http://schemas.microsoft.com/office/drawing/2014/main" id="{F79B38A4-2B7B-B71F-0E29-D43A95B9AB28}"/>
              </a:ext>
            </a:extLst>
          </p:cNvPr>
          <p:cNvPicPr>
            <a:picLocks noChangeAspect="1"/>
          </p:cNvPicPr>
          <p:nvPr/>
        </p:nvPicPr>
        <p:blipFill>
          <a:blip r:embed="rId4"/>
          <a:stretch>
            <a:fillRect/>
          </a:stretch>
        </p:blipFill>
        <p:spPr>
          <a:xfrm>
            <a:off x="3066757" y="2318356"/>
            <a:ext cx="2203942" cy="1109399"/>
          </a:xfrm>
          <a:prstGeom prst="rect">
            <a:avLst/>
          </a:prstGeom>
          <a:ln>
            <a:solidFill>
              <a:schemeClr val="tx1"/>
            </a:solidFill>
          </a:ln>
        </p:spPr>
      </p:pic>
      <p:pic>
        <p:nvPicPr>
          <p:cNvPr id="66" name="Picture 65">
            <a:extLst>
              <a:ext uri="{FF2B5EF4-FFF2-40B4-BE49-F238E27FC236}">
                <a16:creationId xmlns:a16="http://schemas.microsoft.com/office/drawing/2014/main" id="{654C5C54-4E99-CA06-CFB5-081E6B6CD0C9}"/>
              </a:ext>
            </a:extLst>
          </p:cNvPr>
          <p:cNvPicPr>
            <a:picLocks noChangeAspect="1"/>
          </p:cNvPicPr>
          <p:nvPr/>
        </p:nvPicPr>
        <p:blipFill>
          <a:blip r:embed="rId5"/>
          <a:stretch>
            <a:fillRect/>
          </a:stretch>
        </p:blipFill>
        <p:spPr>
          <a:xfrm>
            <a:off x="3125230" y="3718218"/>
            <a:ext cx="2123045" cy="1174877"/>
          </a:xfrm>
          <a:prstGeom prst="rect">
            <a:avLst/>
          </a:prstGeom>
          <a:ln>
            <a:solidFill>
              <a:schemeClr val="tx1"/>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352"/>
            <a:ext cx="9144000" cy="658368"/>
          </a:xfrm>
          <a:prstGeom prst="rect">
            <a:avLst/>
          </a:prstGeom>
          <a:solidFill>
            <a:srgbClr val="E23744"/>
          </a:solidFill>
          <a:ln/>
        </p:spPr>
      </p:sp>
      <p:sp>
        <p:nvSpPr>
          <p:cNvPr id="3" name="Text 1"/>
          <p:cNvSpPr/>
          <p:nvPr/>
        </p:nvSpPr>
        <p:spPr>
          <a:xfrm>
            <a:off x="365760" y="73152"/>
            <a:ext cx="841248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Python Analytics</a:t>
            </a:r>
            <a:endParaRPr lang="en-US" sz="2200" dirty="0"/>
          </a:p>
        </p:txBody>
      </p:sp>
      <p:sp>
        <p:nvSpPr>
          <p:cNvPr id="4" name="Text 2"/>
          <p:cNvSpPr/>
          <p:nvPr/>
        </p:nvSpPr>
        <p:spPr>
          <a:xfrm>
            <a:off x="2672861" y="164592"/>
            <a:ext cx="5373859" cy="306324"/>
          </a:xfrm>
          <a:prstGeom prst="rect">
            <a:avLst/>
          </a:prstGeom>
          <a:noFill/>
          <a:ln/>
        </p:spPr>
        <p:txBody>
          <a:bodyPr wrap="square" lIns="0" tIns="0" rIns="0" bIns="0" rtlCol="0" anchor="ctr"/>
          <a:lstStyle/>
          <a:p>
            <a:pPr marL="0" indent="0">
              <a:buNone/>
            </a:pPr>
            <a:r>
              <a:rPr lang="en-US" sz="1100" i="1" dirty="0">
                <a:solidFill>
                  <a:srgbClr val="FFD0D5"/>
                </a:solidFill>
                <a:latin typeface="Calibri" pitchFamily="34" charset="0"/>
                <a:ea typeface="Calibri" pitchFamily="34" charset="-122"/>
                <a:cs typeface="Calibri" pitchFamily="34" charset="-120"/>
              </a:rPr>
              <a:t>Exploratory Data Analysis with Pandas &amp; Matplotlib</a:t>
            </a:r>
            <a:endParaRPr lang="en-US" sz="1100" dirty="0"/>
          </a:p>
        </p:txBody>
      </p:sp>
      <p:sp>
        <p:nvSpPr>
          <p:cNvPr id="6" name="Text 4"/>
          <p:cNvSpPr/>
          <p:nvPr/>
        </p:nvSpPr>
        <p:spPr>
          <a:xfrm>
            <a:off x="274320" y="4965192"/>
            <a:ext cx="6400800" cy="164592"/>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Zomato Market Intelligence Dashboard  •  Data Analytics Project</a:t>
            </a:r>
            <a:endParaRPr lang="en-US" sz="800" dirty="0"/>
          </a:p>
        </p:txBody>
      </p:sp>
      <p:sp>
        <p:nvSpPr>
          <p:cNvPr id="7" name="Text 5"/>
          <p:cNvSpPr/>
          <p:nvPr/>
        </p:nvSpPr>
        <p:spPr>
          <a:xfrm>
            <a:off x="8046720" y="4965192"/>
            <a:ext cx="822960" cy="164592"/>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8 / 15</a:t>
            </a:r>
            <a:endParaRPr lang="en-US" sz="800" dirty="0"/>
          </a:p>
        </p:txBody>
      </p:sp>
      <p:sp>
        <p:nvSpPr>
          <p:cNvPr id="12" name="Text 10"/>
          <p:cNvSpPr/>
          <p:nvPr/>
        </p:nvSpPr>
        <p:spPr>
          <a:xfrm>
            <a:off x="365760" y="1517904"/>
            <a:ext cx="3931920" cy="201168"/>
          </a:xfrm>
          <a:prstGeom prst="rect">
            <a:avLst/>
          </a:prstGeom>
          <a:noFill/>
          <a:ln/>
        </p:spPr>
        <p:txBody>
          <a:bodyPr wrap="square" lIns="0" tIns="0" rIns="0" bIns="0" rtlCol="0" anchor="ctr"/>
          <a:lstStyle/>
          <a:p>
            <a:pPr marL="0" indent="0">
              <a:buNone/>
            </a:pPr>
            <a:endParaRPr lang="en-US" sz="800" dirty="0"/>
          </a:p>
        </p:txBody>
      </p:sp>
      <p:sp>
        <p:nvSpPr>
          <p:cNvPr id="15" name="Text 13"/>
          <p:cNvSpPr/>
          <p:nvPr/>
        </p:nvSpPr>
        <p:spPr>
          <a:xfrm>
            <a:off x="365760" y="2066544"/>
            <a:ext cx="3931920" cy="201168"/>
          </a:xfrm>
          <a:prstGeom prst="rect">
            <a:avLst/>
          </a:prstGeom>
          <a:noFill/>
          <a:ln/>
        </p:spPr>
        <p:txBody>
          <a:bodyPr wrap="square" lIns="0" tIns="0" rIns="0" bIns="0" rtlCol="0" anchor="ctr"/>
          <a:lstStyle/>
          <a:p>
            <a:pPr marL="0" indent="0">
              <a:buNone/>
            </a:pPr>
            <a:r>
              <a:rPr lang="en-US" sz="800" dirty="0">
                <a:solidFill>
                  <a:srgbClr val="FFFFFF"/>
                </a:solidFill>
                <a:latin typeface="Consolas" pitchFamily="34" charset="0"/>
                <a:ea typeface="Consolas" pitchFamily="34" charset="-122"/>
                <a:cs typeface="Consolas" pitchFamily="34" charset="-120"/>
              </a:rPr>
              <a:t>users  = pd.read_csv('clean_users.csv')</a:t>
            </a:r>
            <a:endParaRPr lang="en-US" sz="800" dirty="0"/>
          </a:p>
        </p:txBody>
      </p:sp>
      <p:sp>
        <p:nvSpPr>
          <p:cNvPr id="16" name="Text 14"/>
          <p:cNvSpPr/>
          <p:nvPr/>
        </p:nvSpPr>
        <p:spPr>
          <a:xfrm>
            <a:off x="365760" y="2249424"/>
            <a:ext cx="3931920" cy="201168"/>
          </a:xfrm>
          <a:prstGeom prst="rect">
            <a:avLst/>
          </a:prstGeom>
          <a:noFill/>
          <a:ln/>
        </p:spPr>
        <p:txBody>
          <a:bodyPr wrap="square" lIns="0" tIns="0" rIns="0" bIns="0" rtlCol="0" anchor="ctr"/>
          <a:lstStyle/>
          <a:p>
            <a:pPr marL="0" indent="0">
              <a:buNone/>
            </a:pPr>
            <a:endParaRPr lang="en-US" sz="800" dirty="0"/>
          </a:p>
        </p:txBody>
      </p:sp>
      <p:sp>
        <p:nvSpPr>
          <p:cNvPr id="18" name="Text 16"/>
          <p:cNvSpPr/>
          <p:nvPr/>
        </p:nvSpPr>
        <p:spPr>
          <a:xfrm>
            <a:off x="365760" y="2615184"/>
            <a:ext cx="3931920" cy="201168"/>
          </a:xfrm>
          <a:prstGeom prst="rect">
            <a:avLst/>
          </a:prstGeom>
          <a:noFill/>
          <a:ln/>
        </p:spPr>
        <p:txBody>
          <a:bodyPr wrap="square" lIns="0" tIns="0" rIns="0" bIns="0" rtlCol="0" anchor="ctr"/>
          <a:lstStyle/>
          <a:p>
            <a:pPr marL="0" indent="0">
              <a:buNone/>
            </a:pPr>
            <a:endParaRPr lang="en-US" sz="800" dirty="0"/>
          </a:p>
        </p:txBody>
      </p:sp>
      <p:sp>
        <p:nvSpPr>
          <p:cNvPr id="19" name="Text 17"/>
          <p:cNvSpPr/>
          <p:nvPr/>
        </p:nvSpPr>
        <p:spPr>
          <a:xfrm>
            <a:off x="365760" y="2798064"/>
            <a:ext cx="3931920" cy="201168"/>
          </a:xfrm>
          <a:prstGeom prst="rect">
            <a:avLst/>
          </a:prstGeom>
          <a:noFill/>
          <a:ln/>
        </p:spPr>
        <p:txBody>
          <a:bodyPr wrap="square" lIns="0" tIns="0" rIns="0" bIns="0" rtlCol="0" anchor="ctr"/>
          <a:lstStyle/>
          <a:p>
            <a:pPr marL="0" indent="0">
              <a:buNone/>
            </a:pPr>
            <a:endParaRPr lang="en-US" sz="800" dirty="0"/>
          </a:p>
        </p:txBody>
      </p:sp>
      <p:sp>
        <p:nvSpPr>
          <p:cNvPr id="20" name="Text 18"/>
          <p:cNvSpPr/>
          <p:nvPr/>
        </p:nvSpPr>
        <p:spPr>
          <a:xfrm>
            <a:off x="365760" y="2980944"/>
            <a:ext cx="3931920" cy="201168"/>
          </a:xfrm>
          <a:prstGeom prst="rect">
            <a:avLst/>
          </a:prstGeom>
          <a:noFill/>
          <a:ln/>
        </p:spPr>
        <p:txBody>
          <a:bodyPr wrap="square" lIns="0" tIns="0" rIns="0" bIns="0" rtlCol="0" anchor="ctr"/>
          <a:lstStyle/>
          <a:p>
            <a:pPr marL="0" indent="0">
              <a:buNone/>
            </a:pPr>
            <a:endParaRPr lang="en-US" sz="800" dirty="0"/>
          </a:p>
        </p:txBody>
      </p:sp>
      <p:sp>
        <p:nvSpPr>
          <p:cNvPr id="21" name="Text 19"/>
          <p:cNvSpPr/>
          <p:nvPr/>
        </p:nvSpPr>
        <p:spPr>
          <a:xfrm>
            <a:off x="365760" y="3163824"/>
            <a:ext cx="3931920" cy="201168"/>
          </a:xfrm>
          <a:prstGeom prst="rect">
            <a:avLst/>
          </a:prstGeom>
          <a:noFill/>
          <a:ln/>
        </p:spPr>
        <p:txBody>
          <a:bodyPr wrap="square" lIns="0" tIns="0" rIns="0" bIns="0" rtlCol="0" anchor="ctr"/>
          <a:lstStyle/>
          <a:p>
            <a:pPr marL="0" indent="0">
              <a:buNone/>
            </a:pPr>
            <a:endParaRPr lang="en-US" sz="800" dirty="0"/>
          </a:p>
        </p:txBody>
      </p:sp>
      <p:sp>
        <p:nvSpPr>
          <p:cNvPr id="22" name="Text 20"/>
          <p:cNvSpPr/>
          <p:nvPr/>
        </p:nvSpPr>
        <p:spPr>
          <a:xfrm>
            <a:off x="365760" y="3346704"/>
            <a:ext cx="3931920" cy="201168"/>
          </a:xfrm>
          <a:prstGeom prst="rect">
            <a:avLst/>
          </a:prstGeom>
          <a:noFill/>
          <a:ln/>
        </p:spPr>
        <p:txBody>
          <a:bodyPr wrap="square" lIns="0" tIns="0" rIns="0" bIns="0" rtlCol="0" anchor="ctr"/>
          <a:lstStyle/>
          <a:p>
            <a:pPr marL="0" indent="0">
              <a:buNone/>
            </a:pPr>
            <a:endParaRPr lang="en-US" sz="800" dirty="0"/>
          </a:p>
        </p:txBody>
      </p:sp>
      <p:sp>
        <p:nvSpPr>
          <p:cNvPr id="29" name="Text 27"/>
          <p:cNvSpPr/>
          <p:nvPr/>
        </p:nvSpPr>
        <p:spPr>
          <a:xfrm>
            <a:off x="4828032" y="877824"/>
            <a:ext cx="3931920" cy="274320"/>
          </a:xfrm>
          <a:prstGeom prst="rect">
            <a:avLst/>
          </a:prstGeom>
          <a:noFill/>
          <a:ln/>
        </p:spPr>
        <p:txBody>
          <a:bodyPr wrap="square" lIns="0" tIns="0" rIns="0" bIns="0" rtlCol="0" anchor="ctr"/>
          <a:lstStyle/>
          <a:p>
            <a:endParaRPr lang="en-US" sz="1100" dirty="0"/>
          </a:p>
        </p:txBody>
      </p:sp>
      <p:sp>
        <p:nvSpPr>
          <p:cNvPr id="30" name="Text 28"/>
          <p:cNvSpPr/>
          <p:nvPr/>
        </p:nvSpPr>
        <p:spPr>
          <a:xfrm>
            <a:off x="4828032" y="1188720"/>
            <a:ext cx="3931920" cy="438912"/>
          </a:xfrm>
          <a:prstGeom prst="rect">
            <a:avLst/>
          </a:prstGeom>
          <a:noFill/>
          <a:ln/>
        </p:spPr>
        <p:txBody>
          <a:bodyPr wrap="square" lIns="0" tIns="0" rIns="0" bIns="0" rtlCol="0" anchor="ctr"/>
          <a:lstStyle/>
          <a:p>
            <a:pPr marL="0" indent="0">
              <a:buNone/>
            </a:pPr>
            <a:endParaRPr lang="en-US" sz="950" dirty="0"/>
          </a:p>
        </p:txBody>
      </p:sp>
      <p:sp>
        <p:nvSpPr>
          <p:cNvPr id="34" name="Text 32"/>
          <p:cNvSpPr/>
          <p:nvPr/>
        </p:nvSpPr>
        <p:spPr>
          <a:xfrm>
            <a:off x="4828032" y="2212848"/>
            <a:ext cx="3931920" cy="438912"/>
          </a:xfrm>
          <a:prstGeom prst="rect">
            <a:avLst/>
          </a:prstGeom>
          <a:noFill/>
          <a:ln/>
        </p:spPr>
        <p:txBody>
          <a:bodyPr wrap="square" lIns="0" tIns="0" rIns="0" bIns="0" rtlCol="0" anchor="ctr"/>
          <a:lstStyle/>
          <a:p>
            <a:pPr marL="0" indent="0">
              <a:buNone/>
            </a:pPr>
            <a:endParaRPr lang="en-US" sz="950" dirty="0"/>
          </a:p>
        </p:txBody>
      </p:sp>
      <p:sp>
        <p:nvSpPr>
          <p:cNvPr id="37" name="Text 35"/>
          <p:cNvSpPr/>
          <p:nvPr/>
        </p:nvSpPr>
        <p:spPr>
          <a:xfrm>
            <a:off x="4828032" y="2926080"/>
            <a:ext cx="3931920" cy="274320"/>
          </a:xfrm>
          <a:prstGeom prst="rect">
            <a:avLst/>
          </a:prstGeom>
          <a:noFill/>
          <a:ln/>
        </p:spPr>
        <p:txBody>
          <a:bodyPr wrap="square" lIns="0" tIns="0" rIns="0" bIns="0" rtlCol="0" anchor="ctr"/>
          <a:lstStyle/>
          <a:p>
            <a:pPr marL="0" indent="0">
              <a:buNone/>
            </a:pPr>
            <a:endParaRPr lang="en-US" sz="1100" dirty="0"/>
          </a:p>
        </p:txBody>
      </p:sp>
      <p:sp>
        <p:nvSpPr>
          <p:cNvPr id="38" name="Text 36"/>
          <p:cNvSpPr/>
          <p:nvPr/>
        </p:nvSpPr>
        <p:spPr>
          <a:xfrm>
            <a:off x="4828032" y="3236976"/>
            <a:ext cx="3931920" cy="438912"/>
          </a:xfrm>
          <a:prstGeom prst="rect">
            <a:avLst/>
          </a:prstGeom>
          <a:noFill/>
          <a:ln/>
        </p:spPr>
        <p:txBody>
          <a:bodyPr wrap="square" lIns="0" tIns="0" rIns="0" bIns="0" rtlCol="0" anchor="ctr"/>
          <a:lstStyle/>
          <a:p>
            <a:pPr marL="0" indent="0">
              <a:buNone/>
            </a:pPr>
            <a:endParaRPr lang="en-US" sz="950" dirty="0"/>
          </a:p>
        </p:txBody>
      </p:sp>
      <p:sp>
        <p:nvSpPr>
          <p:cNvPr id="41" name="Text 39"/>
          <p:cNvSpPr/>
          <p:nvPr/>
        </p:nvSpPr>
        <p:spPr>
          <a:xfrm>
            <a:off x="4828032" y="3950208"/>
            <a:ext cx="3931920" cy="274320"/>
          </a:xfrm>
          <a:prstGeom prst="rect">
            <a:avLst/>
          </a:prstGeom>
          <a:noFill/>
          <a:ln/>
        </p:spPr>
        <p:txBody>
          <a:bodyPr wrap="square" lIns="0" tIns="0" rIns="0" bIns="0" rtlCol="0" anchor="ctr"/>
          <a:lstStyle/>
          <a:p>
            <a:pPr marL="0" indent="0">
              <a:buNone/>
            </a:pPr>
            <a:endParaRPr lang="en-US" sz="1100" dirty="0"/>
          </a:p>
        </p:txBody>
      </p:sp>
      <p:sp>
        <p:nvSpPr>
          <p:cNvPr id="42" name="Text 40"/>
          <p:cNvSpPr/>
          <p:nvPr/>
        </p:nvSpPr>
        <p:spPr>
          <a:xfrm>
            <a:off x="4828032" y="4261104"/>
            <a:ext cx="3931920" cy="438912"/>
          </a:xfrm>
          <a:prstGeom prst="rect">
            <a:avLst/>
          </a:prstGeom>
          <a:noFill/>
          <a:ln/>
        </p:spPr>
        <p:txBody>
          <a:bodyPr wrap="square" lIns="0" tIns="0" rIns="0" bIns="0" rtlCol="0" anchor="ctr"/>
          <a:lstStyle/>
          <a:p>
            <a:pPr marL="0" indent="0">
              <a:buNone/>
            </a:pPr>
            <a:endParaRPr lang="en-US" sz="950" dirty="0"/>
          </a:p>
        </p:txBody>
      </p:sp>
      <p:pic>
        <p:nvPicPr>
          <p:cNvPr id="44" name="Picture 43">
            <a:extLst>
              <a:ext uri="{FF2B5EF4-FFF2-40B4-BE49-F238E27FC236}">
                <a16:creationId xmlns:a16="http://schemas.microsoft.com/office/drawing/2014/main" id="{C66BFB71-66FA-D659-E89F-5B132DD3CD9E}"/>
              </a:ext>
            </a:extLst>
          </p:cNvPr>
          <p:cNvPicPr>
            <a:picLocks noChangeAspect="1"/>
          </p:cNvPicPr>
          <p:nvPr/>
        </p:nvPicPr>
        <p:blipFill>
          <a:blip r:embed="rId3"/>
          <a:stretch>
            <a:fillRect/>
          </a:stretch>
        </p:blipFill>
        <p:spPr>
          <a:xfrm>
            <a:off x="126737" y="708660"/>
            <a:ext cx="4068952" cy="3112828"/>
          </a:xfrm>
          <a:prstGeom prst="rect">
            <a:avLst/>
          </a:prstGeom>
        </p:spPr>
      </p:pic>
      <p:sp>
        <p:nvSpPr>
          <p:cNvPr id="47" name="Shape 25">
            <a:extLst>
              <a:ext uri="{FF2B5EF4-FFF2-40B4-BE49-F238E27FC236}">
                <a16:creationId xmlns:a16="http://schemas.microsoft.com/office/drawing/2014/main" id="{0051F097-DB75-93B0-C6F4-A6DD2B084654}"/>
              </a:ext>
            </a:extLst>
          </p:cNvPr>
          <p:cNvSpPr/>
          <p:nvPr/>
        </p:nvSpPr>
        <p:spPr>
          <a:xfrm>
            <a:off x="140677" y="3963221"/>
            <a:ext cx="4055012" cy="89611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r>
              <a:rPr lang="en-US" sz="1100" b="1" dirty="0">
                <a:solidFill>
                  <a:srgbClr val="E23744"/>
                </a:solidFill>
                <a:latin typeface="Calibri" pitchFamily="34" charset="0"/>
                <a:ea typeface="Calibri" pitchFamily="34" charset="-122"/>
                <a:cs typeface="Calibri" pitchFamily="34" charset="-120"/>
              </a:rPr>
              <a:t>📈  Revenue Trend Analysis</a:t>
            </a:r>
            <a:endParaRPr lang="en-US" sz="1100" b="1" dirty="0"/>
          </a:p>
          <a:p>
            <a:endParaRPr lang="en-US" sz="1100" dirty="0">
              <a:solidFill>
                <a:srgbClr val="64748B"/>
              </a:solidFill>
              <a:latin typeface="Calibri" pitchFamily="34" charset="0"/>
              <a:ea typeface="Calibri" pitchFamily="34" charset="-122"/>
              <a:cs typeface="Calibri" pitchFamily="34" charset="-120"/>
            </a:endParaRPr>
          </a:p>
          <a:p>
            <a:r>
              <a:rPr lang="en-US" sz="1100" dirty="0">
                <a:solidFill>
                  <a:srgbClr val="64748B"/>
                </a:solidFill>
                <a:latin typeface="Calibri" pitchFamily="34" charset="0"/>
                <a:ea typeface="Calibri" pitchFamily="34" charset="-122"/>
                <a:cs typeface="Calibri" pitchFamily="34" charset="-120"/>
              </a:rPr>
              <a:t>Plotted year-over-year revenue (2017–2020) to identify peak periods and seasonal patterns in ordering behavior</a:t>
            </a:r>
            <a:endParaRPr lang="en-IN" sz="1100" b="1" dirty="0">
              <a:solidFill>
                <a:srgbClr val="C00000"/>
              </a:solidFill>
            </a:endParaRPr>
          </a:p>
        </p:txBody>
      </p:sp>
      <p:pic>
        <p:nvPicPr>
          <p:cNvPr id="50" name="Picture 49">
            <a:extLst>
              <a:ext uri="{FF2B5EF4-FFF2-40B4-BE49-F238E27FC236}">
                <a16:creationId xmlns:a16="http://schemas.microsoft.com/office/drawing/2014/main" id="{3915E98F-64DF-EBBD-1FC3-CAD47A73C8E4}"/>
              </a:ext>
            </a:extLst>
          </p:cNvPr>
          <p:cNvPicPr>
            <a:picLocks noChangeAspect="1"/>
          </p:cNvPicPr>
          <p:nvPr/>
        </p:nvPicPr>
        <p:blipFill>
          <a:blip r:embed="rId4"/>
          <a:stretch>
            <a:fillRect/>
          </a:stretch>
        </p:blipFill>
        <p:spPr>
          <a:xfrm>
            <a:off x="4315968" y="729569"/>
            <a:ext cx="4553711" cy="1537269"/>
          </a:xfrm>
          <a:prstGeom prst="rect">
            <a:avLst/>
          </a:prstGeom>
        </p:spPr>
      </p:pic>
      <p:pic>
        <p:nvPicPr>
          <p:cNvPr id="51" name="Picture 50">
            <a:extLst>
              <a:ext uri="{FF2B5EF4-FFF2-40B4-BE49-F238E27FC236}">
                <a16:creationId xmlns:a16="http://schemas.microsoft.com/office/drawing/2014/main" id="{E777866D-BCB2-20D0-362A-CDBA36E5B344}"/>
              </a:ext>
            </a:extLst>
          </p:cNvPr>
          <p:cNvPicPr>
            <a:picLocks noChangeAspect="1"/>
          </p:cNvPicPr>
          <p:nvPr/>
        </p:nvPicPr>
        <p:blipFill>
          <a:blip r:embed="rId5"/>
          <a:stretch>
            <a:fillRect/>
          </a:stretch>
        </p:blipFill>
        <p:spPr>
          <a:xfrm>
            <a:off x="4315967" y="2267713"/>
            <a:ext cx="4553711" cy="1508760"/>
          </a:xfrm>
          <a:prstGeom prst="rect">
            <a:avLst/>
          </a:prstGeom>
        </p:spPr>
      </p:pic>
      <p:sp>
        <p:nvSpPr>
          <p:cNvPr id="52" name="Shape 29">
            <a:extLst>
              <a:ext uri="{FF2B5EF4-FFF2-40B4-BE49-F238E27FC236}">
                <a16:creationId xmlns:a16="http://schemas.microsoft.com/office/drawing/2014/main" id="{B1318EDE-F047-8E7F-E40E-CD4F66DCBEAA}"/>
              </a:ext>
            </a:extLst>
          </p:cNvPr>
          <p:cNvSpPr/>
          <p:nvPr/>
        </p:nvSpPr>
        <p:spPr>
          <a:xfrm>
            <a:off x="4517835" y="3949323"/>
            <a:ext cx="4351843" cy="89611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r>
              <a:rPr lang="en-US" sz="1100" b="1" dirty="0">
                <a:solidFill>
                  <a:srgbClr val="0891B2"/>
                </a:solidFill>
                <a:latin typeface="Calibri" pitchFamily="34" charset="0"/>
                <a:ea typeface="Calibri" pitchFamily="34" charset="-122"/>
                <a:cs typeface="Calibri" pitchFamily="34" charset="-120"/>
              </a:rPr>
              <a:t>🍽️  Cuisine Distribution</a:t>
            </a:r>
            <a:endParaRPr lang="en-US" sz="1100" dirty="0"/>
          </a:p>
        </p:txBody>
      </p:sp>
      <p:sp>
        <p:nvSpPr>
          <p:cNvPr id="54" name="TextBox 53">
            <a:extLst>
              <a:ext uri="{FF2B5EF4-FFF2-40B4-BE49-F238E27FC236}">
                <a16:creationId xmlns:a16="http://schemas.microsoft.com/office/drawing/2014/main" id="{CE94BC58-295E-E05F-3D16-890683CF7EF2}"/>
              </a:ext>
            </a:extLst>
          </p:cNvPr>
          <p:cNvSpPr txBox="1"/>
          <p:nvPr/>
        </p:nvSpPr>
        <p:spPr>
          <a:xfrm>
            <a:off x="4572000" y="4269129"/>
            <a:ext cx="4572000" cy="430887"/>
          </a:xfrm>
          <a:prstGeom prst="rect">
            <a:avLst/>
          </a:prstGeom>
          <a:noFill/>
        </p:spPr>
        <p:txBody>
          <a:bodyPr wrap="square">
            <a:spAutoFit/>
          </a:bodyPr>
          <a:lstStyle/>
          <a:p>
            <a:pPr marL="0" indent="0">
              <a:buNone/>
            </a:pPr>
            <a:r>
              <a:rPr lang="en-US" sz="1100" dirty="0">
                <a:solidFill>
                  <a:srgbClr val="64748B"/>
                </a:solidFill>
                <a:latin typeface="Calibri" pitchFamily="34" charset="0"/>
                <a:ea typeface="Calibri" pitchFamily="34" charset="-122"/>
                <a:cs typeface="Calibri" pitchFamily="34" charset="-120"/>
              </a:rPr>
              <a:t>Bar charts and pie charts showing cuisine popularity across top cities to identify regional preferences.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24130CC-29C7-7469-A0F9-5ABD630C7705}"/>
              </a:ext>
            </a:extLst>
          </p:cNvPr>
          <p:cNvPicPr>
            <a:picLocks noChangeAspect="1"/>
          </p:cNvPicPr>
          <p:nvPr/>
        </p:nvPicPr>
        <p:blipFill>
          <a:blip r:embed="rId2"/>
          <a:stretch>
            <a:fillRect/>
          </a:stretch>
        </p:blipFill>
        <p:spPr>
          <a:xfrm>
            <a:off x="162345" y="151423"/>
            <a:ext cx="4318216" cy="1701850"/>
          </a:xfrm>
          <a:prstGeom prst="rect">
            <a:avLst/>
          </a:prstGeom>
        </p:spPr>
      </p:pic>
      <p:pic>
        <p:nvPicPr>
          <p:cNvPr id="13" name="Picture 12">
            <a:extLst>
              <a:ext uri="{FF2B5EF4-FFF2-40B4-BE49-F238E27FC236}">
                <a16:creationId xmlns:a16="http://schemas.microsoft.com/office/drawing/2014/main" id="{32899587-F7C6-7AD6-5681-CFFF103560F5}"/>
              </a:ext>
            </a:extLst>
          </p:cNvPr>
          <p:cNvPicPr>
            <a:picLocks noChangeAspect="1"/>
          </p:cNvPicPr>
          <p:nvPr/>
        </p:nvPicPr>
        <p:blipFill>
          <a:blip r:embed="rId3"/>
          <a:stretch>
            <a:fillRect/>
          </a:stretch>
        </p:blipFill>
        <p:spPr>
          <a:xfrm>
            <a:off x="225533" y="1980289"/>
            <a:ext cx="4255028" cy="1786598"/>
          </a:xfrm>
          <a:prstGeom prst="rect">
            <a:avLst/>
          </a:prstGeom>
        </p:spPr>
      </p:pic>
      <p:pic>
        <p:nvPicPr>
          <p:cNvPr id="15" name="Picture 14">
            <a:extLst>
              <a:ext uri="{FF2B5EF4-FFF2-40B4-BE49-F238E27FC236}">
                <a16:creationId xmlns:a16="http://schemas.microsoft.com/office/drawing/2014/main" id="{729B8902-D94E-92E8-FC10-06313A340C3F}"/>
              </a:ext>
            </a:extLst>
          </p:cNvPr>
          <p:cNvPicPr>
            <a:picLocks noChangeAspect="1"/>
          </p:cNvPicPr>
          <p:nvPr/>
        </p:nvPicPr>
        <p:blipFill>
          <a:blip r:embed="rId4"/>
          <a:stretch>
            <a:fillRect/>
          </a:stretch>
        </p:blipFill>
        <p:spPr>
          <a:xfrm>
            <a:off x="4572000" y="151424"/>
            <a:ext cx="4409655" cy="1701850"/>
          </a:xfrm>
          <a:prstGeom prst="rect">
            <a:avLst/>
          </a:prstGeom>
        </p:spPr>
      </p:pic>
      <p:pic>
        <p:nvPicPr>
          <p:cNvPr id="17" name="Picture 16">
            <a:extLst>
              <a:ext uri="{FF2B5EF4-FFF2-40B4-BE49-F238E27FC236}">
                <a16:creationId xmlns:a16="http://schemas.microsoft.com/office/drawing/2014/main" id="{251BBBFC-B8E9-5178-5049-AF34281E9C27}"/>
              </a:ext>
            </a:extLst>
          </p:cNvPr>
          <p:cNvPicPr>
            <a:picLocks noChangeAspect="1"/>
          </p:cNvPicPr>
          <p:nvPr/>
        </p:nvPicPr>
        <p:blipFill>
          <a:blip r:embed="rId5"/>
          <a:stretch>
            <a:fillRect/>
          </a:stretch>
        </p:blipFill>
        <p:spPr>
          <a:xfrm>
            <a:off x="4572000" y="1980289"/>
            <a:ext cx="4409655" cy="1397362"/>
          </a:xfrm>
          <a:prstGeom prst="rect">
            <a:avLst/>
          </a:prstGeom>
        </p:spPr>
      </p:pic>
      <p:sp>
        <p:nvSpPr>
          <p:cNvPr id="19" name="Shape 33">
            <a:extLst>
              <a:ext uri="{FF2B5EF4-FFF2-40B4-BE49-F238E27FC236}">
                <a16:creationId xmlns:a16="http://schemas.microsoft.com/office/drawing/2014/main" id="{2E1600DB-288A-021A-FF83-E04A1EB88B35}"/>
              </a:ext>
            </a:extLst>
          </p:cNvPr>
          <p:cNvSpPr/>
          <p:nvPr/>
        </p:nvSpPr>
        <p:spPr>
          <a:xfrm>
            <a:off x="228601" y="3901954"/>
            <a:ext cx="4251960" cy="89611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r>
              <a:rPr lang="en-US" sz="1100" b="1" dirty="0">
                <a:solidFill>
                  <a:srgbClr val="10B981"/>
                </a:solidFill>
                <a:latin typeface="Calibri" pitchFamily="34" charset="0"/>
                <a:ea typeface="Calibri" pitchFamily="34" charset="-122"/>
                <a:cs typeface="Calibri" pitchFamily="34" charset="-120"/>
              </a:rPr>
              <a:t>🚚  Delivery Performance</a:t>
            </a:r>
            <a:endParaRPr lang="en-US" sz="1100" dirty="0"/>
          </a:p>
          <a:p>
            <a:endParaRPr lang="en-US" sz="1200" dirty="0">
              <a:solidFill>
                <a:srgbClr val="64748B"/>
              </a:solidFill>
              <a:latin typeface="Calibri" pitchFamily="34" charset="0"/>
              <a:ea typeface="Calibri" pitchFamily="34" charset="-122"/>
              <a:cs typeface="Calibri" pitchFamily="34" charset="-120"/>
            </a:endParaRPr>
          </a:p>
          <a:p>
            <a:r>
              <a:rPr lang="en-US" sz="1100" dirty="0">
                <a:solidFill>
                  <a:srgbClr val="64748B"/>
                </a:solidFill>
                <a:latin typeface="Calibri" pitchFamily="34" charset="0"/>
                <a:ea typeface="Calibri" pitchFamily="34" charset="-122"/>
                <a:cs typeface="Calibri" pitchFamily="34" charset="-120"/>
              </a:rPr>
              <a:t>Analyzed average delivery time by traffic density and weather conditions using grouped statistics.</a:t>
            </a:r>
            <a:endParaRPr lang="en-US" sz="1100" dirty="0"/>
          </a:p>
        </p:txBody>
      </p:sp>
      <p:sp>
        <p:nvSpPr>
          <p:cNvPr id="29" name="Shape 33">
            <a:extLst>
              <a:ext uri="{FF2B5EF4-FFF2-40B4-BE49-F238E27FC236}">
                <a16:creationId xmlns:a16="http://schemas.microsoft.com/office/drawing/2014/main" id="{54F8BADF-F52E-F7F2-3A2C-774D494483D0}"/>
              </a:ext>
            </a:extLst>
          </p:cNvPr>
          <p:cNvSpPr/>
          <p:nvPr/>
        </p:nvSpPr>
        <p:spPr>
          <a:xfrm>
            <a:off x="4572000" y="3893903"/>
            <a:ext cx="4409654" cy="89611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r>
              <a:rPr lang="en-US" sz="1100" b="1" dirty="0">
                <a:solidFill>
                  <a:srgbClr val="F97316"/>
                </a:solidFill>
                <a:latin typeface="Calibri" pitchFamily="34" charset="0"/>
                <a:ea typeface="Calibri" pitchFamily="34" charset="-122"/>
                <a:cs typeface="Calibri" pitchFamily="34" charset="-120"/>
              </a:rPr>
              <a:t>👥  Customer Insights</a:t>
            </a:r>
            <a:endParaRPr lang="en-US" sz="1100" dirty="0"/>
          </a:p>
          <a:p>
            <a:endParaRPr lang="en-US" sz="1100" dirty="0">
              <a:solidFill>
                <a:srgbClr val="64748B"/>
              </a:solidFill>
              <a:latin typeface="Calibri" pitchFamily="34" charset="0"/>
              <a:ea typeface="Calibri" pitchFamily="34" charset="-122"/>
              <a:cs typeface="Calibri" pitchFamily="34" charset="-120"/>
            </a:endParaRPr>
          </a:p>
          <a:p>
            <a:r>
              <a:rPr lang="en-US" sz="1100" dirty="0">
                <a:solidFill>
                  <a:srgbClr val="64748B"/>
                </a:solidFill>
                <a:latin typeface="Calibri" pitchFamily="34" charset="0"/>
                <a:ea typeface="Calibri" pitchFamily="34" charset="-122"/>
                <a:cs typeface="Calibri" pitchFamily="34" charset="-120"/>
              </a:rPr>
              <a:t>Demographic segmentation by age, income, occupation, and gender to profile Zomato's key customer segments.</a:t>
            </a:r>
            <a:endParaRPr lang="en-US" sz="1100" dirty="0"/>
          </a:p>
        </p:txBody>
      </p:sp>
    </p:spTree>
    <p:extLst>
      <p:ext uri="{BB962C8B-B14F-4D97-AF65-F5344CB8AC3E}">
        <p14:creationId xmlns:p14="http://schemas.microsoft.com/office/powerpoint/2010/main" val="1780005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23744"/>
          </a:solidFill>
          <a:ln/>
        </p:spPr>
      </p:sp>
      <p:sp>
        <p:nvSpPr>
          <p:cNvPr id="3" name="Text 1"/>
          <p:cNvSpPr/>
          <p:nvPr/>
        </p:nvSpPr>
        <p:spPr>
          <a:xfrm>
            <a:off x="365760" y="73152"/>
            <a:ext cx="841248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Power BI Dashboard Development</a:t>
            </a:r>
            <a:endParaRPr lang="en-US" sz="2200" dirty="0"/>
          </a:p>
        </p:txBody>
      </p:sp>
      <p:sp>
        <p:nvSpPr>
          <p:cNvPr id="4" name="Text 2"/>
          <p:cNvSpPr/>
          <p:nvPr/>
        </p:nvSpPr>
        <p:spPr>
          <a:xfrm>
            <a:off x="4572000" y="205742"/>
            <a:ext cx="5221224" cy="256031"/>
          </a:xfrm>
          <a:prstGeom prst="rect">
            <a:avLst/>
          </a:prstGeom>
          <a:noFill/>
          <a:ln/>
        </p:spPr>
        <p:txBody>
          <a:bodyPr wrap="square" lIns="0" tIns="0" rIns="0" bIns="0" rtlCol="0" anchor="ctr"/>
          <a:lstStyle/>
          <a:p>
            <a:pPr marL="0" indent="0">
              <a:buNone/>
            </a:pPr>
            <a:r>
              <a:rPr lang="en-US" sz="1100" i="1" dirty="0">
                <a:solidFill>
                  <a:srgbClr val="FFD0D5"/>
                </a:solidFill>
                <a:latin typeface="Calibri" pitchFamily="34" charset="0"/>
                <a:ea typeface="Calibri" pitchFamily="34" charset="-122"/>
                <a:cs typeface="Calibri" pitchFamily="34" charset="-120"/>
              </a:rPr>
              <a:t>End-to-End BI Workflow: Import → Model → DAX → Visualize</a:t>
            </a:r>
            <a:endParaRPr lang="en-US" sz="1100" dirty="0"/>
          </a:p>
        </p:txBody>
      </p:sp>
      <p:sp>
        <p:nvSpPr>
          <p:cNvPr id="5" name="Shape 3"/>
          <p:cNvSpPr/>
          <p:nvPr/>
        </p:nvSpPr>
        <p:spPr>
          <a:xfrm>
            <a:off x="0" y="4960620"/>
            <a:ext cx="9144000" cy="182880"/>
          </a:xfrm>
          <a:prstGeom prst="rect">
            <a:avLst/>
          </a:prstGeom>
          <a:solidFill>
            <a:srgbClr val="E23744"/>
          </a:solidFill>
          <a:ln/>
        </p:spPr>
      </p:sp>
      <p:sp>
        <p:nvSpPr>
          <p:cNvPr id="6" name="Text 4"/>
          <p:cNvSpPr/>
          <p:nvPr/>
        </p:nvSpPr>
        <p:spPr>
          <a:xfrm>
            <a:off x="274320" y="4965192"/>
            <a:ext cx="6400800" cy="164592"/>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Zomato Market Intelligence Dashboard  •  Data Analytics Project</a:t>
            </a:r>
            <a:endParaRPr lang="en-US" sz="800" dirty="0"/>
          </a:p>
        </p:txBody>
      </p:sp>
      <p:sp>
        <p:nvSpPr>
          <p:cNvPr id="7" name="Text 5"/>
          <p:cNvSpPr/>
          <p:nvPr/>
        </p:nvSpPr>
        <p:spPr>
          <a:xfrm>
            <a:off x="8046720" y="4965192"/>
            <a:ext cx="822960" cy="164592"/>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9 / 15</a:t>
            </a:r>
            <a:endParaRPr lang="en-US" sz="800" dirty="0"/>
          </a:p>
        </p:txBody>
      </p:sp>
      <p:sp>
        <p:nvSpPr>
          <p:cNvPr id="8" name="Shape 6"/>
          <p:cNvSpPr/>
          <p:nvPr/>
        </p:nvSpPr>
        <p:spPr>
          <a:xfrm>
            <a:off x="228600" y="841248"/>
            <a:ext cx="1572768" cy="1005840"/>
          </a:xfrm>
          <a:prstGeom prst="rect">
            <a:avLst/>
          </a:prstGeom>
          <a:solidFill>
            <a:srgbClr val="E23744"/>
          </a:solidFill>
          <a:ln w="12700">
            <a:solidFill>
              <a:srgbClr val="E2E8F0"/>
            </a:solidFill>
            <a:prstDash val="solid"/>
          </a:ln>
          <a:effectLst>
            <a:outerShdw blurRad="101600" dist="38100" dir="8100000" algn="bl" rotWithShape="0">
              <a:srgbClr val="000000">
                <a:alpha val="10000"/>
              </a:srgbClr>
            </a:outerShdw>
          </a:effectLst>
        </p:spPr>
      </p:sp>
      <p:sp>
        <p:nvSpPr>
          <p:cNvPr id="9" name="Text 7"/>
          <p:cNvSpPr/>
          <p:nvPr/>
        </p:nvSpPr>
        <p:spPr>
          <a:xfrm>
            <a:off x="228600" y="886968"/>
            <a:ext cx="1572768" cy="411480"/>
          </a:xfrm>
          <a:prstGeom prst="rect">
            <a:avLst/>
          </a:prstGeom>
          <a:noFill/>
          <a:ln/>
        </p:spPr>
        <p:txBody>
          <a:bodyPr wrap="square" lIns="0" tIns="0" rIns="0" bIns="0" rtlCol="0" anchor="ctr"/>
          <a:lstStyle/>
          <a:p>
            <a:pPr marL="0" indent="0" algn="ctr">
              <a:buNone/>
            </a:pPr>
            <a:r>
              <a:rPr lang="en-US" sz="2200" b="1" dirty="0">
                <a:solidFill>
                  <a:srgbClr val="000000"/>
                </a:solidFill>
                <a:latin typeface="Calibri" pitchFamily="34" charset="0"/>
                <a:ea typeface="Calibri" pitchFamily="34" charset="-122"/>
                <a:cs typeface="Calibri" pitchFamily="34" charset="-120"/>
              </a:rPr>
              <a:t>1</a:t>
            </a:r>
            <a:endParaRPr lang="en-US" sz="2200" dirty="0"/>
          </a:p>
        </p:txBody>
      </p:sp>
      <p:sp>
        <p:nvSpPr>
          <p:cNvPr id="10" name="Text 8"/>
          <p:cNvSpPr/>
          <p:nvPr/>
        </p:nvSpPr>
        <p:spPr>
          <a:xfrm>
            <a:off x="320040" y="1252728"/>
            <a:ext cx="1389888" cy="53035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Data Import</a:t>
            </a:r>
            <a:endParaRPr lang="en-US" sz="1050" dirty="0"/>
          </a:p>
        </p:txBody>
      </p:sp>
      <p:sp>
        <p:nvSpPr>
          <p:cNvPr id="11" name="Shape 9"/>
          <p:cNvSpPr/>
          <p:nvPr/>
        </p:nvSpPr>
        <p:spPr>
          <a:xfrm>
            <a:off x="1801368" y="1344168"/>
            <a:ext cx="182880" cy="0"/>
          </a:xfrm>
          <a:prstGeom prst="line">
            <a:avLst/>
          </a:prstGeom>
          <a:noFill/>
          <a:ln w="25400">
            <a:solidFill>
              <a:srgbClr val="64748B"/>
            </a:solidFill>
            <a:prstDash val="solid"/>
          </a:ln>
        </p:spPr>
      </p:sp>
      <p:sp>
        <p:nvSpPr>
          <p:cNvPr id="12" name="Shape 10"/>
          <p:cNvSpPr/>
          <p:nvPr/>
        </p:nvSpPr>
        <p:spPr>
          <a:xfrm>
            <a:off x="1984248" y="841248"/>
            <a:ext cx="1572768" cy="1005840"/>
          </a:xfrm>
          <a:prstGeom prst="rect">
            <a:avLst/>
          </a:prstGeom>
          <a:solidFill>
            <a:srgbClr val="0891B2"/>
          </a:solidFill>
          <a:ln w="12700">
            <a:solidFill>
              <a:srgbClr val="E2E8F0"/>
            </a:solidFill>
            <a:prstDash val="solid"/>
          </a:ln>
          <a:effectLst>
            <a:outerShdw blurRad="101600" dist="38100" dir="8100000" algn="bl" rotWithShape="0">
              <a:srgbClr val="000000">
                <a:alpha val="10000"/>
              </a:srgbClr>
            </a:outerShdw>
          </a:effectLst>
        </p:spPr>
      </p:sp>
      <p:sp>
        <p:nvSpPr>
          <p:cNvPr id="13" name="Text 11"/>
          <p:cNvSpPr/>
          <p:nvPr/>
        </p:nvSpPr>
        <p:spPr>
          <a:xfrm>
            <a:off x="1984248" y="886968"/>
            <a:ext cx="1572768" cy="411480"/>
          </a:xfrm>
          <a:prstGeom prst="rect">
            <a:avLst/>
          </a:prstGeom>
          <a:noFill/>
          <a:ln/>
        </p:spPr>
        <p:txBody>
          <a:bodyPr wrap="square" lIns="0" tIns="0" rIns="0" bIns="0" rtlCol="0" anchor="ctr"/>
          <a:lstStyle/>
          <a:p>
            <a:pPr marL="0" indent="0" algn="ctr">
              <a:buNone/>
            </a:pPr>
            <a:r>
              <a:rPr lang="en-US" sz="2200" b="1" dirty="0">
                <a:solidFill>
                  <a:srgbClr val="000000"/>
                </a:solidFill>
                <a:latin typeface="Calibri" pitchFamily="34" charset="0"/>
                <a:ea typeface="Calibri" pitchFamily="34" charset="-122"/>
                <a:cs typeface="Calibri" pitchFamily="34" charset="-120"/>
              </a:rPr>
              <a:t>2</a:t>
            </a:r>
            <a:endParaRPr lang="en-US" sz="2200" dirty="0"/>
          </a:p>
        </p:txBody>
      </p:sp>
      <p:sp>
        <p:nvSpPr>
          <p:cNvPr id="14" name="Text 12"/>
          <p:cNvSpPr/>
          <p:nvPr/>
        </p:nvSpPr>
        <p:spPr>
          <a:xfrm>
            <a:off x="2075688" y="1252728"/>
            <a:ext cx="1389888" cy="53035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Data Modeling</a:t>
            </a:r>
            <a:endParaRPr lang="en-US" sz="1050" dirty="0"/>
          </a:p>
        </p:txBody>
      </p:sp>
      <p:sp>
        <p:nvSpPr>
          <p:cNvPr id="15" name="Shape 13"/>
          <p:cNvSpPr/>
          <p:nvPr/>
        </p:nvSpPr>
        <p:spPr>
          <a:xfrm>
            <a:off x="3557016" y="1344168"/>
            <a:ext cx="182880" cy="0"/>
          </a:xfrm>
          <a:prstGeom prst="line">
            <a:avLst/>
          </a:prstGeom>
          <a:noFill/>
          <a:ln w="25400">
            <a:solidFill>
              <a:srgbClr val="64748B"/>
            </a:solidFill>
            <a:prstDash val="solid"/>
          </a:ln>
        </p:spPr>
      </p:sp>
      <p:sp>
        <p:nvSpPr>
          <p:cNvPr id="16" name="Shape 14"/>
          <p:cNvSpPr/>
          <p:nvPr/>
        </p:nvSpPr>
        <p:spPr>
          <a:xfrm>
            <a:off x="3739896" y="841248"/>
            <a:ext cx="1572768" cy="1005840"/>
          </a:xfrm>
          <a:prstGeom prst="rect">
            <a:avLst/>
          </a:prstGeom>
          <a:solidFill>
            <a:srgbClr val="10B981"/>
          </a:solidFill>
          <a:ln w="12700">
            <a:solidFill>
              <a:srgbClr val="E2E8F0"/>
            </a:solidFill>
            <a:prstDash val="solid"/>
          </a:ln>
          <a:effectLst>
            <a:outerShdw blurRad="101600" dist="38100" dir="8100000" algn="bl" rotWithShape="0">
              <a:srgbClr val="000000">
                <a:alpha val="10000"/>
              </a:srgbClr>
            </a:outerShdw>
          </a:effectLst>
        </p:spPr>
      </p:sp>
      <p:sp>
        <p:nvSpPr>
          <p:cNvPr id="17" name="Text 15"/>
          <p:cNvSpPr/>
          <p:nvPr/>
        </p:nvSpPr>
        <p:spPr>
          <a:xfrm>
            <a:off x="3739896" y="886968"/>
            <a:ext cx="1572768" cy="411480"/>
          </a:xfrm>
          <a:prstGeom prst="rect">
            <a:avLst/>
          </a:prstGeom>
          <a:noFill/>
          <a:ln/>
        </p:spPr>
        <p:txBody>
          <a:bodyPr wrap="square" lIns="0" tIns="0" rIns="0" bIns="0" rtlCol="0" anchor="ctr"/>
          <a:lstStyle/>
          <a:p>
            <a:pPr marL="0" indent="0" algn="ctr">
              <a:buNone/>
            </a:pPr>
            <a:r>
              <a:rPr lang="en-US" sz="2200" b="1" dirty="0">
                <a:solidFill>
                  <a:srgbClr val="000000"/>
                </a:solidFill>
                <a:latin typeface="Calibri" pitchFamily="34" charset="0"/>
                <a:ea typeface="Calibri" pitchFamily="34" charset="-122"/>
                <a:cs typeface="Calibri" pitchFamily="34" charset="-120"/>
              </a:rPr>
              <a:t>3</a:t>
            </a:r>
            <a:endParaRPr lang="en-US" sz="2200" dirty="0"/>
          </a:p>
        </p:txBody>
      </p:sp>
      <p:sp>
        <p:nvSpPr>
          <p:cNvPr id="18" name="Text 16"/>
          <p:cNvSpPr/>
          <p:nvPr/>
        </p:nvSpPr>
        <p:spPr>
          <a:xfrm>
            <a:off x="3831336" y="1252728"/>
            <a:ext cx="1389888" cy="53035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Relationships</a:t>
            </a:r>
            <a:endParaRPr lang="en-US" sz="1050" dirty="0"/>
          </a:p>
        </p:txBody>
      </p:sp>
      <p:sp>
        <p:nvSpPr>
          <p:cNvPr id="19" name="Shape 17"/>
          <p:cNvSpPr/>
          <p:nvPr/>
        </p:nvSpPr>
        <p:spPr>
          <a:xfrm>
            <a:off x="5312664" y="1344168"/>
            <a:ext cx="182880" cy="0"/>
          </a:xfrm>
          <a:prstGeom prst="line">
            <a:avLst/>
          </a:prstGeom>
          <a:noFill/>
          <a:ln w="25400">
            <a:solidFill>
              <a:srgbClr val="64748B"/>
            </a:solidFill>
            <a:prstDash val="solid"/>
          </a:ln>
        </p:spPr>
      </p:sp>
      <p:sp>
        <p:nvSpPr>
          <p:cNvPr id="20" name="Shape 18"/>
          <p:cNvSpPr/>
          <p:nvPr/>
        </p:nvSpPr>
        <p:spPr>
          <a:xfrm>
            <a:off x="5495544" y="841248"/>
            <a:ext cx="1572768" cy="1005840"/>
          </a:xfrm>
          <a:prstGeom prst="rect">
            <a:avLst/>
          </a:prstGeom>
          <a:solidFill>
            <a:srgbClr val="F97316"/>
          </a:solidFill>
          <a:ln w="12700">
            <a:solidFill>
              <a:srgbClr val="E2E8F0"/>
            </a:solidFill>
            <a:prstDash val="solid"/>
          </a:ln>
          <a:effectLst>
            <a:outerShdw blurRad="101600" dist="38100" dir="8100000" algn="bl" rotWithShape="0">
              <a:srgbClr val="000000">
                <a:alpha val="10000"/>
              </a:srgbClr>
            </a:outerShdw>
          </a:effectLst>
        </p:spPr>
      </p:sp>
      <p:sp>
        <p:nvSpPr>
          <p:cNvPr id="21" name="Text 19"/>
          <p:cNvSpPr/>
          <p:nvPr/>
        </p:nvSpPr>
        <p:spPr>
          <a:xfrm>
            <a:off x="5495544" y="886968"/>
            <a:ext cx="1572768" cy="411480"/>
          </a:xfrm>
          <a:prstGeom prst="rect">
            <a:avLst/>
          </a:prstGeom>
          <a:noFill/>
          <a:ln/>
        </p:spPr>
        <p:txBody>
          <a:bodyPr wrap="square" lIns="0" tIns="0" rIns="0" bIns="0" rtlCol="0" anchor="ctr"/>
          <a:lstStyle/>
          <a:p>
            <a:pPr marL="0" indent="0" algn="ctr">
              <a:buNone/>
            </a:pPr>
            <a:r>
              <a:rPr lang="en-US" sz="2200" b="1" dirty="0">
                <a:solidFill>
                  <a:srgbClr val="000000"/>
                </a:solidFill>
                <a:latin typeface="Calibri" pitchFamily="34" charset="0"/>
                <a:ea typeface="Calibri" pitchFamily="34" charset="-122"/>
                <a:cs typeface="Calibri" pitchFamily="34" charset="-120"/>
              </a:rPr>
              <a:t>4</a:t>
            </a:r>
            <a:endParaRPr lang="en-US" sz="2200" dirty="0"/>
          </a:p>
        </p:txBody>
      </p:sp>
      <p:sp>
        <p:nvSpPr>
          <p:cNvPr id="22" name="Text 20"/>
          <p:cNvSpPr/>
          <p:nvPr/>
        </p:nvSpPr>
        <p:spPr>
          <a:xfrm>
            <a:off x="5586984" y="1252728"/>
            <a:ext cx="1389888" cy="53035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DAX Measures</a:t>
            </a:r>
            <a:endParaRPr lang="en-US" sz="1050" dirty="0"/>
          </a:p>
        </p:txBody>
      </p:sp>
      <p:sp>
        <p:nvSpPr>
          <p:cNvPr id="23" name="Shape 21"/>
          <p:cNvSpPr/>
          <p:nvPr/>
        </p:nvSpPr>
        <p:spPr>
          <a:xfrm>
            <a:off x="7068312" y="1344168"/>
            <a:ext cx="182880" cy="0"/>
          </a:xfrm>
          <a:prstGeom prst="line">
            <a:avLst/>
          </a:prstGeom>
          <a:noFill/>
          <a:ln w="25400">
            <a:solidFill>
              <a:srgbClr val="64748B"/>
            </a:solidFill>
            <a:prstDash val="solid"/>
          </a:ln>
        </p:spPr>
      </p:sp>
      <p:sp>
        <p:nvSpPr>
          <p:cNvPr id="24" name="Shape 22"/>
          <p:cNvSpPr/>
          <p:nvPr/>
        </p:nvSpPr>
        <p:spPr>
          <a:xfrm>
            <a:off x="7251192" y="841248"/>
            <a:ext cx="1572768" cy="1005840"/>
          </a:xfrm>
          <a:prstGeom prst="rect">
            <a:avLst/>
          </a:prstGeom>
          <a:solidFill>
            <a:srgbClr val="6366F1"/>
          </a:solidFill>
          <a:ln w="12700">
            <a:solidFill>
              <a:srgbClr val="E2E8F0"/>
            </a:solidFill>
            <a:prstDash val="solid"/>
          </a:ln>
          <a:effectLst>
            <a:outerShdw blurRad="101600" dist="38100" dir="8100000" algn="bl" rotWithShape="0">
              <a:srgbClr val="000000">
                <a:alpha val="10000"/>
              </a:srgbClr>
            </a:outerShdw>
          </a:effectLst>
        </p:spPr>
      </p:sp>
      <p:sp>
        <p:nvSpPr>
          <p:cNvPr id="25" name="Text 23"/>
          <p:cNvSpPr/>
          <p:nvPr/>
        </p:nvSpPr>
        <p:spPr>
          <a:xfrm>
            <a:off x="7251192" y="886968"/>
            <a:ext cx="1572768" cy="411480"/>
          </a:xfrm>
          <a:prstGeom prst="rect">
            <a:avLst/>
          </a:prstGeom>
          <a:noFill/>
          <a:ln/>
        </p:spPr>
        <p:txBody>
          <a:bodyPr wrap="square" lIns="0" tIns="0" rIns="0" bIns="0" rtlCol="0" anchor="ctr"/>
          <a:lstStyle/>
          <a:p>
            <a:pPr marL="0" indent="0" algn="ctr">
              <a:buNone/>
            </a:pPr>
            <a:r>
              <a:rPr lang="en-US" sz="2200" b="1" dirty="0">
                <a:solidFill>
                  <a:srgbClr val="000000"/>
                </a:solidFill>
                <a:latin typeface="Calibri" pitchFamily="34" charset="0"/>
                <a:ea typeface="Calibri" pitchFamily="34" charset="-122"/>
                <a:cs typeface="Calibri" pitchFamily="34" charset="-120"/>
              </a:rPr>
              <a:t>5</a:t>
            </a:r>
            <a:endParaRPr lang="en-US" sz="2200" dirty="0"/>
          </a:p>
        </p:txBody>
      </p:sp>
      <p:sp>
        <p:nvSpPr>
          <p:cNvPr id="26" name="Text 24"/>
          <p:cNvSpPr/>
          <p:nvPr/>
        </p:nvSpPr>
        <p:spPr>
          <a:xfrm>
            <a:off x="7342632" y="1252728"/>
            <a:ext cx="1389888" cy="53035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Dashboard Design</a:t>
            </a:r>
            <a:endParaRPr lang="en-US" sz="1050" dirty="0"/>
          </a:p>
        </p:txBody>
      </p:sp>
      <p:sp>
        <p:nvSpPr>
          <p:cNvPr id="27" name="Text 25"/>
          <p:cNvSpPr/>
          <p:nvPr/>
        </p:nvSpPr>
        <p:spPr>
          <a:xfrm>
            <a:off x="228600" y="2011680"/>
            <a:ext cx="4114800" cy="274320"/>
          </a:xfrm>
          <a:prstGeom prst="rect">
            <a:avLst/>
          </a:prstGeom>
          <a:noFill/>
          <a:ln/>
        </p:spPr>
        <p:txBody>
          <a:bodyPr wrap="square" lIns="0" tIns="0" rIns="0" bIns="0" rtlCol="0" anchor="ctr"/>
          <a:lstStyle/>
          <a:p>
            <a:pPr marL="0" indent="0">
              <a:buNone/>
            </a:pPr>
            <a:r>
              <a:rPr lang="en-US" sz="1100" b="1" kern="0" spc="100" dirty="0">
                <a:solidFill>
                  <a:srgbClr val="E23744"/>
                </a:solidFill>
                <a:latin typeface="Calibri" pitchFamily="34" charset="0"/>
                <a:ea typeface="Calibri" pitchFamily="34" charset="-122"/>
                <a:cs typeface="Calibri" pitchFamily="34" charset="-120"/>
              </a:rPr>
              <a:t>DAX MEASURES CREATED</a:t>
            </a:r>
            <a:endParaRPr lang="en-US" sz="1100" dirty="0"/>
          </a:p>
        </p:txBody>
      </p:sp>
      <p:sp>
        <p:nvSpPr>
          <p:cNvPr id="28" name="Shape 26"/>
          <p:cNvSpPr/>
          <p:nvPr/>
        </p:nvSpPr>
        <p:spPr>
          <a:xfrm>
            <a:off x="228600" y="2359152"/>
            <a:ext cx="4114800" cy="420624"/>
          </a:xfrm>
          <a:prstGeom prst="rect">
            <a:avLst/>
          </a:prstGeom>
          <a:solidFill>
            <a:srgbClr val="F1F5F9"/>
          </a:solidFill>
          <a:ln w="12700">
            <a:solidFill>
              <a:srgbClr val="E2E8F0"/>
            </a:solidFill>
            <a:prstDash val="solid"/>
          </a:ln>
        </p:spPr>
      </p:sp>
      <p:sp>
        <p:nvSpPr>
          <p:cNvPr id="29" name="Text 27"/>
          <p:cNvSpPr/>
          <p:nvPr/>
        </p:nvSpPr>
        <p:spPr>
          <a:xfrm>
            <a:off x="384048" y="2377440"/>
            <a:ext cx="1645920" cy="347472"/>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Total Revenue</a:t>
            </a:r>
            <a:endParaRPr lang="en-US" sz="1000" dirty="0"/>
          </a:p>
        </p:txBody>
      </p:sp>
      <p:sp>
        <p:nvSpPr>
          <p:cNvPr id="30" name="Text 28"/>
          <p:cNvSpPr/>
          <p:nvPr/>
        </p:nvSpPr>
        <p:spPr>
          <a:xfrm>
            <a:off x="2011680" y="2377440"/>
            <a:ext cx="2194560" cy="347472"/>
          </a:xfrm>
          <a:prstGeom prst="rect">
            <a:avLst/>
          </a:prstGeom>
          <a:noFill/>
          <a:ln/>
        </p:spPr>
        <p:txBody>
          <a:bodyPr wrap="square" lIns="0" tIns="0" rIns="0" bIns="0" rtlCol="0" anchor="ctr"/>
          <a:lstStyle/>
          <a:p>
            <a:pPr marL="0" indent="0">
              <a:buNone/>
            </a:pPr>
            <a:r>
              <a:rPr lang="en-US" sz="950" dirty="0">
                <a:solidFill>
                  <a:srgbClr val="E23744"/>
                </a:solidFill>
                <a:latin typeface="Consolas" pitchFamily="34" charset="0"/>
                <a:ea typeface="Consolas" pitchFamily="34" charset="-122"/>
                <a:cs typeface="Consolas" pitchFamily="34" charset="-120"/>
              </a:rPr>
              <a:t>= SUM(orders[sales_amount])</a:t>
            </a:r>
            <a:endParaRPr lang="en-US" sz="950" dirty="0"/>
          </a:p>
        </p:txBody>
      </p:sp>
      <p:sp>
        <p:nvSpPr>
          <p:cNvPr id="31" name="Shape 29"/>
          <p:cNvSpPr/>
          <p:nvPr/>
        </p:nvSpPr>
        <p:spPr>
          <a:xfrm>
            <a:off x="228600" y="2852928"/>
            <a:ext cx="4114800" cy="420624"/>
          </a:xfrm>
          <a:prstGeom prst="rect">
            <a:avLst/>
          </a:prstGeom>
          <a:solidFill>
            <a:srgbClr val="F1F5F9"/>
          </a:solidFill>
          <a:ln w="12700">
            <a:solidFill>
              <a:srgbClr val="E2E8F0"/>
            </a:solidFill>
            <a:prstDash val="solid"/>
          </a:ln>
        </p:spPr>
      </p:sp>
      <p:sp>
        <p:nvSpPr>
          <p:cNvPr id="32" name="Text 30"/>
          <p:cNvSpPr/>
          <p:nvPr/>
        </p:nvSpPr>
        <p:spPr>
          <a:xfrm>
            <a:off x="384048" y="2871216"/>
            <a:ext cx="1645920" cy="347472"/>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Avg Order Value</a:t>
            </a:r>
            <a:endParaRPr lang="en-US" sz="1000" dirty="0"/>
          </a:p>
        </p:txBody>
      </p:sp>
      <p:sp>
        <p:nvSpPr>
          <p:cNvPr id="33" name="Text 31"/>
          <p:cNvSpPr/>
          <p:nvPr/>
        </p:nvSpPr>
        <p:spPr>
          <a:xfrm>
            <a:off x="2011680" y="2871216"/>
            <a:ext cx="2194560" cy="347472"/>
          </a:xfrm>
          <a:prstGeom prst="rect">
            <a:avLst/>
          </a:prstGeom>
          <a:noFill/>
          <a:ln/>
        </p:spPr>
        <p:txBody>
          <a:bodyPr wrap="square" lIns="0" tIns="0" rIns="0" bIns="0" rtlCol="0" anchor="ctr"/>
          <a:lstStyle/>
          <a:p>
            <a:pPr marL="0" indent="0">
              <a:buNone/>
            </a:pPr>
            <a:r>
              <a:rPr lang="en-US" sz="950" dirty="0">
                <a:solidFill>
                  <a:srgbClr val="E23744"/>
                </a:solidFill>
                <a:latin typeface="Consolas" pitchFamily="34" charset="0"/>
                <a:ea typeface="Consolas" pitchFamily="34" charset="-122"/>
                <a:cs typeface="Consolas" pitchFamily="34" charset="-120"/>
              </a:rPr>
              <a:t>= AVERAGE(orders[sales_amount])</a:t>
            </a:r>
            <a:endParaRPr lang="en-US" sz="950" dirty="0"/>
          </a:p>
        </p:txBody>
      </p:sp>
      <p:sp>
        <p:nvSpPr>
          <p:cNvPr id="34" name="Shape 32"/>
          <p:cNvSpPr/>
          <p:nvPr/>
        </p:nvSpPr>
        <p:spPr>
          <a:xfrm>
            <a:off x="228600" y="3346704"/>
            <a:ext cx="4114800" cy="420624"/>
          </a:xfrm>
          <a:prstGeom prst="rect">
            <a:avLst/>
          </a:prstGeom>
          <a:solidFill>
            <a:srgbClr val="F1F5F9"/>
          </a:solidFill>
          <a:ln w="12700">
            <a:solidFill>
              <a:srgbClr val="E2E8F0"/>
            </a:solidFill>
            <a:prstDash val="solid"/>
          </a:ln>
        </p:spPr>
      </p:sp>
      <p:sp>
        <p:nvSpPr>
          <p:cNvPr id="35" name="Text 33"/>
          <p:cNvSpPr/>
          <p:nvPr/>
        </p:nvSpPr>
        <p:spPr>
          <a:xfrm>
            <a:off x="384048" y="3364992"/>
            <a:ext cx="1645920" cy="347472"/>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Total Orders</a:t>
            </a:r>
            <a:endParaRPr lang="en-US" sz="1000" dirty="0"/>
          </a:p>
        </p:txBody>
      </p:sp>
      <p:sp>
        <p:nvSpPr>
          <p:cNvPr id="36" name="Text 34"/>
          <p:cNvSpPr/>
          <p:nvPr/>
        </p:nvSpPr>
        <p:spPr>
          <a:xfrm>
            <a:off x="2011680" y="3364992"/>
            <a:ext cx="2194560" cy="347472"/>
          </a:xfrm>
          <a:prstGeom prst="rect">
            <a:avLst/>
          </a:prstGeom>
          <a:noFill/>
          <a:ln/>
        </p:spPr>
        <p:txBody>
          <a:bodyPr wrap="square" lIns="0" tIns="0" rIns="0" bIns="0" rtlCol="0" anchor="ctr"/>
          <a:lstStyle/>
          <a:p>
            <a:pPr marL="0" indent="0">
              <a:buNone/>
            </a:pPr>
            <a:r>
              <a:rPr lang="en-US" sz="950" dirty="0">
                <a:solidFill>
                  <a:srgbClr val="E23744"/>
                </a:solidFill>
                <a:latin typeface="Consolas" pitchFamily="34" charset="0"/>
                <a:ea typeface="Consolas" pitchFamily="34" charset="-122"/>
                <a:cs typeface="Consolas" pitchFamily="34" charset="-120"/>
              </a:rPr>
              <a:t>= COUNTROWS(orders)</a:t>
            </a:r>
            <a:endParaRPr lang="en-US" sz="950" dirty="0"/>
          </a:p>
        </p:txBody>
      </p:sp>
      <p:sp>
        <p:nvSpPr>
          <p:cNvPr id="37" name="Shape 35"/>
          <p:cNvSpPr/>
          <p:nvPr/>
        </p:nvSpPr>
        <p:spPr>
          <a:xfrm>
            <a:off x="228600" y="3840480"/>
            <a:ext cx="4114800" cy="420624"/>
          </a:xfrm>
          <a:prstGeom prst="rect">
            <a:avLst/>
          </a:prstGeom>
          <a:solidFill>
            <a:srgbClr val="F1F5F9"/>
          </a:solidFill>
          <a:ln w="12700">
            <a:solidFill>
              <a:srgbClr val="E2E8F0"/>
            </a:solidFill>
            <a:prstDash val="solid"/>
          </a:ln>
        </p:spPr>
      </p:sp>
      <p:sp>
        <p:nvSpPr>
          <p:cNvPr id="38" name="Text 36"/>
          <p:cNvSpPr/>
          <p:nvPr/>
        </p:nvSpPr>
        <p:spPr>
          <a:xfrm>
            <a:off x="384048" y="3858768"/>
            <a:ext cx="1645920" cy="347472"/>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Avg Delivery Time</a:t>
            </a:r>
            <a:endParaRPr lang="en-US" sz="1000" dirty="0"/>
          </a:p>
        </p:txBody>
      </p:sp>
      <p:sp>
        <p:nvSpPr>
          <p:cNvPr id="39" name="Text 37"/>
          <p:cNvSpPr/>
          <p:nvPr/>
        </p:nvSpPr>
        <p:spPr>
          <a:xfrm>
            <a:off x="2011680" y="3858768"/>
            <a:ext cx="2194560" cy="347472"/>
          </a:xfrm>
          <a:prstGeom prst="rect">
            <a:avLst/>
          </a:prstGeom>
          <a:noFill/>
          <a:ln/>
        </p:spPr>
        <p:txBody>
          <a:bodyPr wrap="square" lIns="0" tIns="0" rIns="0" bIns="0" rtlCol="0" anchor="ctr"/>
          <a:lstStyle/>
          <a:p>
            <a:pPr marL="0" indent="0">
              <a:buNone/>
            </a:pPr>
            <a:r>
              <a:rPr lang="en-US" sz="950" dirty="0">
                <a:solidFill>
                  <a:srgbClr val="E23744"/>
                </a:solidFill>
                <a:latin typeface="Consolas" pitchFamily="34" charset="0"/>
                <a:ea typeface="Consolas" pitchFamily="34" charset="-122"/>
                <a:cs typeface="Consolas" pitchFamily="34" charset="-120"/>
              </a:rPr>
              <a:t>= AVERAGE(delivery[Time_taken (min)])</a:t>
            </a:r>
            <a:endParaRPr lang="en-US" sz="950" dirty="0"/>
          </a:p>
        </p:txBody>
      </p:sp>
      <p:sp>
        <p:nvSpPr>
          <p:cNvPr id="40" name="Shape 38"/>
          <p:cNvSpPr/>
          <p:nvPr/>
        </p:nvSpPr>
        <p:spPr>
          <a:xfrm>
            <a:off x="228600" y="4334256"/>
            <a:ext cx="4114800" cy="420624"/>
          </a:xfrm>
          <a:prstGeom prst="rect">
            <a:avLst/>
          </a:prstGeom>
          <a:solidFill>
            <a:srgbClr val="F1F5F9"/>
          </a:solidFill>
          <a:ln w="12700">
            <a:solidFill>
              <a:srgbClr val="E2E8F0"/>
            </a:solidFill>
            <a:prstDash val="solid"/>
          </a:ln>
        </p:spPr>
      </p:sp>
      <p:sp>
        <p:nvSpPr>
          <p:cNvPr id="41" name="Text 39"/>
          <p:cNvSpPr/>
          <p:nvPr/>
        </p:nvSpPr>
        <p:spPr>
          <a:xfrm>
            <a:off x="384048" y="4352544"/>
            <a:ext cx="1645920" cy="347472"/>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Avg Rating</a:t>
            </a:r>
            <a:endParaRPr lang="en-US" sz="1000" dirty="0"/>
          </a:p>
        </p:txBody>
      </p:sp>
      <p:sp>
        <p:nvSpPr>
          <p:cNvPr id="42" name="Text 40"/>
          <p:cNvSpPr/>
          <p:nvPr/>
        </p:nvSpPr>
        <p:spPr>
          <a:xfrm>
            <a:off x="2011680" y="4352544"/>
            <a:ext cx="2194560" cy="347472"/>
          </a:xfrm>
          <a:prstGeom prst="rect">
            <a:avLst/>
          </a:prstGeom>
          <a:noFill/>
          <a:ln/>
        </p:spPr>
        <p:txBody>
          <a:bodyPr wrap="square" lIns="0" tIns="0" rIns="0" bIns="0" rtlCol="0" anchor="ctr"/>
          <a:lstStyle/>
          <a:p>
            <a:pPr marL="0" indent="0">
              <a:buNone/>
            </a:pPr>
            <a:r>
              <a:rPr lang="en-US" sz="950" dirty="0">
                <a:solidFill>
                  <a:srgbClr val="E23744"/>
                </a:solidFill>
                <a:latin typeface="Consolas" pitchFamily="34" charset="0"/>
                <a:ea typeface="Consolas" pitchFamily="34" charset="-122"/>
                <a:cs typeface="Consolas" pitchFamily="34" charset="-120"/>
              </a:rPr>
              <a:t>= AVERAGE(restaurant[rating])</a:t>
            </a:r>
            <a:endParaRPr lang="en-US" sz="950" dirty="0"/>
          </a:p>
        </p:txBody>
      </p:sp>
      <p:sp>
        <p:nvSpPr>
          <p:cNvPr id="43" name="Text 41"/>
          <p:cNvSpPr/>
          <p:nvPr/>
        </p:nvSpPr>
        <p:spPr>
          <a:xfrm>
            <a:off x="4572000" y="2011680"/>
            <a:ext cx="4343400" cy="274320"/>
          </a:xfrm>
          <a:prstGeom prst="rect">
            <a:avLst/>
          </a:prstGeom>
          <a:noFill/>
          <a:ln/>
        </p:spPr>
        <p:txBody>
          <a:bodyPr wrap="square" lIns="0" tIns="0" rIns="0" bIns="0" rtlCol="0" anchor="ctr"/>
          <a:lstStyle/>
          <a:p>
            <a:pPr marL="0" indent="0">
              <a:buNone/>
            </a:pPr>
            <a:r>
              <a:rPr lang="en-US" sz="1100" b="1" kern="0" spc="100" dirty="0">
                <a:solidFill>
                  <a:srgbClr val="0891B2"/>
                </a:solidFill>
                <a:latin typeface="Calibri" pitchFamily="34" charset="0"/>
                <a:ea typeface="Calibri" pitchFamily="34" charset="-122"/>
                <a:cs typeface="Calibri" pitchFamily="34" charset="-120"/>
              </a:rPr>
              <a:t>INTERACTIVE FEATURES</a:t>
            </a:r>
            <a:endParaRPr lang="en-US" sz="1100" dirty="0"/>
          </a:p>
        </p:txBody>
      </p:sp>
      <p:sp>
        <p:nvSpPr>
          <p:cNvPr id="44" name="Shape 42"/>
          <p:cNvSpPr/>
          <p:nvPr/>
        </p:nvSpPr>
        <p:spPr>
          <a:xfrm>
            <a:off x="4572000" y="2359152"/>
            <a:ext cx="4343400" cy="420624"/>
          </a:xfrm>
          <a:prstGeom prst="rect">
            <a:avLst/>
          </a:prstGeom>
          <a:solidFill>
            <a:srgbClr val="F1F5F9"/>
          </a:solidFill>
          <a:ln w="12700">
            <a:solidFill>
              <a:srgbClr val="E2E8F0"/>
            </a:solidFill>
            <a:prstDash val="solid"/>
          </a:ln>
        </p:spPr>
      </p:sp>
      <p:sp>
        <p:nvSpPr>
          <p:cNvPr id="45" name="Text 43"/>
          <p:cNvSpPr/>
          <p:nvPr/>
        </p:nvSpPr>
        <p:spPr>
          <a:xfrm>
            <a:off x="4709160" y="2377440"/>
            <a:ext cx="1645920" cy="347472"/>
          </a:xfrm>
          <a:prstGeom prst="rect">
            <a:avLst/>
          </a:prstGeom>
          <a:noFill/>
          <a:ln/>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  City Slicer</a:t>
            </a:r>
            <a:endParaRPr lang="en-US" sz="1000" dirty="0"/>
          </a:p>
        </p:txBody>
      </p:sp>
      <p:sp>
        <p:nvSpPr>
          <p:cNvPr id="46" name="Text 44"/>
          <p:cNvSpPr/>
          <p:nvPr/>
        </p:nvSpPr>
        <p:spPr>
          <a:xfrm>
            <a:off x="6400800" y="2377440"/>
            <a:ext cx="2377440" cy="34747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Filter all visuals by selected city</a:t>
            </a:r>
            <a:endParaRPr lang="en-US" sz="1000" dirty="0"/>
          </a:p>
        </p:txBody>
      </p:sp>
      <p:sp>
        <p:nvSpPr>
          <p:cNvPr id="47" name="Shape 45"/>
          <p:cNvSpPr/>
          <p:nvPr/>
        </p:nvSpPr>
        <p:spPr>
          <a:xfrm>
            <a:off x="4572000" y="2852928"/>
            <a:ext cx="4343400" cy="420624"/>
          </a:xfrm>
          <a:prstGeom prst="rect">
            <a:avLst/>
          </a:prstGeom>
          <a:solidFill>
            <a:srgbClr val="F1F5F9"/>
          </a:solidFill>
          <a:ln w="12700">
            <a:solidFill>
              <a:srgbClr val="E2E8F0"/>
            </a:solidFill>
            <a:prstDash val="solid"/>
          </a:ln>
        </p:spPr>
      </p:sp>
      <p:sp>
        <p:nvSpPr>
          <p:cNvPr id="48" name="Text 46"/>
          <p:cNvSpPr/>
          <p:nvPr/>
        </p:nvSpPr>
        <p:spPr>
          <a:xfrm>
            <a:off x="4709160" y="2871216"/>
            <a:ext cx="1645920" cy="347472"/>
          </a:xfrm>
          <a:prstGeom prst="rect">
            <a:avLst/>
          </a:prstGeom>
          <a:noFill/>
          <a:ln/>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  Cuisine Filter</a:t>
            </a:r>
            <a:endParaRPr lang="en-US" sz="1000" dirty="0"/>
          </a:p>
        </p:txBody>
      </p:sp>
      <p:sp>
        <p:nvSpPr>
          <p:cNvPr id="49" name="Text 47"/>
          <p:cNvSpPr/>
          <p:nvPr/>
        </p:nvSpPr>
        <p:spPr>
          <a:xfrm>
            <a:off x="6400800" y="2871216"/>
            <a:ext cx="2377440" cy="34747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Drill down into specific cuisine types</a:t>
            </a:r>
            <a:endParaRPr lang="en-US" sz="1000" dirty="0"/>
          </a:p>
        </p:txBody>
      </p:sp>
      <p:sp>
        <p:nvSpPr>
          <p:cNvPr id="50" name="Shape 48"/>
          <p:cNvSpPr/>
          <p:nvPr/>
        </p:nvSpPr>
        <p:spPr>
          <a:xfrm>
            <a:off x="4572000" y="3346704"/>
            <a:ext cx="4343400" cy="420624"/>
          </a:xfrm>
          <a:prstGeom prst="rect">
            <a:avLst/>
          </a:prstGeom>
          <a:solidFill>
            <a:srgbClr val="F1F5F9"/>
          </a:solidFill>
          <a:ln w="12700">
            <a:solidFill>
              <a:srgbClr val="E2E8F0"/>
            </a:solidFill>
            <a:prstDash val="solid"/>
          </a:ln>
        </p:spPr>
      </p:sp>
      <p:sp>
        <p:nvSpPr>
          <p:cNvPr id="51" name="Text 49"/>
          <p:cNvSpPr/>
          <p:nvPr/>
        </p:nvSpPr>
        <p:spPr>
          <a:xfrm>
            <a:off x="4709160" y="3364992"/>
            <a:ext cx="1645920" cy="347472"/>
          </a:xfrm>
          <a:prstGeom prst="rect">
            <a:avLst/>
          </a:prstGeom>
          <a:noFill/>
          <a:ln/>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  Weather Dropdown</a:t>
            </a:r>
            <a:endParaRPr lang="en-US" sz="1000" dirty="0"/>
          </a:p>
        </p:txBody>
      </p:sp>
      <p:sp>
        <p:nvSpPr>
          <p:cNvPr id="52" name="Text 50"/>
          <p:cNvSpPr/>
          <p:nvPr/>
        </p:nvSpPr>
        <p:spPr>
          <a:xfrm>
            <a:off x="6400800" y="3364992"/>
            <a:ext cx="2377440" cy="34747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Analyze impact by weather condition</a:t>
            </a:r>
            <a:endParaRPr lang="en-US" sz="1000" dirty="0"/>
          </a:p>
        </p:txBody>
      </p:sp>
      <p:sp>
        <p:nvSpPr>
          <p:cNvPr id="53" name="Shape 51"/>
          <p:cNvSpPr/>
          <p:nvPr/>
        </p:nvSpPr>
        <p:spPr>
          <a:xfrm>
            <a:off x="4572000" y="3840480"/>
            <a:ext cx="4343400" cy="420624"/>
          </a:xfrm>
          <a:prstGeom prst="rect">
            <a:avLst/>
          </a:prstGeom>
          <a:solidFill>
            <a:srgbClr val="F1F5F9"/>
          </a:solidFill>
          <a:ln w="12700">
            <a:solidFill>
              <a:srgbClr val="E2E8F0"/>
            </a:solidFill>
            <a:prstDash val="solid"/>
          </a:ln>
        </p:spPr>
      </p:sp>
      <p:sp>
        <p:nvSpPr>
          <p:cNvPr id="54" name="Text 52"/>
          <p:cNvSpPr/>
          <p:nvPr/>
        </p:nvSpPr>
        <p:spPr>
          <a:xfrm>
            <a:off x="4709160" y="3858768"/>
            <a:ext cx="1645920" cy="347472"/>
          </a:xfrm>
          <a:prstGeom prst="rect">
            <a:avLst/>
          </a:prstGeom>
          <a:noFill/>
          <a:ln/>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  Cross-filtering</a:t>
            </a:r>
            <a:endParaRPr lang="en-US" sz="1000" dirty="0"/>
          </a:p>
        </p:txBody>
      </p:sp>
      <p:sp>
        <p:nvSpPr>
          <p:cNvPr id="55" name="Text 53"/>
          <p:cNvSpPr/>
          <p:nvPr/>
        </p:nvSpPr>
        <p:spPr>
          <a:xfrm>
            <a:off x="6400800" y="3858768"/>
            <a:ext cx="2377440" cy="34747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Click any chart to filter related visuals</a:t>
            </a:r>
            <a:endParaRPr lang="en-US" sz="1000" dirty="0"/>
          </a:p>
        </p:txBody>
      </p:sp>
      <p:sp>
        <p:nvSpPr>
          <p:cNvPr id="56" name="Shape 54"/>
          <p:cNvSpPr/>
          <p:nvPr/>
        </p:nvSpPr>
        <p:spPr>
          <a:xfrm>
            <a:off x="4572000" y="4334256"/>
            <a:ext cx="4343400" cy="420624"/>
          </a:xfrm>
          <a:prstGeom prst="rect">
            <a:avLst/>
          </a:prstGeom>
          <a:solidFill>
            <a:srgbClr val="F1F5F9"/>
          </a:solidFill>
          <a:ln w="12700">
            <a:solidFill>
              <a:srgbClr val="E2E8F0"/>
            </a:solidFill>
            <a:prstDash val="solid"/>
          </a:ln>
        </p:spPr>
      </p:sp>
      <p:sp>
        <p:nvSpPr>
          <p:cNvPr id="57" name="Text 55"/>
          <p:cNvSpPr/>
          <p:nvPr/>
        </p:nvSpPr>
        <p:spPr>
          <a:xfrm>
            <a:off x="4709160" y="4352544"/>
            <a:ext cx="1645920" cy="347472"/>
          </a:xfrm>
          <a:prstGeom prst="rect">
            <a:avLst/>
          </a:prstGeom>
          <a:noFill/>
          <a:ln/>
        </p:spPr>
        <p:txBody>
          <a:bodyPr wrap="square" lIns="0" tIns="0" rIns="0" bIns="0"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  Drill-through</a:t>
            </a:r>
            <a:endParaRPr lang="en-US" sz="1000" dirty="0"/>
          </a:p>
        </p:txBody>
      </p:sp>
      <p:sp>
        <p:nvSpPr>
          <p:cNvPr id="58" name="Text 56"/>
          <p:cNvSpPr/>
          <p:nvPr/>
        </p:nvSpPr>
        <p:spPr>
          <a:xfrm>
            <a:off x="6400800" y="4352544"/>
            <a:ext cx="2377440" cy="347472"/>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Navigate from summary to detail level</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23744"/>
          </a:solidFill>
          <a:ln/>
        </p:spPr>
      </p:sp>
      <p:sp>
        <p:nvSpPr>
          <p:cNvPr id="3" name="Text 1"/>
          <p:cNvSpPr/>
          <p:nvPr/>
        </p:nvSpPr>
        <p:spPr>
          <a:xfrm>
            <a:off x="365760" y="73152"/>
            <a:ext cx="841248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Dashboard Overview</a:t>
            </a:r>
            <a:endParaRPr lang="en-US" sz="2200" dirty="0"/>
          </a:p>
        </p:txBody>
      </p:sp>
      <p:sp>
        <p:nvSpPr>
          <p:cNvPr id="4" name="Text 2"/>
          <p:cNvSpPr/>
          <p:nvPr/>
        </p:nvSpPr>
        <p:spPr>
          <a:xfrm>
            <a:off x="3312942" y="178308"/>
            <a:ext cx="4671858" cy="256032"/>
          </a:xfrm>
          <a:prstGeom prst="rect">
            <a:avLst/>
          </a:prstGeom>
          <a:noFill/>
          <a:ln/>
        </p:spPr>
        <p:txBody>
          <a:bodyPr wrap="square" lIns="0" tIns="0" rIns="0" bIns="0" rtlCol="0" anchor="ctr"/>
          <a:lstStyle/>
          <a:p>
            <a:pPr marL="0" indent="0">
              <a:buNone/>
            </a:pPr>
            <a:r>
              <a:rPr lang="en-US" sz="1100" i="1" dirty="0">
                <a:solidFill>
                  <a:srgbClr val="FFD0D5"/>
                </a:solidFill>
                <a:latin typeface="Calibri" pitchFamily="34" charset="0"/>
                <a:ea typeface="Calibri" pitchFamily="34" charset="-122"/>
                <a:cs typeface="Calibri" pitchFamily="34" charset="-120"/>
              </a:rPr>
              <a:t>Zomato Market Intelligence Dashboard — Power BI</a:t>
            </a:r>
            <a:endParaRPr lang="en-US" sz="1100" dirty="0"/>
          </a:p>
        </p:txBody>
      </p:sp>
      <p:sp>
        <p:nvSpPr>
          <p:cNvPr id="6" name="Text 4"/>
          <p:cNvSpPr/>
          <p:nvPr/>
        </p:nvSpPr>
        <p:spPr>
          <a:xfrm>
            <a:off x="274320" y="4965192"/>
            <a:ext cx="6400800" cy="164592"/>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Zomato Market Intelligence Dashboard  •  Data Analytics Project</a:t>
            </a:r>
            <a:endParaRPr lang="en-US" sz="800" dirty="0"/>
          </a:p>
        </p:txBody>
      </p:sp>
      <p:sp>
        <p:nvSpPr>
          <p:cNvPr id="7" name="Text 5"/>
          <p:cNvSpPr/>
          <p:nvPr/>
        </p:nvSpPr>
        <p:spPr>
          <a:xfrm>
            <a:off x="8046720" y="4965192"/>
            <a:ext cx="822960" cy="164592"/>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10 / 15</a:t>
            </a:r>
            <a:endParaRPr lang="en-US" sz="800" dirty="0"/>
          </a:p>
        </p:txBody>
      </p:sp>
      <p:sp>
        <p:nvSpPr>
          <p:cNvPr id="10" name="Text 8"/>
          <p:cNvSpPr/>
          <p:nvPr/>
        </p:nvSpPr>
        <p:spPr>
          <a:xfrm>
            <a:off x="228600" y="877824"/>
            <a:ext cx="1609344" cy="475488"/>
          </a:xfrm>
          <a:prstGeom prst="rect">
            <a:avLst/>
          </a:prstGeom>
          <a:noFill/>
          <a:ln/>
        </p:spPr>
        <p:txBody>
          <a:bodyPr wrap="square" lIns="0" tIns="0" rIns="0" bIns="0" rtlCol="0" anchor="ctr"/>
          <a:lstStyle/>
          <a:p>
            <a:pPr marL="0" indent="0" algn="ctr">
              <a:buNone/>
            </a:pPr>
            <a:endParaRPr lang="en-US" sz="2000" dirty="0"/>
          </a:p>
        </p:txBody>
      </p:sp>
      <p:sp>
        <p:nvSpPr>
          <p:cNvPr id="11" name="Text 9"/>
          <p:cNvSpPr/>
          <p:nvPr/>
        </p:nvSpPr>
        <p:spPr>
          <a:xfrm>
            <a:off x="228600" y="1371600"/>
            <a:ext cx="1609344" cy="320040"/>
          </a:xfrm>
          <a:prstGeom prst="rect">
            <a:avLst/>
          </a:prstGeom>
          <a:noFill/>
          <a:ln/>
        </p:spPr>
        <p:txBody>
          <a:bodyPr wrap="square" lIns="0" tIns="0" rIns="0" bIns="0" rtlCol="0" anchor="ctr"/>
          <a:lstStyle/>
          <a:p>
            <a:pPr marL="0" indent="0" algn="ctr">
              <a:buNone/>
            </a:pPr>
            <a:endParaRPr lang="en-US" sz="900" dirty="0"/>
          </a:p>
        </p:txBody>
      </p:sp>
      <p:sp>
        <p:nvSpPr>
          <p:cNvPr id="14" name="Text 12"/>
          <p:cNvSpPr/>
          <p:nvPr/>
        </p:nvSpPr>
        <p:spPr>
          <a:xfrm>
            <a:off x="1975104" y="877824"/>
            <a:ext cx="1609344" cy="475488"/>
          </a:xfrm>
          <a:prstGeom prst="rect">
            <a:avLst/>
          </a:prstGeom>
          <a:noFill/>
          <a:ln/>
        </p:spPr>
        <p:txBody>
          <a:bodyPr wrap="square" lIns="0" tIns="0" rIns="0" bIns="0" rtlCol="0" anchor="ctr"/>
          <a:lstStyle/>
          <a:p>
            <a:pPr marL="0" indent="0" algn="ctr">
              <a:buNone/>
            </a:pPr>
            <a:endParaRPr lang="en-US" sz="2000" dirty="0"/>
          </a:p>
        </p:txBody>
      </p:sp>
      <p:sp>
        <p:nvSpPr>
          <p:cNvPr id="15" name="Text 13"/>
          <p:cNvSpPr/>
          <p:nvPr/>
        </p:nvSpPr>
        <p:spPr>
          <a:xfrm>
            <a:off x="1975104" y="1371600"/>
            <a:ext cx="1609344" cy="320040"/>
          </a:xfrm>
          <a:prstGeom prst="rect">
            <a:avLst/>
          </a:prstGeom>
          <a:noFill/>
          <a:ln/>
        </p:spPr>
        <p:txBody>
          <a:bodyPr wrap="square" lIns="0" tIns="0" rIns="0" bIns="0" rtlCol="0" anchor="ctr"/>
          <a:lstStyle/>
          <a:p>
            <a:pPr marL="0" indent="0" algn="ctr">
              <a:buNone/>
            </a:pPr>
            <a:endParaRPr lang="en-US" sz="900" dirty="0"/>
          </a:p>
        </p:txBody>
      </p:sp>
      <p:sp>
        <p:nvSpPr>
          <p:cNvPr id="18" name="Text 16"/>
          <p:cNvSpPr/>
          <p:nvPr/>
        </p:nvSpPr>
        <p:spPr>
          <a:xfrm>
            <a:off x="3721608" y="877824"/>
            <a:ext cx="1609344" cy="475488"/>
          </a:xfrm>
          <a:prstGeom prst="rect">
            <a:avLst/>
          </a:prstGeom>
          <a:noFill/>
          <a:ln/>
        </p:spPr>
        <p:txBody>
          <a:bodyPr wrap="square" lIns="0" tIns="0" rIns="0" bIns="0" rtlCol="0" anchor="ctr"/>
          <a:lstStyle/>
          <a:p>
            <a:pPr marL="0" indent="0" algn="ctr">
              <a:buNone/>
            </a:pPr>
            <a:endParaRPr lang="en-US" sz="2000" dirty="0"/>
          </a:p>
        </p:txBody>
      </p:sp>
      <p:sp>
        <p:nvSpPr>
          <p:cNvPr id="19" name="Text 17"/>
          <p:cNvSpPr/>
          <p:nvPr/>
        </p:nvSpPr>
        <p:spPr>
          <a:xfrm>
            <a:off x="3721608" y="1371600"/>
            <a:ext cx="1609344" cy="320040"/>
          </a:xfrm>
          <a:prstGeom prst="rect">
            <a:avLst/>
          </a:prstGeom>
          <a:noFill/>
          <a:ln/>
        </p:spPr>
        <p:txBody>
          <a:bodyPr wrap="square" lIns="0" tIns="0" rIns="0" bIns="0" rtlCol="0" anchor="ctr"/>
          <a:lstStyle/>
          <a:p>
            <a:pPr marL="0" indent="0" algn="ctr">
              <a:buNone/>
            </a:pPr>
            <a:endParaRPr lang="en-US" sz="900" dirty="0"/>
          </a:p>
        </p:txBody>
      </p:sp>
      <p:sp>
        <p:nvSpPr>
          <p:cNvPr id="22" name="Text 20"/>
          <p:cNvSpPr/>
          <p:nvPr/>
        </p:nvSpPr>
        <p:spPr>
          <a:xfrm>
            <a:off x="5468112" y="877824"/>
            <a:ext cx="1609344" cy="475488"/>
          </a:xfrm>
          <a:prstGeom prst="rect">
            <a:avLst/>
          </a:prstGeom>
          <a:noFill/>
          <a:ln/>
        </p:spPr>
        <p:txBody>
          <a:bodyPr wrap="square" lIns="0" tIns="0" rIns="0" bIns="0" rtlCol="0" anchor="ctr"/>
          <a:lstStyle/>
          <a:p>
            <a:pPr marL="0" indent="0" algn="ctr">
              <a:buNone/>
            </a:pPr>
            <a:endParaRPr lang="en-US" sz="2000" dirty="0"/>
          </a:p>
        </p:txBody>
      </p:sp>
      <p:sp>
        <p:nvSpPr>
          <p:cNvPr id="23" name="Text 21"/>
          <p:cNvSpPr/>
          <p:nvPr/>
        </p:nvSpPr>
        <p:spPr>
          <a:xfrm>
            <a:off x="5468112" y="1371600"/>
            <a:ext cx="1609344" cy="320040"/>
          </a:xfrm>
          <a:prstGeom prst="rect">
            <a:avLst/>
          </a:prstGeom>
          <a:noFill/>
          <a:ln/>
        </p:spPr>
        <p:txBody>
          <a:bodyPr wrap="square" lIns="0" tIns="0" rIns="0" bIns="0" rtlCol="0" anchor="ctr"/>
          <a:lstStyle/>
          <a:p>
            <a:pPr marL="0" indent="0" algn="ctr">
              <a:buNone/>
            </a:pPr>
            <a:endParaRPr lang="en-US" sz="900" dirty="0"/>
          </a:p>
        </p:txBody>
      </p:sp>
      <p:sp>
        <p:nvSpPr>
          <p:cNvPr id="26" name="Text 24"/>
          <p:cNvSpPr/>
          <p:nvPr/>
        </p:nvSpPr>
        <p:spPr>
          <a:xfrm>
            <a:off x="7214616" y="877824"/>
            <a:ext cx="1609344" cy="475488"/>
          </a:xfrm>
          <a:prstGeom prst="rect">
            <a:avLst/>
          </a:prstGeom>
          <a:noFill/>
          <a:ln/>
        </p:spPr>
        <p:txBody>
          <a:bodyPr wrap="square" lIns="0" tIns="0" rIns="0" bIns="0" rtlCol="0" anchor="ctr"/>
          <a:lstStyle/>
          <a:p>
            <a:pPr marL="0" indent="0" algn="ctr">
              <a:buNone/>
            </a:pPr>
            <a:endParaRPr lang="en-US" sz="2000" dirty="0"/>
          </a:p>
        </p:txBody>
      </p:sp>
      <p:sp>
        <p:nvSpPr>
          <p:cNvPr id="27" name="Text 25"/>
          <p:cNvSpPr/>
          <p:nvPr/>
        </p:nvSpPr>
        <p:spPr>
          <a:xfrm>
            <a:off x="7214616" y="1371600"/>
            <a:ext cx="1609344" cy="320040"/>
          </a:xfrm>
          <a:prstGeom prst="rect">
            <a:avLst/>
          </a:prstGeom>
          <a:noFill/>
          <a:ln/>
        </p:spPr>
        <p:txBody>
          <a:bodyPr wrap="square" lIns="0" tIns="0" rIns="0" bIns="0" rtlCol="0" anchor="ctr"/>
          <a:lstStyle/>
          <a:p>
            <a:pPr marL="0" indent="0" algn="ctr">
              <a:buNone/>
            </a:pPr>
            <a:endParaRPr lang="en-US" sz="900" dirty="0"/>
          </a:p>
        </p:txBody>
      </p:sp>
      <p:pic>
        <p:nvPicPr>
          <p:cNvPr id="31" name="Picture 30">
            <a:extLst>
              <a:ext uri="{FF2B5EF4-FFF2-40B4-BE49-F238E27FC236}">
                <a16:creationId xmlns:a16="http://schemas.microsoft.com/office/drawing/2014/main" id="{E237CEDA-D580-F5D4-D141-C0721828D0A5}"/>
              </a:ext>
            </a:extLst>
          </p:cNvPr>
          <p:cNvPicPr>
            <a:picLocks noChangeAspect="1"/>
          </p:cNvPicPr>
          <p:nvPr/>
        </p:nvPicPr>
        <p:blipFill>
          <a:blip r:embed="rId3"/>
          <a:stretch>
            <a:fillRect/>
          </a:stretch>
        </p:blipFill>
        <p:spPr>
          <a:xfrm>
            <a:off x="798693" y="763524"/>
            <a:ext cx="7546614" cy="425446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0796" y="-41148"/>
            <a:ext cx="9144000" cy="658368"/>
          </a:xfrm>
          <a:prstGeom prst="rect">
            <a:avLst/>
          </a:prstGeom>
          <a:solidFill>
            <a:srgbClr val="E23744"/>
          </a:solidFill>
          <a:ln/>
        </p:spPr>
      </p:sp>
      <p:sp>
        <p:nvSpPr>
          <p:cNvPr id="3" name="Text 1"/>
          <p:cNvSpPr/>
          <p:nvPr/>
        </p:nvSpPr>
        <p:spPr>
          <a:xfrm>
            <a:off x="365760" y="73152"/>
            <a:ext cx="841248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Key Visualizations</a:t>
            </a:r>
            <a:endParaRPr lang="en-US" sz="2200" dirty="0"/>
          </a:p>
        </p:txBody>
      </p:sp>
      <p:sp>
        <p:nvSpPr>
          <p:cNvPr id="4" name="Text 2"/>
          <p:cNvSpPr/>
          <p:nvPr/>
        </p:nvSpPr>
        <p:spPr>
          <a:xfrm>
            <a:off x="2990088" y="192024"/>
            <a:ext cx="4965192" cy="256032"/>
          </a:xfrm>
          <a:prstGeom prst="rect">
            <a:avLst/>
          </a:prstGeom>
          <a:noFill/>
          <a:ln/>
        </p:spPr>
        <p:txBody>
          <a:bodyPr wrap="square" lIns="0" tIns="0" rIns="0" bIns="0" rtlCol="0" anchor="ctr"/>
          <a:lstStyle/>
          <a:p>
            <a:pPr marL="0" indent="0">
              <a:buNone/>
            </a:pPr>
            <a:r>
              <a:rPr lang="en-US" sz="1100" i="1" dirty="0">
                <a:solidFill>
                  <a:srgbClr val="FFD0D5"/>
                </a:solidFill>
                <a:latin typeface="Calibri" pitchFamily="34" charset="0"/>
                <a:ea typeface="Calibri" pitchFamily="34" charset="-122"/>
                <a:cs typeface="Calibri" pitchFamily="34" charset="-120"/>
              </a:rPr>
              <a:t>5 Core Charts Driving Business Intelligence</a:t>
            </a:r>
            <a:endParaRPr lang="en-US" sz="1100" dirty="0"/>
          </a:p>
        </p:txBody>
      </p:sp>
      <p:sp>
        <p:nvSpPr>
          <p:cNvPr id="6" name="Text 4"/>
          <p:cNvSpPr/>
          <p:nvPr/>
        </p:nvSpPr>
        <p:spPr>
          <a:xfrm>
            <a:off x="274320" y="4965192"/>
            <a:ext cx="6400800" cy="164592"/>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Zomato Market Intelligence Dashboard  •  Data Analytics Project</a:t>
            </a:r>
            <a:endParaRPr lang="en-US" sz="800" dirty="0"/>
          </a:p>
        </p:txBody>
      </p:sp>
      <p:sp>
        <p:nvSpPr>
          <p:cNvPr id="7" name="Text 5"/>
          <p:cNvSpPr/>
          <p:nvPr/>
        </p:nvSpPr>
        <p:spPr>
          <a:xfrm>
            <a:off x="8046720" y="4965192"/>
            <a:ext cx="822960" cy="164592"/>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11 / 15</a:t>
            </a:r>
            <a:endParaRPr lang="en-US" sz="800" dirty="0"/>
          </a:p>
        </p:txBody>
      </p:sp>
      <p:sp>
        <p:nvSpPr>
          <p:cNvPr id="8" name="Shape 6"/>
          <p:cNvSpPr/>
          <p:nvPr/>
        </p:nvSpPr>
        <p:spPr>
          <a:xfrm>
            <a:off x="228600" y="822960"/>
            <a:ext cx="4251960" cy="23774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9" name="Text 7"/>
          <p:cNvSpPr/>
          <p:nvPr/>
        </p:nvSpPr>
        <p:spPr>
          <a:xfrm>
            <a:off x="320040" y="868680"/>
            <a:ext cx="4023360" cy="274320"/>
          </a:xfrm>
          <a:prstGeom prst="rect">
            <a:avLst/>
          </a:prstGeom>
          <a:noFill/>
          <a:ln/>
        </p:spPr>
        <p:txBody>
          <a:bodyPr wrap="square" lIns="0" tIns="0" rIns="0" bIns="0" rtlCol="0" anchor="ctr"/>
          <a:lstStyle/>
          <a:p>
            <a:pPr marL="0" indent="0">
              <a:buNone/>
            </a:pPr>
            <a:r>
              <a:rPr lang="en-US" sz="1100" b="1" dirty="0">
                <a:solidFill>
                  <a:srgbClr val="E23744"/>
                </a:solidFill>
                <a:latin typeface="Calibri" pitchFamily="34" charset="0"/>
                <a:ea typeface="Calibri" pitchFamily="34" charset="-122"/>
                <a:cs typeface="Calibri" pitchFamily="34" charset="-120"/>
              </a:rPr>
              <a:t>📈  Revenue Trend (2017–2020)</a:t>
            </a:r>
            <a:endParaRPr lang="en-US" sz="1100" dirty="0"/>
          </a:p>
        </p:txBody>
      </p:sp>
      <p:graphicFrame>
        <p:nvGraphicFramePr>
          <p:cNvPr id="10" name="Chart 0"/>
          <p:cNvGraphicFramePr/>
          <p:nvPr/>
        </p:nvGraphicFramePr>
        <p:xfrm>
          <a:off x="228600" y="1143000"/>
          <a:ext cx="4251960" cy="169164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8"/>
          <p:cNvSpPr/>
          <p:nvPr/>
        </p:nvSpPr>
        <p:spPr>
          <a:xfrm>
            <a:off x="320040" y="2852928"/>
            <a:ext cx="4069080" cy="292608"/>
          </a:xfrm>
          <a:prstGeom prst="rect">
            <a:avLst/>
          </a:prstGeom>
          <a:noFill/>
          <a:ln/>
        </p:spPr>
        <p:txBody>
          <a:bodyPr wrap="square" lIns="0" tIns="0" rIns="0" bIns="0"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Revenue peaked in 2018 then declined through 2020, suggesting pandemic-era impact on food delivery patterns.</a:t>
            </a:r>
            <a:endParaRPr lang="en-US" sz="850" dirty="0"/>
          </a:p>
        </p:txBody>
      </p:sp>
      <p:sp>
        <p:nvSpPr>
          <p:cNvPr id="12" name="Shape 9"/>
          <p:cNvSpPr/>
          <p:nvPr/>
        </p:nvSpPr>
        <p:spPr>
          <a:xfrm>
            <a:off x="4663440" y="822960"/>
            <a:ext cx="4251960" cy="23774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3" name="Text 10"/>
          <p:cNvSpPr/>
          <p:nvPr/>
        </p:nvSpPr>
        <p:spPr>
          <a:xfrm>
            <a:off x="4754880" y="868680"/>
            <a:ext cx="4023360" cy="274320"/>
          </a:xfrm>
          <a:prstGeom prst="rect">
            <a:avLst/>
          </a:prstGeom>
          <a:noFill/>
          <a:ln/>
        </p:spPr>
        <p:txBody>
          <a:bodyPr wrap="square" lIns="0" tIns="0" rIns="0" bIns="0" rtlCol="0" anchor="ctr"/>
          <a:lstStyle/>
          <a:p>
            <a:pPr marL="0" indent="0">
              <a:buNone/>
            </a:pPr>
            <a:r>
              <a:rPr lang="en-US" sz="1100" b="1" dirty="0">
                <a:solidFill>
                  <a:srgbClr val="0891B2"/>
                </a:solidFill>
                <a:latin typeface="Calibri" pitchFamily="34" charset="0"/>
                <a:ea typeface="Calibri" pitchFamily="34" charset="-122"/>
                <a:cs typeface="Calibri" pitchFamily="34" charset="-120"/>
              </a:rPr>
              <a:t>🚦  Traffic Impact on Delivery</a:t>
            </a:r>
            <a:endParaRPr lang="en-US" sz="1100" dirty="0"/>
          </a:p>
        </p:txBody>
      </p:sp>
      <p:graphicFrame>
        <p:nvGraphicFramePr>
          <p:cNvPr id="14" name="Chart 1"/>
          <p:cNvGraphicFramePr/>
          <p:nvPr/>
        </p:nvGraphicFramePr>
        <p:xfrm>
          <a:off x="4663440" y="1143000"/>
          <a:ext cx="4251960" cy="1691640"/>
        </p:xfrm>
        <a:graphic>
          <a:graphicData uri="http://schemas.openxmlformats.org/drawingml/2006/chart">
            <c:chart xmlns:c="http://schemas.openxmlformats.org/drawingml/2006/chart" xmlns:r="http://schemas.openxmlformats.org/officeDocument/2006/relationships" r:id="rId4"/>
          </a:graphicData>
        </a:graphic>
      </p:graphicFrame>
      <p:sp>
        <p:nvSpPr>
          <p:cNvPr id="15" name="Text 11"/>
          <p:cNvSpPr/>
          <p:nvPr/>
        </p:nvSpPr>
        <p:spPr>
          <a:xfrm>
            <a:off x="4754880" y="2852928"/>
            <a:ext cx="4069080" cy="292608"/>
          </a:xfrm>
          <a:prstGeom prst="rect">
            <a:avLst/>
          </a:prstGeom>
          <a:noFill/>
          <a:ln/>
        </p:spPr>
        <p:txBody>
          <a:bodyPr wrap="square" lIns="0" tIns="0" rIns="0" bIns="0"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Jam traffic conditions result in the highest average delivery time, nearly 2x compared to low-traffic routes.</a:t>
            </a:r>
            <a:endParaRPr lang="en-US" sz="850" dirty="0"/>
          </a:p>
        </p:txBody>
      </p:sp>
      <p:sp>
        <p:nvSpPr>
          <p:cNvPr id="16" name="Shape 12"/>
          <p:cNvSpPr/>
          <p:nvPr/>
        </p:nvSpPr>
        <p:spPr>
          <a:xfrm>
            <a:off x="228600" y="3246120"/>
            <a:ext cx="2852928" cy="162763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7" name="Shape 13"/>
          <p:cNvSpPr/>
          <p:nvPr/>
        </p:nvSpPr>
        <p:spPr>
          <a:xfrm>
            <a:off x="228600" y="3246120"/>
            <a:ext cx="2852928" cy="73152"/>
          </a:xfrm>
          <a:prstGeom prst="rect">
            <a:avLst/>
          </a:prstGeom>
          <a:solidFill>
            <a:srgbClr val="10B981"/>
          </a:solidFill>
          <a:ln/>
        </p:spPr>
      </p:sp>
      <p:sp>
        <p:nvSpPr>
          <p:cNvPr id="18" name="Text 14"/>
          <p:cNvSpPr/>
          <p:nvPr/>
        </p:nvSpPr>
        <p:spPr>
          <a:xfrm>
            <a:off x="338328" y="3337560"/>
            <a:ext cx="2651760" cy="320040"/>
          </a:xfrm>
          <a:prstGeom prst="rect">
            <a:avLst/>
          </a:prstGeom>
          <a:noFill/>
          <a:ln/>
        </p:spPr>
        <p:txBody>
          <a:bodyPr wrap="square" lIns="0" tIns="0" rIns="0" bIns="0" rtlCol="0" anchor="ctr"/>
          <a:lstStyle/>
          <a:p>
            <a:pPr marL="0" indent="0">
              <a:buNone/>
            </a:pPr>
            <a:r>
              <a:rPr lang="en-US" sz="1100" b="1" dirty="0">
                <a:solidFill>
                  <a:srgbClr val="10B981"/>
                </a:solidFill>
                <a:latin typeface="Calibri" pitchFamily="34" charset="0"/>
                <a:ea typeface="Calibri" pitchFamily="34" charset="-122"/>
                <a:cs typeface="Calibri" pitchFamily="34" charset="-120"/>
              </a:rPr>
              <a:t>🌦️  Weather Impact</a:t>
            </a:r>
            <a:endParaRPr lang="en-US" sz="1100" dirty="0"/>
          </a:p>
        </p:txBody>
      </p:sp>
      <p:sp>
        <p:nvSpPr>
          <p:cNvPr id="19" name="Text 15"/>
          <p:cNvSpPr/>
          <p:nvPr/>
        </p:nvSpPr>
        <p:spPr>
          <a:xfrm>
            <a:off x="338328" y="3694176"/>
            <a:ext cx="2651760" cy="107899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Cloudy &amp; Foggy conditions have highest avg delivery time (~29 min). Sunny conditions = fastest deliveries (~22 min).</a:t>
            </a:r>
            <a:endParaRPr lang="en-US" sz="950" dirty="0"/>
          </a:p>
        </p:txBody>
      </p:sp>
      <p:sp>
        <p:nvSpPr>
          <p:cNvPr id="20" name="Shape 16"/>
          <p:cNvSpPr/>
          <p:nvPr/>
        </p:nvSpPr>
        <p:spPr>
          <a:xfrm>
            <a:off x="3218688" y="3246120"/>
            <a:ext cx="2852928" cy="162763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21" name="Shape 17"/>
          <p:cNvSpPr/>
          <p:nvPr/>
        </p:nvSpPr>
        <p:spPr>
          <a:xfrm>
            <a:off x="3218688" y="3246120"/>
            <a:ext cx="2852928" cy="73152"/>
          </a:xfrm>
          <a:prstGeom prst="rect">
            <a:avLst/>
          </a:prstGeom>
          <a:solidFill>
            <a:srgbClr val="F97316"/>
          </a:solidFill>
          <a:ln/>
        </p:spPr>
      </p:sp>
      <p:sp>
        <p:nvSpPr>
          <p:cNvPr id="22" name="Text 18"/>
          <p:cNvSpPr/>
          <p:nvPr/>
        </p:nvSpPr>
        <p:spPr>
          <a:xfrm>
            <a:off x="3328416" y="3337560"/>
            <a:ext cx="2651760" cy="320040"/>
          </a:xfrm>
          <a:prstGeom prst="rect">
            <a:avLst/>
          </a:prstGeom>
          <a:noFill/>
          <a:ln/>
        </p:spPr>
        <p:txBody>
          <a:bodyPr wrap="square" lIns="0" tIns="0" rIns="0" bIns="0" rtlCol="0" anchor="ctr"/>
          <a:lstStyle/>
          <a:p>
            <a:pPr marL="0" indent="0">
              <a:buNone/>
            </a:pPr>
            <a:r>
              <a:rPr lang="en-US" sz="1100" b="1" dirty="0">
                <a:solidFill>
                  <a:srgbClr val="F97316"/>
                </a:solidFill>
                <a:latin typeface="Calibri" pitchFamily="34" charset="0"/>
                <a:ea typeface="Calibri" pitchFamily="34" charset="-122"/>
                <a:cs typeface="Calibri" pitchFamily="34" charset="-120"/>
              </a:rPr>
              <a:t>🏙️  Restaurant Density</a:t>
            </a:r>
            <a:endParaRPr lang="en-US" sz="1100" dirty="0"/>
          </a:p>
        </p:txBody>
      </p:sp>
      <p:sp>
        <p:nvSpPr>
          <p:cNvPr id="23" name="Text 19"/>
          <p:cNvSpPr/>
          <p:nvPr/>
        </p:nvSpPr>
        <p:spPr>
          <a:xfrm>
            <a:off x="3328416" y="3694176"/>
            <a:ext cx="2651760" cy="107899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Bikaner, Noida-1, and Indirapuram lead in restaurant count. Metro cities like Bangalore and Delhi show high market saturation.</a:t>
            </a:r>
            <a:endParaRPr lang="en-US" sz="950" dirty="0"/>
          </a:p>
        </p:txBody>
      </p:sp>
      <p:sp>
        <p:nvSpPr>
          <p:cNvPr id="24" name="Shape 20"/>
          <p:cNvSpPr/>
          <p:nvPr/>
        </p:nvSpPr>
        <p:spPr>
          <a:xfrm>
            <a:off x="6208776" y="3246120"/>
            <a:ext cx="2852928" cy="162763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25" name="Shape 21"/>
          <p:cNvSpPr/>
          <p:nvPr/>
        </p:nvSpPr>
        <p:spPr>
          <a:xfrm>
            <a:off x="6208776" y="3246120"/>
            <a:ext cx="2852928" cy="73152"/>
          </a:xfrm>
          <a:prstGeom prst="rect">
            <a:avLst/>
          </a:prstGeom>
          <a:solidFill>
            <a:srgbClr val="6366F1"/>
          </a:solidFill>
          <a:ln/>
        </p:spPr>
      </p:sp>
      <p:sp>
        <p:nvSpPr>
          <p:cNvPr id="26" name="Text 22"/>
          <p:cNvSpPr/>
          <p:nvPr/>
        </p:nvSpPr>
        <p:spPr>
          <a:xfrm>
            <a:off x="6318504" y="3337560"/>
            <a:ext cx="2651760" cy="320040"/>
          </a:xfrm>
          <a:prstGeom prst="rect">
            <a:avLst/>
          </a:prstGeom>
          <a:noFill/>
          <a:ln/>
        </p:spPr>
        <p:txBody>
          <a:bodyPr wrap="square" lIns="0" tIns="0" rIns="0" bIns="0" rtlCol="0" anchor="ctr"/>
          <a:lstStyle/>
          <a:p>
            <a:pPr marL="0" indent="0">
              <a:buNone/>
            </a:pPr>
            <a:r>
              <a:rPr lang="en-US" sz="1100" b="1" dirty="0">
                <a:solidFill>
                  <a:srgbClr val="6366F1"/>
                </a:solidFill>
                <a:latin typeface="Calibri" pitchFamily="34" charset="0"/>
                <a:ea typeface="Calibri" pitchFamily="34" charset="-122"/>
                <a:cs typeface="Calibri" pitchFamily="34" charset="-120"/>
              </a:rPr>
              <a:t>⭐  Cost vs Rating Analysis</a:t>
            </a:r>
            <a:endParaRPr lang="en-US" sz="1100" dirty="0"/>
          </a:p>
        </p:txBody>
      </p:sp>
      <p:sp>
        <p:nvSpPr>
          <p:cNvPr id="27" name="Text 23"/>
          <p:cNvSpPr/>
          <p:nvPr/>
        </p:nvSpPr>
        <p:spPr>
          <a:xfrm>
            <a:off x="6318504" y="3694176"/>
            <a:ext cx="2651760" cy="107899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Higher-cost restaurants generally trend toward higher ratings, though premium outliers exist with surprisingly low scores.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23744"/>
          </a:solidFill>
          <a:ln/>
        </p:spPr>
      </p:sp>
      <p:sp>
        <p:nvSpPr>
          <p:cNvPr id="3" name="Text 1"/>
          <p:cNvSpPr/>
          <p:nvPr/>
        </p:nvSpPr>
        <p:spPr>
          <a:xfrm>
            <a:off x="365760" y="73152"/>
            <a:ext cx="841248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Key Business Insights</a:t>
            </a:r>
            <a:endParaRPr lang="en-US" sz="2200" dirty="0"/>
          </a:p>
        </p:txBody>
      </p:sp>
      <p:sp>
        <p:nvSpPr>
          <p:cNvPr id="4" name="Text 2"/>
          <p:cNvSpPr/>
          <p:nvPr/>
        </p:nvSpPr>
        <p:spPr>
          <a:xfrm>
            <a:off x="3306963" y="201168"/>
            <a:ext cx="3509889" cy="256032"/>
          </a:xfrm>
          <a:prstGeom prst="rect">
            <a:avLst/>
          </a:prstGeom>
          <a:noFill/>
          <a:ln/>
        </p:spPr>
        <p:txBody>
          <a:bodyPr wrap="square" lIns="0" tIns="0" rIns="0" bIns="0" rtlCol="0" anchor="ctr"/>
          <a:lstStyle/>
          <a:p>
            <a:pPr marL="0" indent="0">
              <a:buNone/>
            </a:pPr>
            <a:r>
              <a:rPr lang="en-US" sz="1100" i="1" dirty="0">
                <a:solidFill>
                  <a:srgbClr val="FFD0D5"/>
                </a:solidFill>
                <a:latin typeface="Calibri" pitchFamily="34" charset="0"/>
                <a:ea typeface="Calibri" pitchFamily="34" charset="-122"/>
                <a:cs typeface="Calibri" pitchFamily="34" charset="-120"/>
              </a:rPr>
              <a:t>Data-Driven Findings Across All Analysis Dimensions</a:t>
            </a:r>
            <a:endParaRPr lang="en-US" sz="1100" dirty="0"/>
          </a:p>
        </p:txBody>
      </p:sp>
      <p:sp>
        <p:nvSpPr>
          <p:cNvPr id="6" name="Text 4"/>
          <p:cNvSpPr/>
          <p:nvPr/>
        </p:nvSpPr>
        <p:spPr>
          <a:xfrm>
            <a:off x="274320" y="4965192"/>
            <a:ext cx="6400800" cy="164592"/>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Zomato Market Intelligence Dashboard  •  Data Analytics Project</a:t>
            </a:r>
            <a:endParaRPr lang="en-US" sz="800" dirty="0"/>
          </a:p>
        </p:txBody>
      </p:sp>
      <p:sp>
        <p:nvSpPr>
          <p:cNvPr id="7" name="Text 5"/>
          <p:cNvSpPr/>
          <p:nvPr/>
        </p:nvSpPr>
        <p:spPr>
          <a:xfrm>
            <a:off x="8046720" y="4965192"/>
            <a:ext cx="822960" cy="164592"/>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12 / 15</a:t>
            </a:r>
            <a:endParaRPr lang="en-US" sz="800" dirty="0"/>
          </a:p>
        </p:txBody>
      </p:sp>
      <p:sp>
        <p:nvSpPr>
          <p:cNvPr id="8" name="Shape 6"/>
          <p:cNvSpPr/>
          <p:nvPr/>
        </p:nvSpPr>
        <p:spPr>
          <a:xfrm>
            <a:off x="228600" y="804672"/>
            <a:ext cx="4251960" cy="126187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9" name="Shape 7"/>
          <p:cNvSpPr/>
          <p:nvPr/>
        </p:nvSpPr>
        <p:spPr>
          <a:xfrm>
            <a:off x="365760" y="1033272"/>
            <a:ext cx="594360" cy="594360"/>
          </a:xfrm>
          <a:prstGeom prst="ellipse">
            <a:avLst/>
          </a:prstGeom>
          <a:solidFill>
            <a:srgbClr val="E23744"/>
          </a:solidFill>
          <a:ln/>
        </p:spPr>
      </p:sp>
      <p:sp>
        <p:nvSpPr>
          <p:cNvPr id="10" name="Text 8"/>
          <p:cNvSpPr/>
          <p:nvPr/>
        </p:nvSpPr>
        <p:spPr>
          <a:xfrm>
            <a:off x="365760" y="1005840"/>
            <a:ext cx="594360" cy="621792"/>
          </a:xfrm>
          <a:prstGeom prst="rect">
            <a:avLst/>
          </a:prstGeom>
          <a:noFill/>
          <a:ln/>
        </p:spPr>
        <p:txBody>
          <a:bodyPr wrap="square" lIns="0" tIns="0" rIns="0" bIns="0"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1" name="Text 9"/>
          <p:cNvSpPr/>
          <p:nvPr/>
        </p:nvSpPr>
        <p:spPr>
          <a:xfrm>
            <a:off x="1069848" y="896112"/>
            <a:ext cx="3246120" cy="320040"/>
          </a:xfrm>
          <a:prstGeom prst="rect">
            <a:avLst/>
          </a:prstGeom>
          <a:noFill/>
          <a:ln/>
        </p:spPr>
        <p:txBody>
          <a:bodyPr wrap="square" lIns="0" tIns="0" rIns="0" bIns="0" rtlCol="0" anchor="ctr"/>
          <a:lstStyle/>
          <a:p>
            <a:pPr marL="0" indent="0">
              <a:buNone/>
            </a:pPr>
            <a:r>
              <a:rPr lang="en-US" sz="1200" b="1" dirty="0">
                <a:solidFill>
                  <a:srgbClr val="E23744"/>
                </a:solidFill>
                <a:latin typeface="Calibri" pitchFamily="34" charset="0"/>
                <a:ea typeface="Calibri" pitchFamily="34" charset="-122"/>
                <a:cs typeface="Calibri" pitchFamily="34" charset="-120"/>
              </a:rPr>
              <a:t>01  City Dominance</a:t>
            </a:r>
            <a:endParaRPr lang="en-US" sz="1200" dirty="0"/>
          </a:p>
        </p:txBody>
      </p:sp>
      <p:sp>
        <p:nvSpPr>
          <p:cNvPr id="12" name="Text 10"/>
          <p:cNvSpPr/>
          <p:nvPr/>
        </p:nvSpPr>
        <p:spPr>
          <a:xfrm>
            <a:off x="1069848" y="1243584"/>
            <a:ext cx="3246120" cy="74980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Bikaner, Noida-1, and Indirapuram lead in restaurant density. Metros like Bangalore and Delhi show market saturation, signaling opportunity in tier-2 cities.</a:t>
            </a:r>
            <a:endParaRPr lang="en-US" sz="950" dirty="0"/>
          </a:p>
        </p:txBody>
      </p:sp>
      <p:sp>
        <p:nvSpPr>
          <p:cNvPr id="13" name="Shape 11"/>
          <p:cNvSpPr/>
          <p:nvPr/>
        </p:nvSpPr>
        <p:spPr>
          <a:xfrm>
            <a:off x="4690872" y="804672"/>
            <a:ext cx="4251960" cy="126187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4" name="Shape 12"/>
          <p:cNvSpPr/>
          <p:nvPr/>
        </p:nvSpPr>
        <p:spPr>
          <a:xfrm>
            <a:off x="4828032" y="1033272"/>
            <a:ext cx="594360" cy="594360"/>
          </a:xfrm>
          <a:prstGeom prst="ellipse">
            <a:avLst/>
          </a:prstGeom>
          <a:solidFill>
            <a:srgbClr val="0891B2"/>
          </a:solidFill>
          <a:ln/>
        </p:spPr>
      </p:sp>
      <p:sp>
        <p:nvSpPr>
          <p:cNvPr id="15" name="Text 13"/>
          <p:cNvSpPr/>
          <p:nvPr/>
        </p:nvSpPr>
        <p:spPr>
          <a:xfrm>
            <a:off x="4828032" y="1005840"/>
            <a:ext cx="594360" cy="621792"/>
          </a:xfrm>
          <a:prstGeom prst="rect">
            <a:avLst/>
          </a:prstGeom>
          <a:noFill/>
          <a:ln/>
        </p:spPr>
        <p:txBody>
          <a:bodyPr wrap="square" lIns="0" tIns="0" rIns="0" bIns="0"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6" name="Text 14"/>
          <p:cNvSpPr/>
          <p:nvPr/>
        </p:nvSpPr>
        <p:spPr>
          <a:xfrm>
            <a:off x="5532120" y="896112"/>
            <a:ext cx="3246120" cy="320040"/>
          </a:xfrm>
          <a:prstGeom prst="rect">
            <a:avLst/>
          </a:prstGeom>
          <a:noFill/>
          <a:ln/>
        </p:spPr>
        <p:txBody>
          <a:bodyPr wrap="square" lIns="0" tIns="0" rIns="0" bIns="0" rtlCol="0" anchor="ctr"/>
          <a:lstStyle/>
          <a:p>
            <a:pPr marL="0" indent="0">
              <a:buNone/>
            </a:pPr>
            <a:r>
              <a:rPr lang="en-US" sz="1200" b="1" dirty="0">
                <a:solidFill>
                  <a:srgbClr val="0891B2"/>
                </a:solidFill>
                <a:latin typeface="Calibri" pitchFamily="34" charset="0"/>
                <a:ea typeface="Calibri" pitchFamily="34" charset="-122"/>
                <a:cs typeface="Calibri" pitchFamily="34" charset="-120"/>
              </a:rPr>
              <a:t>02  Weather &amp; Delivery</a:t>
            </a:r>
            <a:endParaRPr lang="en-US" sz="1200" dirty="0"/>
          </a:p>
        </p:txBody>
      </p:sp>
      <p:sp>
        <p:nvSpPr>
          <p:cNvPr id="17" name="Text 15"/>
          <p:cNvSpPr/>
          <p:nvPr/>
        </p:nvSpPr>
        <p:spPr>
          <a:xfrm>
            <a:off x="5532120" y="1243584"/>
            <a:ext cx="3246120" cy="74980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Cloudy and Foggy conditions add ~7 minutes to average delivery time vs. Sunny conditions (~22 min). Weather is a significant operational risk factor.</a:t>
            </a:r>
            <a:endParaRPr lang="en-US" sz="950" dirty="0"/>
          </a:p>
        </p:txBody>
      </p:sp>
      <p:sp>
        <p:nvSpPr>
          <p:cNvPr id="18" name="Shape 16"/>
          <p:cNvSpPr/>
          <p:nvPr/>
        </p:nvSpPr>
        <p:spPr>
          <a:xfrm>
            <a:off x="228600" y="2221992"/>
            <a:ext cx="4251960" cy="126187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9" name="Shape 17"/>
          <p:cNvSpPr/>
          <p:nvPr/>
        </p:nvSpPr>
        <p:spPr>
          <a:xfrm>
            <a:off x="365760" y="2450592"/>
            <a:ext cx="594360" cy="594360"/>
          </a:xfrm>
          <a:prstGeom prst="ellipse">
            <a:avLst/>
          </a:prstGeom>
          <a:solidFill>
            <a:srgbClr val="10B981"/>
          </a:solidFill>
          <a:ln/>
        </p:spPr>
      </p:sp>
      <p:sp>
        <p:nvSpPr>
          <p:cNvPr id="20" name="Text 18"/>
          <p:cNvSpPr/>
          <p:nvPr/>
        </p:nvSpPr>
        <p:spPr>
          <a:xfrm>
            <a:off x="365760" y="2423160"/>
            <a:ext cx="594360" cy="621792"/>
          </a:xfrm>
          <a:prstGeom prst="rect">
            <a:avLst/>
          </a:prstGeom>
          <a:noFill/>
          <a:ln/>
        </p:spPr>
        <p:txBody>
          <a:bodyPr wrap="square" lIns="0" tIns="0" rIns="0" bIns="0"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1" name="Text 19"/>
          <p:cNvSpPr/>
          <p:nvPr/>
        </p:nvSpPr>
        <p:spPr>
          <a:xfrm>
            <a:off x="1069848" y="2313432"/>
            <a:ext cx="3246120" cy="320040"/>
          </a:xfrm>
          <a:prstGeom prst="rect">
            <a:avLst/>
          </a:prstGeom>
          <a:noFill/>
          <a:ln/>
        </p:spPr>
        <p:txBody>
          <a:bodyPr wrap="square" lIns="0" tIns="0" rIns="0" bIns="0" rtlCol="0" anchor="ctr"/>
          <a:lstStyle/>
          <a:p>
            <a:pPr marL="0" indent="0">
              <a:buNone/>
            </a:pPr>
            <a:r>
              <a:rPr lang="en-US" sz="1200" b="1" dirty="0">
                <a:solidFill>
                  <a:srgbClr val="10B981"/>
                </a:solidFill>
                <a:latin typeface="Calibri" pitchFamily="34" charset="0"/>
                <a:ea typeface="Calibri" pitchFamily="34" charset="-122"/>
                <a:cs typeface="Calibri" pitchFamily="34" charset="-120"/>
              </a:rPr>
              <a:t>03  Cost-Rating Correlation</a:t>
            </a:r>
            <a:endParaRPr lang="en-US" sz="1200" dirty="0"/>
          </a:p>
        </p:txBody>
      </p:sp>
      <p:sp>
        <p:nvSpPr>
          <p:cNvPr id="22" name="Text 20"/>
          <p:cNvSpPr/>
          <p:nvPr/>
        </p:nvSpPr>
        <p:spPr>
          <a:xfrm>
            <a:off x="1069848" y="2660904"/>
            <a:ext cx="3246120" cy="74980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Higher-cost restaurants trend toward better ratings, but the relationship is not linear — value restaurants with great service can outperform premium ones.</a:t>
            </a:r>
            <a:endParaRPr lang="en-US" sz="950" dirty="0"/>
          </a:p>
        </p:txBody>
      </p:sp>
      <p:sp>
        <p:nvSpPr>
          <p:cNvPr id="23" name="Shape 21"/>
          <p:cNvSpPr/>
          <p:nvPr/>
        </p:nvSpPr>
        <p:spPr>
          <a:xfrm>
            <a:off x="4690872" y="2221992"/>
            <a:ext cx="4251960" cy="126187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24" name="Shape 22"/>
          <p:cNvSpPr/>
          <p:nvPr/>
        </p:nvSpPr>
        <p:spPr>
          <a:xfrm>
            <a:off x="4828032" y="2450592"/>
            <a:ext cx="594360" cy="594360"/>
          </a:xfrm>
          <a:prstGeom prst="ellipse">
            <a:avLst/>
          </a:prstGeom>
          <a:solidFill>
            <a:srgbClr val="F97316"/>
          </a:solidFill>
          <a:ln/>
        </p:spPr>
      </p:sp>
      <p:sp>
        <p:nvSpPr>
          <p:cNvPr id="25" name="Text 23"/>
          <p:cNvSpPr/>
          <p:nvPr/>
        </p:nvSpPr>
        <p:spPr>
          <a:xfrm>
            <a:off x="4828032" y="2423160"/>
            <a:ext cx="594360" cy="621792"/>
          </a:xfrm>
          <a:prstGeom prst="rect">
            <a:avLst/>
          </a:prstGeom>
          <a:noFill/>
          <a:ln/>
        </p:spPr>
        <p:txBody>
          <a:bodyPr wrap="square" lIns="0" tIns="0" rIns="0" bIns="0"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6" name="Text 24"/>
          <p:cNvSpPr/>
          <p:nvPr/>
        </p:nvSpPr>
        <p:spPr>
          <a:xfrm>
            <a:off x="5532120" y="2313432"/>
            <a:ext cx="3246120" cy="320040"/>
          </a:xfrm>
          <a:prstGeom prst="rect">
            <a:avLst/>
          </a:prstGeom>
          <a:noFill/>
          <a:ln/>
        </p:spPr>
        <p:txBody>
          <a:bodyPr wrap="square" lIns="0" tIns="0" rIns="0" bIns="0" rtlCol="0" anchor="ctr"/>
          <a:lstStyle/>
          <a:p>
            <a:pPr marL="0" indent="0">
              <a:buNone/>
            </a:pPr>
            <a:r>
              <a:rPr lang="en-US" sz="1200" b="1" dirty="0">
                <a:solidFill>
                  <a:srgbClr val="F97316"/>
                </a:solidFill>
                <a:latin typeface="Calibri" pitchFamily="34" charset="0"/>
                <a:ea typeface="Calibri" pitchFamily="34" charset="-122"/>
                <a:cs typeface="Calibri" pitchFamily="34" charset="-120"/>
              </a:rPr>
              <a:t>04  Traffic &amp; Performance</a:t>
            </a:r>
            <a:endParaRPr lang="en-US" sz="1200" dirty="0"/>
          </a:p>
        </p:txBody>
      </p:sp>
      <p:sp>
        <p:nvSpPr>
          <p:cNvPr id="27" name="Text 25"/>
          <p:cNvSpPr/>
          <p:nvPr/>
        </p:nvSpPr>
        <p:spPr>
          <a:xfrm>
            <a:off x="5532120" y="2660904"/>
            <a:ext cx="3246120" cy="74980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Jam traffic density results in ~80% longer delivery time compared to low-traffic routes. Route optimization is critical for on-time delivery performance.</a:t>
            </a:r>
            <a:endParaRPr lang="en-US" sz="950" dirty="0"/>
          </a:p>
        </p:txBody>
      </p:sp>
      <p:sp>
        <p:nvSpPr>
          <p:cNvPr id="28" name="Shape 26"/>
          <p:cNvSpPr/>
          <p:nvPr/>
        </p:nvSpPr>
        <p:spPr>
          <a:xfrm>
            <a:off x="228600" y="3639312"/>
            <a:ext cx="4251960" cy="126187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29" name="Shape 27"/>
          <p:cNvSpPr/>
          <p:nvPr/>
        </p:nvSpPr>
        <p:spPr>
          <a:xfrm>
            <a:off x="365760" y="3867912"/>
            <a:ext cx="594360" cy="594360"/>
          </a:xfrm>
          <a:prstGeom prst="ellipse">
            <a:avLst/>
          </a:prstGeom>
          <a:solidFill>
            <a:srgbClr val="6366F1"/>
          </a:solidFill>
          <a:ln/>
        </p:spPr>
      </p:sp>
      <p:sp>
        <p:nvSpPr>
          <p:cNvPr id="30" name="Text 28"/>
          <p:cNvSpPr/>
          <p:nvPr/>
        </p:nvSpPr>
        <p:spPr>
          <a:xfrm>
            <a:off x="365760" y="3840480"/>
            <a:ext cx="594360" cy="621792"/>
          </a:xfrm>
          <a:prstGeom prst="rect">
            <a:avLst/>
          </a:prstGeom>
          <a:noFill/>
          <a:ln/>
        </p:spPr>
        <p:txBody>
          <a:bodyPr wrap="square" lIns="0" tIns="0" rIns="0" bIns="0"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1" name="Text 29"/>
          <p:cNvSpPr/>
          <p:nvPr/>
        </p:nvSpPr>
        <p:spPr>
          <a:xfrm>
            <a:off x="1069848" y="3730752"/>
            <a:ext cx="3246120" cy="320040"/>
          </a:xfrm>
          <a:prstGeom prst="rect">
            <a:avLst/>
          </a:prstGeom>
          <a:noFill/>
          <a:ln/>
        </p:spPr>
        <p:txBody>
          <a:bodyPr wrap="square" lIns="0" tIns="0" rIns="0" bIns="0" rtlCol="0" anchor="ctr"/>
          <a:lstStyle/>
          <a:p>
            <a:pPr marL="0" indent="0">
              <a:buNone/>
            </a:pPr>
            <a:r>
              <a:rPr lang="en-US" sz="1200" b="1" dirty="0">
                <a:solidFill>
                  <a:srgbClr val="6366F1"/>
                </a:solidFill>
                <a:latin typeface="Calibri" pitchFamily="34" charset="0"/>
                <a:ea typeface="Calibri" pitchFamily="34" charset="-122"/>
                <a:cs typeface="Calibri" pitchFamily="34" charset="-120"/>
              </a:rPr>
              <a:t>05  Regional Cuisine Trends</a:t>
            </a:r>
            <a:endParaRPr lang="en-US" sz="1200" dirty="0"/>
          </a:p>
        </p:txBody>
      </p:sp>
      <p:sp>
        <p:nvSpPr>
          <p:cNvPr id="32" name="Text 30"/>
          <p:cNvSpPr/>
          <p:nvPr/>
        </p:nvSpPr>
        <p:spPr>
          <a:xfrm>
            <a:off x="1069848" y="4078224"/>
            <a:ext cx="3246120" cy="74980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Cuisine preferences vary significantly by region. Local and regional cuisines dominate tier-2 cities while fast food and beverages lead in metro areas.</a:t>
            </a:r>
            <a:endParaRPr lang="en-US" sz="950" dirty="0"/>
          </a:p>
        </p:txBody>
      </p:sp>
      <p:sp>
        <p:nvSpPr>
          <p:cNvPr id="33" name="Shape 31"/>
          <p:cNvSpPr/>
          <p:nvPr/>
        </p:nvSpPr>
        <p:spPr>
          <a:xfrm>
            <a:off x="4690872" y="3639312"/>
            <a:ext cx="4251960" cy="126187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34" name="Shape 32"/>
          <p:cNvSpPr/>
          <p:nvPr/>
        </p:nvSpPr>
        <p:spPr>
          <a:xfrm>
            <a:off x="4828032" y="3867912"/>
            <a:ext cx="594360" cy="594360"/>
          </a:xfrm>
          <a:prstGeom prst="ellipse">
            <a:avLst/>
          </a:prstGeom>
          <a:solidFill>
            <a:srgbClr val="EC4899"/>
          </a:solidFill>
          <a:ln/>
        </p:spPr>
      </p:sp>
      <p:sp>
        <p:nvSpPr>
          <p:cNvPr id="35" name="Text 33"/>
          <p:cNvSpPr/>
          <p:nvPr/>
        </p:nvSpPr>
        <p:spPr>
          <a:xfrm>
            <a:off x="4828032" y="3840480"/>
            <a:ext cx="594360" cy="621792"/>
          </a:xfrm>
          <a:prstGeom prst="rect">
            <a:avLst/>
          </a:prstGeom>
          <a:noFill/>
          <a:ln/>
        </p:spPr>
        <p:txBody>
          <a:bodyPr wrap="square" lIns="0" tIns="0" rIns="0" bIns="0"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6" name="Text 34"/>
          <p:cNvSpPr/>
          <p:nvPr/>
        </p:nvSpPr>
        <p:spPr>
          <a:xfrm>
            <a:off x="5532120" y="3730752"/>
            <a:ext cx="3246120" cy="320040"/>
          </a:xfrm>
          <a:prstGeom prst="rect">
            <a:avLst/>
          </a:prstGeom>
          <a:noFill/>
          <a:ln/>
        </p:spPr>
        <p:txBody>
          <a:bodyPr wrap="square" lIns="0" tIns="0" rIns="0" bIns="0" rtlCol="0" anchor="ctr"/>
          <a:lstStyle/>
          <a:p>
            <a:pPr marL="0" indent="0">
              <a:buNone/>
            </a:pPr>
            <a:r>
              <a:rPr lang="en-US" sz="1200" b="1" dirty="0">
                <a:solidFill>
                  <a:srgbClr val="EC4899"/>
                </a:solidFill>
                <a:latin typeface="Calibri" pitchFamily="34" charset="0"/>
                <a:ea typeface="Calibri" pitchFamily="34" charset="-122"/>
                <a:cs typeface="Calibri" pitchFamily="34" charset="-120"/>
              </a:rPr>
              <a:t>06  Revenue Peak (2018)</a:t>
            </a:r>
            <a:endParaRPr lang="en-US" sz="1200" dirty="0"/>
          </a:p>
        </p:txBody>
      </p:sp>
      <p:sp>
        <p:nvSpPr>
          <p:cNvPr id="37" name="Text 35"/>
          <p:cNvSpPr/>
          <p:nvPr/>
        </p:nvSpPr>
        <p:spPr>
          <a:xfrm>
            <a:off x="5532120" y="4078224"/>
            <a:ext cx="3246120" cy="74980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Revenue peaked in 2018 and declined through 2020. Year-over-year analysis reveals the need for customer retention programs to sustain growth trajectories.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16705"/>
            <a:ext cx="9144000" cy="658368"/>
          </a:xfrm>
          <a:prstGeom prst="rect">
            <a:avLst/>
          </a:prstGeom>
          <a:solidFill>
            <a:srgbClr val="E23744"/>
          </a:solidFill>
          <a:ln/>
        </p:spPr>
      </p:sp>
      <p:sp>
        <p:nvSpPr>
          <p:cNvPr id="3" name="Text 1"/>
          <p:cNvSpPr/>
          <p:nvPr/>
        </p:nvSpPr>
        <p:spPr>
          <a:xfrm>
            <a:off x="365760" y="73152"/>
            <a:ext cx="8412480" cy="512064"/>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Business Recommendations</a:t>
            </a:r>
            <a:endParaRPr lang="en-US" sz="2200" dirty="0"/>
          </a:p>
        </p:txBody>
      </p:sp>
      <p:sp>
        <p:nvSpPr>
          <p:cNvPr id="4" name="Text 2"/>
          <p:cNvSpPr/>
          <p:nvPr/>
        </p:nvSpPr>
        <p:spPr>
          <a:xfrm>
            <a:off x="3977640" y="184463"/>
            <a:ext cx="3200400" cy="256032"/>
          </a:xfrm>
          <a:prstGeom prst="rect">
            <a:avLst/>
          </a:prstGeom>
          <a:noFill/>
          <a:ln/>
        </p:spPr>
        <p:txBody>
          <a:bodyPr wrap="square" lIns="0" tIns="0" rIns="0" bIns="0" rtlCol="0" anchor="ctr"/>
          <a:lstStyle/>
          <a:p>
            <a:pPr marL="0" indent="0">
              <a:buNone/>
            </a:pPr>
            <a:r>
              <a:rPr lang="en-US" sz="1100" i="1" dirty="0">
                <a:solidFill>
                  <a:srgbClr val="FFD0D5"/>
                </a:solidFill>
                <a:latin typeface="Calibri" pitchFamily="34" charset="0"/>
                <a:ea typeface="Calibri" pitchFamily="34" charset="-122"/>
                <a:cs typeface="Calibri" pitchFamily="34" charset="-120"/>
              </a:rPr>
              <a:t>Actionable Strategies Based on Data-Driven Insights</a:t>
            </a:r>
            <a:endParaRPr lang="en-US" sz="1100" dirty="0"/>
          </a:p>
        </p:txBody>
      </p:sp>
      <p:sp>
        <p:nvSpPr>
          <p:cNvPr id="6" name="Text 4"/>
          <p:cNvSpPr/>
          <p:nvPr/>
        </p:nvSpPr>
        <p:spPr>
          <a:xfrm>
            <a:off x="274320" y="4965192"/>
            <a:ext cx="6400800" cy="164592"/>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Zomato Market Intelligence Dashboard  •  Data Analytics Project</a:t>
            </a:r>
            <a:endParaRPr lang="en-US" sz="800" dirty="0"/>
          </a:p>
        </p:txBody>
      </p:sp>
      <p:sp>
        <p:nvSpPr>
          <p:cNvPr id="7" name="Text 5"/>
          <p:cNvSpPr/>
          <p:nvPr/>
        </p:nvSpPr>
        <p:spPr>
          <a:xfrm>
            <a:off x="8046720" y="4965192"/>
            <a:ext cx="822960" cy="164592"/>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13 / 15</a:t>
            </a:r>
            <a:endParaRPr lang="en-US" sz="800" dirty="0"/>
          </a:p>
        </p:txBody>
      </p:sp>
      <p:sp>
        <p:nvSpPr>
          <p:cNvPr id="8" name="Shape 6"/>
          <p:cNvSpPr/>
          <p:nvPr/>
        </p:nvSpPr>
        <p:spPr>
          <a:xfrm>
            <a:off x="228600" y="804672"/>
            <a:ext cx="8686800" cy="71323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9" name="Shape 7"/>
          <p:cNvSpPr/>
          <p:nvPr/>
        </p:nvSpPr>
        <p:spPr>
          <a:xfrm>
            <a:off x="228600" y="804672"/>
            <a:ext cx="502920" cy="713232"/>
          </a:xfrm>
          <a:prstGeom prst="rect">
            <a:avLst/>
          </a:prstGeom>
          <a:solidFill>
            <a:srgbClr val="E23744"/>
          </a:solidFill>
          <a:ln/>
        </p:spPr>
      </p:sp>
      <p:sp>
        <p:nvSpPr>
          <p:cNvPr id="10" name="Text 8"/>
          <p:cNvSpPr/>
          <p:nvPr/>
        </p:nvSpPr>
        <p:spPr>
          <a:xfrm>
            <a:off x="228600" y="804672"/>
            <a:ext cx="502920" cy="713232"/>
          </a:xfrm>
          <a:prstGeom prst="rect">
            <a:avLst/>
          </a:prstGeom>
          <a:noFill/>
          <a:ln/>
        </p:spPr>
        <p:txBody>
          <a:bodyPr wrap="square" lIns="0" tIns="0" rIns="0" bIns="0"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1" name="Text 9"/>
          <p:cNvSpPr/>
          <p:nvPr/>
        </p:nvSpPr>
        <p:spPr>
          <a:xfrm>
            <a:off x="841248" y="877824"/>
            <a:ext cx="6217920" cy="274320"/>
          </a:xfrm>
          <a:prstGeom prst="rect">
            <a:avLst/>
          </a:prstGeom>
          <a:noFill/>
          <a:ln/>
        </p:spPr>
        <p:txBody>
          <a:bodyPr wrap="square" lIns="0" tIns="0" rIns="0" bIns="0" rtlCol="0" anchor="ctr"/>
          <a:lstStyle/>
          <a:p>
            <a:pPr marL="0" indent="0">
              <a:buNone/>
            </a:pPr>
            <a:r>
              <a:rPr lang="en-US" sz="1150" b="1" dirty="0">
                <a:solidFill>
                  <a:srgbClr val="E23744"/>
                </a:solidFill>
                <a:latin typeface="Calibri" pitchFamily="34" charset="0"/>
                <a:ea typeface="Calibri" pitchFamily="34" charset="-122"/>
                <a:cs typeface="Calibri" pitchFamily="34" charset="-120"/>
              </a:rPr>
              <a:t>Optimize Delivery in Adverse Weather</a:t>
            </a:r>
            <a:endParaRPr lang="en-US" sz="1150" dirty="0"/>
          </a:p>
        </p:txBody>
      </p:sp>
      <p:sp>
        <p:nvSpPr>
          <p:cNvPr id="12" name="Text 10"/>
          <p:cNvSpPr/>
          <p:nvPr/>
        </p:nvSpPr>
        <p:spPr>
          <a:xfrm>
            <a:off x="841248" y="1170432"/>
            <a:ext cx="6217920" cy="29260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Deploy dynamic surge pricing and pre-position delivery partners near high-demand zones during cloudy/foggy conditions to maintain delivery SLAs.</a:t>
            </a:r>
            <a:endParaRPr lang="en-US" sz="950" dirty="0"/>
          </a:p>
        </p:txBody>
      </p:sp>
      <p:sp>
        <p:nvSpPr>
          <p:cNvPr id="13" name="Shape 11"/>
          <p:cNvSpPr/>
          <p:nvPr/>
        </p:nvSpPr>
        <p:spPr>
          <a:xfrm>
            <a:off x="7178040" y="969264"/>
            <a:ext cx="1600200" cy="365760"/>
          </a:xfrm>
          <a:prstGeom prst="rect">
            <a:avLst/>
          </a:prstGeom>
          <a:solidFill>
            <a:srgbClr val="E23744"/>
          </a:solidFill>
          <a:ln w="12700">
            <a:solidFill>
              <a:srgbClr val="E2E8F0"/>
            </a:solidFill>
            <a:prstDash val="solid"/>
          </a:ln>
        </p:spPr>
      </p:sp>
      <p:sp>
        <p:nvSpPr>
          <p:cNvPr id="14" name="Text 12"/>
          <p:cNvSpPr/>
          <p:nvPr/>
        </p:nvSpPr>
        <p:spPr>
          <a:xfrm>
            <a:off x="7178040" y="969264"/>
            <a:ext cx="1600200" cy="36576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IMPACT: HIGH</a:t>
            </a:r>
            <a:endParaRPr lang="en-US" sz="850" dirty="0"/>
          </a:p>
        </p:txBody>
      </p:sp>
      <p:sp>
        <p:nvSpPr>
          <p:cNvPr id="15" name="Shape 13"/>
          <p:cNvSpPr/>
          <p:nvPr/>
        </p:nvSpPr>
        <p:spPr>
          <a:xfrm>
            <a:off x="228600" y="1609344"/>
            <a:ext cx="8686800" cy="71323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6" name="Shape 14"/>
          <p:cNvSpPr/>
          <p:nvPr/>
        </p:nvSpPr>
        <p:spPr>
          <a:xfrm>
            <a:off x="228600" y="1609344"/>
            <a:ext cx="502920" cy="713232"/>
          </a:xfrm>
          <a:prstGeom prst="rect">
            <a:avLst/>
          </a:prstGeom>
          <a:solidFill>
            <a:srgbClr val="0891B2"/>
          </a:solidFill>
          <a:ln/>
        </p:spPr>
      </p:sp>
      <p:sp>
        <p:nvSpPr>
          <p:cNvPr id="17" name="Text 15"/>
          <p:cNvSpPr/>
          <p:nvPr/>
        </p:nvSpPr>
        <p:spPr>
          <a:xfrm>
            <a:off x="228600" y="1609344"/>
            <a:ext cx="502920" cy="713232"/>
          </a:xfrm>
          <a:prstGeom prst="rect">
            <a:avLst/>
          </a:prstGeom>
          <a:noFill/>
          <a:ln/>
        </p:spPr>
        <p:txBody>
          <a:bodyPr wrap="square" lIns="0" tIns="0" rIns="0" bIns="0"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8" name="Text 16"/>
          <p:cNvSpPr/>
          <p:nvPr/>
        </p:nvSpPr>
        <p:spPr>
          <a:xfrm>
            <a:off x="841248" y="1682496"/>
            <a:ext cx="6217920" cy="274320"/>
          </a:xfrm>
          <a:prstGeom prst="rect">
            <a:avLst/>
          </a:prstGeom>
          <a:noFill/>
          <a:ln/>
        </p:spPr>
        <p:txBody>
          <a:bodyPr wrap="square" lIns="0" tIns="0" rIns="0" bIns="0" rtlCol="0" anchor="ctr"/>
          <a:lstStyle/>
          <a:p>
            <a:pPr marL="0" indent="0">
              <a:buNone/>
            </a:pPr>
            <a:r>
              <a:rPr lang="en-US" sz="1150" b="1" dirty="0">
                <a:solidFill>
                  <a:srgbClr val="0891B2"/>
                </a:solidFill>
                <a:latin typeface="Calibri" pitchFamily="34" charset="0"/>
                <a:ea typeface="Calibri" pitchFamily="34" charset="-122"/>
                <a:cs typeface="Calibri" pitchFamily="34" charset="-120"/>
              </a:rPr>
              <a:t>Expand into High-Potential Cities</a:t>
            </a:r>
            <a:endParaRPr lang="en-US" sz="1150" dirty="0"/>
          </a:p>
        </p:txBody>
      </p:sp>
      <p:sp>
        <p:nvSpPr>
          <p:cNvPr id="19" name="Text 17"/>
          <p:cNvSpPr/>
          <p:nvPr/>
        </p:nvSpPr>
        <p:spPr>
          <a:xfrm>
            <a:off x="841248" y="1975104"/>
            <a:ext cx="6217920" cy="29260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Focus restaurant onboarding in tier-2 cities like Bikaner and Noida where restaurant density is high but delivery infrastructure is still developing.</a:t>
            </a:r>
            <a:endParaRPr lang="en-US" sz="950" dirty="0"/>
          </a:p>
        </p:txBody>
      </p:sp>
      <p:sp>
        <p:nvSpPr>
          <p:cNvPr id="20" name="Shape 18"/>
          <p:cNvSpPr/>
          <p:nvPr/>
        </p:nvSpPr>
        <p:spPr>
          <a:xfrm>
            <a:off x="7178040" y="1773936"/>
            <a:ext cx="1600200" cy="365760"/>
          </a:xfrm>
          <a:prstGeom prst="rect">
            <a:avLst/>
          </a:prstGeom>
          <a:solidFill>
            <a:srgbClr val="E23744"/>
          </a:solidFill>
          <a:ln w="12700">
            <a:solidFill>
              <a:srgbClr val="E2E8F0"/>
            </a:solidFill>
            <a:prstDash val="solid"/>
          </a:ln>
        </p:spPr>
      </p:sp>
      <p:sp>
        <p:nvSpPr>
          <p:cNvPr id="21" name="Text 19"/>
          <p:cNvSpPr/>
          <p:nvPr/>
        </p:nvSpPr>
        <p:spPr>
          <a:xfrm>
            <a:off x="7178040" y="1773936"/>
            <a:ext cx="1600200" cy="36576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IMPACT: HIGH</a:t>
            </a:r>
            <a:endParaRPr lang="en-US" sz="850" dirty="0"/>
          </a:p>
        </p:txBody>
      </p:sp>
      <p:sp>
        <p:nvSpPr>
          <p:cNvPr id="22" name="Shape 20"/>
          <p:cNvSpPr/>
          <p:nvPr/>
        </p:nvSpPr>
        <p:spPr>
          <a:xfrm>
            <a:off x="228600" y="2414016"/>
            <a:ext cx="8686800" cy="71323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23" name="Shape 21"/>
          <p:cNvSpPr/>
          <p:nvPr/>
        </p:nvSpPr>
        <p:spPr>
          <a:xfrm>
            <a:off x="228600" y="2414016"/>
            <a:ext cx="502920" cy="713232"/>
          </a:xfrm>
          <a:prstGeom prst="rect">
            <a:avLst/>
          </a:prstGeom>
          <a:solidFill>
            <a:srgbClr val="10B981"/>
          </a:solidFill>
          <a:ln/>
        </p:spPr>
      </p:sp>
      <p:sp>
        <p:nvSpPr>
          <p:cNvPr id="24" name="Text 22"/>
          <p:cNvSpPr/>
          <p:nvPr/>
        </p:nvSpPr>
        <p:spPr>
          <a:xfrm>
            <a:off x="228600" y="2414016"/>
            <a:ext cx="502920" cy="713232"/>
          </a:xfrm>
          <a:prstGeom prst="rect">
            <a:avLst/>
          </a:prstGeom>
          <a:noFill/>
          <a:ln/>
        </p:spPr>
        <p:txBody>
          <a:bodyPr wrap="square" lIns="0" tIns="0" rIns="0" bIns="0"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25" name="Text 23"/>
          <p:cNvSpPr/>
          <p:nvPr/>
        </p:nvSpPr>
        <p:spPr>
          <a:xfrm>
            <a:off x="841248" y="2487168"/>
            <a:ext cx="6217920" cy="274320"/>
          </a:xfrm>
          <a:prstGeom prst="rect">
            <a:avLst/>
          </a:prstGeom>
          <a:noFill/>
          <a:ln/>
        </p:spPr>
        <p:txBody>
          <a:bodyPr wrap="square" lIns="0" tIns="0" rIns="0" bIns="0" rtlCol="0" anchor="ctr"/>
          <a:lstStyle/>
          <a:p>
            <a:pPr marL="0" indent="0">
              <a:buNone/>
            </a:pPr>
            <a:r>
              <a:rPr lang="en-US" sz="1150" b="1" dirty="0">
                <a:solidFill>
                  <a:srgbClr val="10B981"/>
                </a:solidFill>
                <a:latin typeface="Calibri" pitchFamily="34" charset="0"/>
                <a:ea typeface="Calibri" pitchFamily="34" charset="-122"/>
                <a:cs typeface="Calibri" pitchFamily="34" charset="-120"/>
              </a:rPr>
              <a:t>Promote High-Rated Restaurants</a:t>
            </a:r>
            <a:endParaRPr lang="en-US" sz="1150" dirty="0"/>
          </a:p>
        </p:txBody>
      </p:sp>
      <p:sp>
        <p:nvSpPr>
          <p:cNvPr id="26" name="Text 24"/>
          <p:cNvSpPr/>
          <p:nvPr/>
        </p:nvSpPr>
        <p:spPr>
          <a:xfrm>
            <a:off x="841248" y="2779776"/>
            <a:ext cx="6217920" cy="29260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Feature top-rated restaurants prominently in app recommendations and targeted email campaigns to increase average order value and repeat orders.</a:t>
            </a:r>
            <a:endParaRPr lang="en-US" sz="950" dirty="0"/>
          </a:p>
        </p:txBody>
      </p:sp>
      <p:sp>
        <p:nvSpPr>
          <p:cNvPr id="27" name="Shape 25"/>
          <p:cNvSpPr/>
          <p:nvPr/>
        </p:nvSpPr>
        <p:spPr>
          <a:xfrm>
            <a:off x="7178040" y="2578608"/>
            <a:ext cx="1600200" cy="365760"/>
          </a:xfrm>
          <a:prstGeom prst="rect">
            <a:avLst/>
          </a:prstGeom>
          <a:solidFill>
            <a:srgbClr val="10B981"/>
          </a:solidFill>
          <a:ln w="12700">
            <a:solidFill>
              <a:srgbClr val="E2E8F0"/>
            </a:solidFill>
            <a:prstDash val="solid"/>
          </a:ln>
        </p:spPr>
      </p:sp>
      <p:sp>
        <p:nvSpPr>
          <p:cNvPr id="28" name="Text 26"/>
          <p:cNvSpPr/>
          <p:nvPr/>
        </p:nvSpPr>
        <p:spPr>
          <a:xfrm>
            <a:off x="7178040" y="2578608"/>
            <a:ext cx="1600200" cy="36576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IMPACT: MEDIUM</a:t>
            </a:r>
            <a:endParaRPr lang="en-US" sz="850" dirty="0"/>
          </a:p>
        </p:txBody>
      </p:sp>
      <p:sp>
        <p:nvSpPr>
          <p:cNvPr id="29" name="Shape 27"/>
          <p:cNvSpPr/>
          <p:nvPr/>
        </p:nvSpPr>
        <p:spPr>
          <a:xfrm>
            <a:off x="228600" y="3218688"/>
            <a:ext cx="8686800" cy="71323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30" name="Shape 28"/>
          <p:cNvSpPr/>
          <p:nvPr/>
        </p:nvSpPr>
        <p:spPr>
          <a:xfrm>
            <a:off x="228600" y="3218688"/>
            <a:ext cx="502920" cy="713232"/>
          </a:xfrm>
          <a:prstGeom prst="rect">
            <a:avLst/>
          </a:prstGeom>
          <a:solidFill>
            <a:srgbClr val="F97316"/>
          </a:solidFill>
          <a:ln/>
        </p:spPr>
      </p:sp>
      <p:sp>
        <p:nvSpPr>
          <p:cNvPr id="31" name="Text 29"/>
          <p:cNvSpPr/>
          <p:nvPr/>
        </p:nvSpPr>
        <p:spPr>
          <a:xfrm>
            <a:off x="228600" y="3218688"/>
            <a:ext cx="502920" cy="713232"/>
          </a:xfrm>
          <a:prstGeom prst="rect">
            <a:avLst/>
          </a:prstGeom>
          <a:noFill/>
          <a:ln/>
        </p:spPr>
        <p:txBody>
          <a:bodyPr wrap="square" lIns="0" tIns="0" rIns="0" bIns="0"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32" name="Text 30"/>
          <p:cNvSpPr/>
          <p:nvPr/>
        </p:nvSpPr>
        <p:spPr>
          <a:xfrm>
            <a:off x="841248" y="3291840"/>
            <a:ext cx="6217920" cy="274320"/>
          </a:xfrm>
          <a:prstGeom prst="rect">
            <a:avLst/>
          </a:prstGeom>
          <a:noFill/>
          <a:ln/>
        </p:spPr>
        <p:txBody>
          <a:bodyPr wrap="square" lIns="0" tIns="0" rIns="0" bIns="0" rtlCol="0" anchor="ctr"/>
          <a:lstStyle/>
          <a:p>
            <a:pPr marL="0" indent="0">
              <a:buNone/>
            </a:pPr>
            <a:r>
              <a:rPr lang="en-US" sz="1150" b="1" dirty="0">
                <a:solidFill>
                  <a:srgbClr val="F97316"/>
                </a:solidFill>
                <a:latin typeface="Calibri" pitchFamily="34" charset="0"/>
                <a:ea typeface="Calibri" pitchFamily="34" charset="-122"/>
                <a:cs typeface="Calibri" pitchFamily="34" charset="-120"/>
              </a:rPr>
              <a:t>Traffic-Aware Delivery Allocation</a:t>
            </a:r>
            <a:endParaRPr lang="en-US" sz="1150" dirty="0"/>
          </a:p>
        </p:txBody>
      </p:sp>
      <p:sp>
        <p:nvSpPr>
          <p:cNvPr id="33" name="Text 31"/>
          <p:cNvSpPr/>
          <p:nvPr/>
        </p:nvSpPr>
        <p:spPr>
          <a:xfrm>
            <a:off x="841248" y="3584448"/>
            <a:ext cx="6217920" cy="29260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Implement real-time traffic data integration to assign delivery orders to partners on low-congestion routes, reducing average delivery time by an estimated 20-30%.</a:t>
            </a:r>
            <a:endParaRPr lang="en-US" sz="950" dirty="0"/>
          </a:p>
        </p:txBody>
      </p:sp>
      <p:sp>
        <p:nvSpPr>
          <p:cNvPr id="34" name="Shape 32"/>
          <p:cNvSpPr/>
          <p:nvPr/>
        </p:nvSpPr>
        <p:spPr>
          <a:xfrm>
            <a:off x="7178040" y="3383280"/>
            <a:ext cx="1600200" cy="365760"/>
          </a:xfrm>
          <a:prstGeom prst="rect">
            <a:avLst/>
          </a:prstGeom>
          <a:solidFill>
            <a:srgbClr val="E23744"/>
          </a:solidFill>
          <a:ln w="12700">
            <a:solidFill>
              <a:srgbClr val="E2E8F0"/>
            </a:solidFill>
            <a:prstDash val="solid"/>
          </a:ln>
        </p:spPr>
      </p:sp>
      <p:sp>
        <p:nvSpPr>
          <p:cNvPr id="35" name="Text 33"/>
          <p:cNvSpPr/>
          <p:nvPr/>
        </p:nvSpPr>
        <p:spPr>
          <a:xfrm>
            <a:off x="7178040" y="3383280"/>
            <a:ext cx="1600200" cy="36576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IMPACT: HIGH</a:t>
            </a:r>
            <a:endParaRPr lang="en-US" sz="850" dirty="0"/>
          </a:p>
        </p:txBody>
      </p:sp>
      <p:sp>
        <p:nvSpPr>
          <p:cNvPr id="36" name="Shape 34"/>
          <p:cNvSpPr/>
          <p:nvPr/>
        </p:nvSpPr>
        <p:spPr>
          <a:xfrm>
            <a:off x="228600" y="4023360"/>
            <a:ext cx="8686800" cy="71323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37" name="Shape 35"/>
          <p:cNvSpPr/>
          <p:nvPr/>
        </p:nvSpPr>
        <p:spPr>
          <a:xfrm>
            <a:off x="228600" y="4023360"/>
            <a:ext cx="502920" cy="713232"/>
          </a:xfrm>
          <a:prstGeom prst="rect">
            <a:avLst/>
          </a:prstGeom>
          <a:solidFill>
            <a:srgbClr val="6366F1"/>
          </a:solidFill>
          <a:ln/>
        </p:spPr>
      </p:sp>
      <p:sp>
        <p:nvSpPr>
          <p:cNvPr id="38" name="Text 36"/>
          <p:cNvSpPr/>
          <p:nvPr/>
        </p:nvSpPr>
        <p:spPr>
          <a:xfrm>
            <a:off x="228600" y="4023360"/>
            <a:ext cx="502920" cy="713232"/>
          </a:xfrm>
          <a:prstGeom prst="rect">
            <a:avLst/>
          </a:prstGeom>
          <a:noFill/>
          <a:ln/>
        </p:spPr>
        <p:txBody>
          <a:bodyPr wrap="square" lIns="0" tIns="0" rIns="0" bIns="0"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39" name="Text 37"/>
          <p:cNvSpPr/>
          <p:nvPr/>
        </p:nvSpPr>
        <p:spPr>
          <a:xfrm>
            <a:off x="841248" y="4096512"/>
            <a:ext cx="6217920" cy="274320"/>
          </a:xfrm>
          <a:prstGeom prst="rect">
            <a:avLst/>
          </a:prstGeom>
          <a:noFill/>
          <a:ln/>
        </p:spPr>
        <p:txBody>
          <a:bodyPr wrap="square" lIns="0" tIns="0" rIns="0" bIns="0" rtlCol="0" anchor="ctr"/>
          <a:lstStyle/>
          <a:p>
            <a:pPr marL="0" indent="0">
              <a:buNone/>
            </a:pPr>
            <a:r>
              <a:rPr lang="en-US" sz="1150" b="1" dirty="0">
                <a:solidFill>
                  <a:srgbClr val="6366F1"/>
                </a:solidFill>
                <a:latin typeface="Calibri" pitchFamily="34" charset="0"/>
                <a:ea typeface="Calibri" pitchFamily="34" charset="-122"/>
                <a:cs typeface="Calibri" pitchFamily="34" charset="-120"/>
              </a:rPr>
              <a:t>Cuisine-Targeted Marketing</a:t>
            </a:r>
            <a:endParaRPr lang="en-US" sz="1150" dirty="0"/>
          </a:p>
        </p:txBody>
      </p:sp>
      <p:sp>
        <p:nvSpPr>
          <p:cNvPr id="40" name="Text 38"/>
          <p:cNvSpPr/>
          <p:nvPr/>
        </p:nvSpPr>
        <p:spPr>
          <a:xfrm>
            <a:off x="841248" y="4389120"/>
            <a:ext cx="6217920" cy="292608"/>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Use cuisine trend data to create geo-targeted promotions — push regional specialties in tier-2 cities and fast food combos in metro areas during peak hours.</a:t>
            </a:r>
            <a:endParaRPr lang="en-US" sz="950" dirty="0"/>
          </a:p>
        </p:txBody>
      </p:sp>
      <p:sp>
        <p:nvSpPr>
          <p:cNvPr id="41" name="Shape 39"/>
          <p:cNvSpPr/>
          <p:nvPr/>
        </p:nvSpPr>
        <p:spPr>
          <a:xfrm>
            <a:off x="7178040" y="4187952"/>
            <a:ext cx="1600200" cy="365760"/>
          </a:xfrm>
          <a:prstGeom prst="rect">
            <a:avLst/>
          </a:prstGeom>
          <a:solidFill>
            <a:srgbClr val="10B981"/>
          </a:solidFill>
          <a:ln w="12700">
            <a:solidFill>
              <a:srgbClr val="E2E8F0"/>
            </a:solidFill>
            <a:prstDash val="solid"/>
          </a:ln>
        </p:spPr>
      </p:sp>
      <p:sp>
        <p:nvSpPr>
          <p:cNvPr id="42" name="Text 40"/>
          <p:cNvSpPr/>
          <p:nvPr/>
        </p:nvSpPr>
        <p:spPr>
          <a:xfrm>
            <a:off x="7178040" y="4187952"/>
            <a:ext cx="1600200" cy="36576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IMPACT: MEDIUM</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E23744"/>
        </a:solidFill>
        <a:effectLst/>
      </p:bgPr>
    </p:bg>
    <p:spTree>
      <p:nvGrpSpPr>
        <p:cNvPr id="1" name=""/>
        <p:cNvGrpSpPr/>
        <p:nvPr/>
      </p:nvGrpSpPr>
      <p:grpSpPr>
        <a:xfrm>
          <a:off x="0" y="0"/>
          <a:ext cx="0" cy="0"/>
          <a:chOff x="0" y="0"/>
          <a:chExt cx="0" cy="0"/>
        </a:xfrm>
      </p:grpSpPr>
      <p:sp>
        <p:nvSpPr>
          <p:cNvPr id="2" name="Shape 0"/>
          <p:cNvSpPr/>
          <p:nvPr/>
        </p:nvSpPr>
        <p:spPr>
          <a:xfrm rot="720000">
            <a:off x="5029200" y="-457200"/>
            <a:ext cx="5029200" cy="6858000"/>
          </a:xfrm>
          <a:prstGeom prst="rect">
            <a:avLst/>
          </a:prstGeom>
          <a:solidFill>
            <a:srgbClr val="FFFFFF"/>
          </a:solidFill>
          <a:ln/>
        </p:spPr>
      </p:sp>
      <p:sp>
        <p:nvSpPr>
          <p:cNvPr id="3" name="Text 1"/>
          <p:cNvSpPr/>
          <p:nvPr/>
        </p:nvSpPr>
        <p:spPr>
          <a:xfrm>
            <a:off x="480060" y="425369"/>
            <a:ext cx="4114800" cy="411480"/>
          </a:xfrm>
          <a:prstGeom prst="rect">
            <a:avLst/>
          </a:prstGeom>
          <a:noFill/>
          <a:ln/>
        </p:spPr>
        <p:txBody>
          <a:bodyPr wrap="square" lIns="0" tIns="0" rIns="0" bIns="0" rtlCol="0" anchor="ctr"/>
          <a:lstStyle/>
          <a:p>
            <a:pPr marL="0" indent="0">
              <a:buNone/>
            </a:pPr>
            <a:endParaRPr lang="en-US" sz="1400" dirty="0"/>
          </a:p>
        </p:txBody>
      </p:sp>
      <p:sp>
        <p:nvSpPr>
          <p:cNvPr id="4" name="Text 2"/>
          <p:cNvSpPr/>
          <p:nvPr/>
        </p:nvSpPr>
        <p:spPr>
          <a:xfrm>
            <a:off x="859730" y="75611"/>
            <a:ext cx="4114800" cy="658368"/>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CONCLUSION</a:t>
            </a:r>
            <a:endParaRPr lang="en-US" sz="3800" dirty="0"/>
          </a:p>
        </p:txBody>
      </p:sp>
      <p:sp>
        <p:nvSpPr>
          <p:cNvPr id="6" name="Shape 4"/>
          <p:cNvSpPr/>
          <p:nvPr/>
        </p:nvSpPr>
        <p:spPr>
          <a:xfrm>
            <a:off x="292608" y="861822"/>
            <a:ext cx="54864" cy="713232"/>
          </a:xfrm>
          <a:prstGeom prst="rect">
            <a:avLst/>
          </a:prstGeom>
          <a:solidFill>
            <a:srgbClr val="FFD0D5"/>
          </a:solidFill>
          <a:ln/>
        </p:spPr>
        <p:txBody>
          <a:bodyPr/>
          <a:lstStyle/>
          <a:p>
            <a:endParaRPr lang="en-IN" dirty="0"/>
          </a:p>
        </p:txBody>
      </p:sp>
      <p:sp>
        <p:nvSpPr>
          <p:cNvPr id="7" name="Text 5"/>
          <p:cNvSpPr/>
          <p:nvPr/>
        </p:nvSpPr>
        <p:spPr>
          <a:xfrm>
            <a:off x="356810" y="806079"/>
            <a:ext cx="416052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Project Summary</a:t>
            </a:r>
            <a:endParaRPr lang="en-US" sz="1100" dirty="0"/>
          </a:p>
        </p:txBody>
      </p:sp>
      <p:sp>
        <p:nvSpPr>
          <p:cNvPr id="8" name="Text 6"/>
          <p:cNvSpPr/>
          <p:nvPr/>
        </p:nvSpPr>
        <p:spPr>
          <a:xfrm>
            <a:off x="411480" y="1114513"/>
            <a:ext cx="4160520" cy="329184"/>
          </a:xfrm>
          <a:prstGeom prst="rect">
            <a:avLst/>
          </a:prstGeom>
          <a:noFill/>
          <a:ln/>
        </p:spPr>
        <p:txBody>
          <a:bodyPr wrap="square" lIns="0" tIns="0" rIns="0" bIns="0" rtlCol="0" anchor="ctr"/>
          <a:lstStyle/>
          <a:p>
            <a:pPr marL="0" indent="0">
              <a:buNone/>
            </a:pPr>
            <a:r>
              <a:rPr lang="en-US" sz="1050" dirty="0">
                <a:solidFill>
                  <a:srgbClr val="FFD0D5"/>
                </a:solidFill>
                <a:latin typeface="Calibri" pitchFamily="34" charset="0"/>
                <a:ea typeface="Calibri" pitchFamily="34" charset="-122"/>
                <a:cs typeface="Calibri" pitchFamily="34" charset="-120"/>
              </a:rPr>
              <a:t>Analyzed 800K+ records across 6 Zomato datasets using SQL, Python, and Power BI to deliver a comprehensive Market Intelligence Dashboard covering revenue, delivery, cuisine, and customer insights.</a:t>
            </a:r>
            <a:endParaRPr lang="en-US" sz="1050" dirty="0"/>
          </a:p>
        </p:txBody>
      </p:sp>
      <p:sp>
        <p:nvSpPr>
          <p:cNvPr id="11" name="Text 9"/>
          <p:cNvSpPr/>
          <p:nvPr/>
        </p:nvSpPr>
        <p:spPr>
          <a:xfrm>
            <a:off x="365760" y="1620422"/>
            <a:ext cx="416052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Business Value</a:t>
            </a:r>
            <a:endParaRPr lang="en-US" sz="1100" dirty="0"/>
          </a:p>
        </p:txBody>
      </p:sp>
      <p:sp>
        <p:nvSpPr>
          <p:cNvPr id="12" name="Text 10"/>
          <p:cNvSpPr/>
          <p:nvPr/>
        </p:nvSpPr>
        <p:spPr>
          <a:xfrm>
            <a:off x="411480" y="1927098"/>
            <a:ext cx="4160520" cy="329184"/>
          </a:xfrm>
          <a:prstGeom prst="rect">
            <a:avLst/>
          </a:prstGeom>
          <a:noFill/>
          <a:ln/>
        </p:spPr>
        <p:txBody>
          <a:bodyPr wrap="square" lIns="0" tIns="0" rIns="0" bIns="0" rtlCol="0" anchor="ctr"/>
          <a:lstStyle/>
          <a:p>
            <a:pPr marL="0" indent="0">
              <a:buNone/>
            </a:pPr>
            <a:r>
              <a:rPr lang="en-US" sz="1050" dirty="0">
                <a:solidFill>
                  <a:srgbClr val="FFD0D5"/>
                </a:solidFill>
                <a:latin typeface="Calibri" pitchFamily="34" charset="0"/>
                <a:ea typeface="Calibri" pitchFamily="34" charset="-122"/>
                <a:cs typeface="Calibri" pitchFamily="34" charset="-120"/>
              </a:rPr>
              <a:t>Delivered 6 key business insights and 5 actionable recommendations to optimize delivery operations, support restaurant expansion decisions, and drive targeted marketing strategies</a:t>
            </a:r>
            <a:r>
              <a:rPr lang="en-US" sz="850" dirty="0">
                <a:solidFill>
                  <a:srgbClr val="FFD0D5"/>
                </a:solidFill>
                <a:latin typeface="Calibri" pitchFamily="34" charset="0"/>
                <a:ea typeface="Calibri" pitchFamily="34" charset="-122"/>
                <a:cs typeface="Calibri" pitchFamily="34" charset="-120"/>
              </a:rPr>
              <a:t>.</a:t>
            </a:r>
            <a:endParaRPr lang="en-US" sz="850" dirty="0"/>
          </a:p>
        </p:txBody>
      </p:sp>
      <p:sp>
        <p:nvSpPr>
          <p:cNvPr id="14" name="Shape 12"/>
          <p:cNvSpPr/>
          <p:nvPr/>
        </p:nvSpPr>
        <p:spPr>
          <a:xfrm>
            <a:off x="289754" y="2558034"/>
            <a:ext cx="54864" cy="713232"/>
          </a:xfrm>
          <a:prstGeom prst="rect">
            <a:avLst/>
          </a:prstGeom>
          <a:solidFill>
            <a:srgbClr val="FFD0D5"/>
          </a:solidFill>
          <a:ln/>
        </p:spPr>
      </p:sp>
      <p:sp>
        <p:nvSpPr>
          <p:cNvPr id="15" name="Text 13"/>
          <p:cNvSpPr/>
          <p:nvPr/>
        </p:nvSpPr>
        <p:spPr>
          <a:xfrm>
            <a:off x="365760" y="2493059"/>
            <a:ext cx="416052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Learning Outcomes</a:t>
            </a:r>
            <a:endParaRPr lang="en-US" sz="1100" dirty="0"/>
          </a:p>
        </p:txBody>
      </p:sp>
      <p:sp>
        <p:nvSpPr>
          <p:cNvPr id="16" name="Text 14"/>
          <p:cNvSpPr/>
          <p:nvPr/>
        </p:nvSpPr>
        <p:spPr>
          <a:xfrm>
            <a:off x="411480" y="2801670"/>
            <a:ext cx="4160520" cy="329184"/>
          </a:xfrm>
          <a:prstGeom prst="rect">
            <a:avLst/>
          </a:prstGeom>
          <a:noFill/>
          <a:ln/>
        </p:spPr>
        <p:txBody>
          <a:bodyPr wrap="square" lIns="0" tIns="0" rIns="0" bIns="0" rtlCol="0" anchor="ctr"/>
          <a:lstStyle/>
          <a:p>
            <a:pPr marL="0" indent="0">
              <a:buNone/>
            </a:pPr>
            <a:r>
              <a:rPr lang="en-US" sz="1050" dirty="0">
                <a:solidFill>
                  <a:srgbClr val="FFD0D5"/>
                </a:solidFill>
                <a:latin typeface="Calibri" pitchFamily="34" charset="0"/>
                <a:ea typeface="Calibri" pitchFamily="34" charset="-122"/>
                <a:cs typeface="Calibri" pitchFamily="34" charset="-120"/>
              </a:rPr>
              <a:t>Gained hands-on expertise in end-to-end analytics: data modeling, advanced SQL, Python EDA, DAX measures, and interactive dashboard design — all applied to real-world business scenarios.</a:t>
            </a:r>
            <a:endParaRPr lang="en-US" sz="1050" dirty="0"/>
          </a:p>
        </p:txBody>
      </p:sp>
      <p:sp>
        <p:nvSpPr>
          <p:cNvPr id="18" name="Shape 16"/>
          <p:cNvSpPr/>
          <p:nvPr/>
        </p:nvSpPr>
        <p:spPr>
          <a:xfrm>
            <a:off x="292608" y="3419856"/>
            <a:ext cx="54864" cy="713232"/>
          </a:xfrm>
          <a:prstGeom prst="rect">
            <a:avLst/>
          </a:prstGeom>
          <a:solidFill>
            <a:srgbClr val="FFD0D5"/>
          </a:solidFill>
          <a:ln/>
        </p:spPr>
      </p:sp>
      <p:sp>
        <p:nvSpPr>
          <p:cNvPr id="19" name="Text 17"/>
          <p:cNvSpPr/>
          <p:nvPr/>
        </p:nvSpPr>
        <p:spPr>
          <a:xfrm>
            <a:off x="356810" y="3365696"/>
            <a:ext cx="416052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Future Improvements</a:t>
            </a:r>
            <a:endParaRPr lang="en-US" sz="1100" dirty="0"/>
          </a:p>
        </p:txBody>
      </p:sp>
      <p:sp>
        <p:nvSpPr>
          <p:cNvPr id="20" name="Text 18"/>
          <p:cNvSpPr/>
          <p:nvPr/>
        </p:nvSpPr>
        <p:spPr>
          <a:xfrm>
            <a:off x="411480" y="3676241"/>
            <a:ext cx="4160520" cy="329184"/>
          </a:xfrm>
          <a:prstGeom prst="rect">
            <a:avLst/>
          </a:prstGeom>
          <a:noFill/>
          <a:ln/>
        </p:spPr>
        <p:txBody>
          <a:bodyPr wrap="square" lIns="0" tIns="0" rIns="0" bIns="0" rtlCol="0" anchor="ctr"/>
          <a:lstStyle/>
          <a:p>
            <a:pPr marL="0" indent="0">
              <a:buNone/>
            </a:pPr>
            <a:r>
              <a:rPr lang="en-US" sz="1050" dirty="0">
                <a:solidFill>
                  <a:srgbClr val="FFD0D5"/>
                </a:solidFill>
                <a:latin typeface="Calibri" pitchFamily="34" charset="0"/>
                <a:ea typeface="Calibri" pitchFamily="34" charset="-122"/>
                <a:cs typeface="Calibri" pitchFamily="34" charset="-120"/>
              </a:rPr>
              <a:t>Planned enhancements include machine learning for delivery time prediction, NLP-based customer review sentiment analysis, and real-time data refresh via Zomato API integration.</a:t>
            </a:r>
            <a:endParaRPr lang="en-US" sz="1050" dirty="0"/>
          </a:p>
        </p:txBody>
      </p:sp>
      <p:sp>
        <p:nvSpPr>
          <p:cNvPr id="21" name="Text 19"/>
          <p:cNvSpPr/>
          <p:nvPr/>
        </p:nvSpPr>
        <p:spPr>
          <a:xfrm>
            <a:off x="5577840" y="731520"/>
            <a:ext cx="3200400" cy="640080"/>
          </a:xfrm>
          <a:prstGeom prst="rect">
            <a:avLst/>
          </a:prstGeom>
          <a:noFill/>
          <a:ln/>
        </p:spPr>
        <p:txBody>
          <a:bodyPr wrap="square" rtlCol="0" anchor="ctr"/>
          <a:lstStyle/>
          <a:p>
            <a:pPr marL="0" indent="0">
              <a:buNone/>
            </a:pPr>
            <a:r>
              <a:rPr lang="en-US" sz="3200" b="1" i="1" dirty="0">
                <a:solidFill>
                  <a:srgbClr val="E23744"/>
                </a:solidFill>
                <a:latin typeface="Georgia" pitchFamily="34" charset="0"/>
                <a:ea typeface="Georgia" pitchFamily="34" charset="-122"/>
                <a:cs typeface="Georgia" pitchFamily="34" charset="-120"/>
              </a:rPr>
              <a:t>zomato</a:t>
            </a:r>
            <a:endParaRPr lang="en-US" sz="3200" dirty="0"/>
          </a:p>
        </p:txBody>
      </p:sp>
      <p:sp>
        <p:nvSpPr>
          <p:cNvPr id="22" name="Text 20"/>
          <p:cNvSpPr/>
          <p:nvPr/>
        </p:nvSpPr>
        <p:spPr>
          <a:xfrm>
            <a:off x="5577840" y="1371600"/>
            <a:ext cx="3200400" cy="822960"/>
          </a:xfrm>
          <a:prstGeom prst="rect">
            <a:avLst/>
          </a:prstGeom>
          <a:noFill/>
          <a:ln/>
        </p:spPr>
        <p:txBody>
          <a:bodyPr wrap="square"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Market Intelligence</a:t>
            </a:r>
            <a:endParaRPr lang="en-US" sz="1600" dirty="0"/>
          </a:p>
          <a:p>
            <a:pPr marL="0" indent="0">
              <a:buNone/>
            </a:pPr>
            <a:r>
              <a:rPr lang="en-US" sz="1600" b="1" dirty="0">
                <a:solidFill>
                  <a:srgbClr val="1E293B"/>
                </a:solidFill>
                <a:latin typeface="Calibri" pitchFamily="34" charset="0"/>
                <a:ea typeface="Calibri" pitchFamily="34" charset="-122"/>
                <a:cs typeface="Calibri" pitchFamily="34" charset="-120"/>
              </a:rPr>
              <a:t>Dashboard</a:t>
            </a:r>
            <a:endParaRPr lang="en-US" sz="1600" dirty="0"/>
          </a:p>
        </p:txBody>
      </p:sp>
      <p:sp>
        <p:nvSpPr>
          <p:cNvPr id="23" name="Shape 21"/>
          <p:cNvSpPr/>
          <p:nvPr/>
        </p:nvSpPr>
        <p:spPr>
          <a:xfrm>
            <a:off x="5577840" y="2240280"/>
            <a:ext cx="1828800" cy="45720"/>
          </a:xfrm>
          <a:prstGeom prst="rect">
            <a:avLst/>
          </a:prstGeom>
          <a:solidFill>
            <a:srgbClr val="E23744"/>
          </a:solidFill>
          <a:ln/>
        </p:spPr>
      </p:sp>
      <p:sp>
        <p:nvSpPr>
          <p:cNvPr id="24" name="Shape 22"/>
          <p:cNvSpPr/>
          <p:nvPr/>
        </p:nvSpPr>
        <p:spPr>
          <a:xfrm>
            <a:off x="5577840" y="2423160"/>
            <a:ext cx="228600" cy="256032"/>
          </a:xfrm>
          <a:prstGeom prst="rect">
            <a:avLst/>
          </a:prstGeom>
          <a:solidFill>
            <a:srgbClr val="E23744"/>
          </a:solidFill>
          <a:ln/>
        </p:spPr>
      </p:sp>
      <p:sp>
        <p:nvSpPr>
          <p:cNvPr id="25" name="Text 23"/>
          <p:cNvSpPr/>
          <p:nvPr/>
        </p:nvSpPr>
        <p:spPr>
          <a:xfrm>
            <a:off x="5897880" y="2423160"/>
            <a:ext cx="2926080" cy="274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SQL + Advanced SQL</a:t>
            </a:r>
            <a:endParaRPr lang="en-US" sz="1100" dirty="0"/>
          </a:p>
        </p:txBody>
      </p:sp>
      <p:sp>
        <p:nvSpPr>
          <p:cNvPr id="26" name="Shape 24"/>
          <p:cNvSpPr/>
          <p:nvPr/>
        </p:nvSpPr>
        <p:spPr>
          <a:xfrm>
            <a:off x="5577840" y="2862072"/>
            <a:ext cx="228600" cy="256032"/>
          </a:xfrm>
          <a:prstGeom prst="rect">
            <a:avLst/>
          </a:prstGeom>
          <a:solidFill>
            <a:srgbClr val="0891B2"/>
          </a:solidFill>
          <a:ln/>
        </p:spPr>
      </p:sp>
      <p:sp>
        <p:nvSpPr>
          <p:cNvPr id="27" name="Text 25"/>
          <p:cNvSpPr/>
          <p:nvPr/>
        </p:nvSpPr>
        <p:spPr>
          <a:xfrm>
            <a:off x="5897880" y="2862072"/>
            <a:ext cx="2926080" cy="274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Python (Pandas, Matplotlib)</a:t>
            </a:r>
            <a:endParaRPr lang="en-US" sz="1100" dirty="0"/>
          </a:p>
        </p:txBody>
      </p:sp>
      <p:sp>
        <p:nvSpPr>
          <p:cNvPr id="28" name="Shape 26"/>
          <p:cNvSpPr/>
          <p:nvPr/>
        </p:nvSpPr>
        <p:spPr>
          <a:xfrm>
            <a:off x="5577840" y="3300984"/>
            <a:ext cx="228600" cy="256032"/>
          </a:xfrm>
          <a:prstGeom prst="rect">
            <a:avLst/>
          </a:prstGeom>
          <a:solidFill>
            <a:srgbClr val="10B981"/>
          </a:solidFill>
          <a:ln/>
        </p:spPr>
      </p:sp>
      <p:sp>
        <p:nvSpPr>
          <p:cNvPr id="29" name="Text 27"/>
          <p:cNvSpPr/>
          <p:nvPr/>
        </p:nvSpPr>
        <p:spPr>
          <a:xfrm>
            <a:off x="5897880" y="3300984"/>
            <a:ext cx="2926080" cy="274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Power BI + DAX</a:t>
            </a:r>
            <a:endParaRPr lang="en-US" sz="1100" dirty="0"/>
          </a:p>
        </p:txBody>
      </p:sp>
      <p:sp>
        <p:nvSpPr>
          <p:cNvPr id="30" name="Shape 28"/>
          <p:cNvSpPr/>
          <p:nvPr/>
        </p:nvSpPr>
        <p:spPr>
          <a:xfrm>
            <a:off x="5577840" y="3739896"/>
            <a:ext cx="228600" cy="256032"/>
          </a:xfrm>
          <a:prstGeom prst="rect">
            <a:avLst/>
          </a:prstGeom>
          <a:solidFill>
            <a:srgbClr val="F97316"/>
          </a:solidFill>
          <a:ln/>
        </p:spPr>
      </p:sp>
      <p:sp>
        <p:nvSpPr>
          <p:cNvPr id="31" name="Text 29"/>
          <p:cNvSpPr/>
          <p:nvPr/>
        </p:nvSpPr>
        <p:spPr>
          <a:xfrm>
            <a:off x="5897880" y="3739896"/>
            <a:ext cx="2926080" cy="274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Excel (Data Prep)</a:t>
            </a:r>
            <a:endParaRPr lang="en-US" sz="1100" dirty="0"/>
          </a:p>
        </p:txBody>
      </p:sp>
      <p:sp>
        <p:nvSpPr>
          <p:cNvPr id="32" name="Text 30"/>
          <p:cNvSpPr/>
          <p:nvPr/>
        </p:nvSpPr>
        <p:spPr>
          <a:xfrm>
            <a:off x="5577840" y="4297680"/>
            <a:ext cx="3200400" cy="566928"/>
          </a:xfrm>
          <a:prstGeom prst="rect">
            <a:avLst/>
          </a:prstGeom>
          <a:noFill/>
          <a:ln/>
        </p:spPr>
        <p:txBody>
          <a:bodyPr wrap="square" rtlCol="0" anchor="ctr"/>
          <a:lstStyle/>
          <a:p>
            <a:pPr marL="0" indent="0">
              <a:buNone/>
            </a:pPr>
            <a:endParaRPr lang="en-US" sz="2800" dirty="0"/>
          </a:p>
        </p:txBody>
      </p:sp>
      <p:sp>
        <p:nvSpPr>
          <p:cNvPr id="33" name="Text 31"/>
          <p:cNvSpPr/>
          <p:nvPr/>
        </p:nvSpPr>
        <p:spPr>
          <a:xfrm>
            <a:off x="5577840" y="4663440"/>
            <a:ext cx="3200400" cy="256032"/>
          </a:xfrm>
          <a:prstGeom prst="rect">
            <a:avLst/>
          </a:prstGeom>
          <a:noFill/>
          <a:ln/>
        </p:spPr>
        <p:txBody>
          <a:bodyPr wrap="square" rtlCol="0" anchor="ctr"/>
          <a:lstStyle/>
          <a:p>
            <a:pPr marL="0" indent="0">
              <a:buNone/>
            </a:pPr>
            <a:endParaRPr lang="en-US" sz="1000" dirty="0"/>
          </a:p>
        </p:txBody>
      </p:sp>
      <p:sp>
        <p:nvSpPr>
          <p:cNvPr id="37" name="Shape 4">
            <a:extLst>
              <a:ext uri="{FF2B5EF4-FFF2-40B4-BE49-F238E27FC236}">
                <a16:creationId xmlns:a16="http://schemas.microsoft.com/office/drawing/2014/main" id="{431561DB-47A0-7B0F-6306-3AD5D409EC1C}"/>
              </a:ext>
            </a:extLst>
          </p:cNvPr>
          <p:cNvSpPr/>
          <p:nvPr/>
        </p:nvSpPr>
        <p:spPr>
          <a:xfrm>
            <a:off x="289754" y="1676692"/>
            <a:ext cx="54864" cy="713232"/>
          </a:xfrm>
          <a:prstGeom prst="rect">
            <a:avLst/>
          </a:prstGeom>
          <a:solidFill>
            <a:srgbClr val="FFD0D5"/>
          </a:solidFill>
          <a:ln/>
        </p:spPr>
        <p:txBody>
          <a:bodyPr/>
          <a:lstStyle/>
          <a:p>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A000D9-3CD6-B59B-52C6-A17F058B3C35}"/>
              </a:ext>
            </a:extLst>
          </p:cNvPr>
          <p:cNvSpPr txBox="1"/>
          <p:nvPr/>
        </p:nvSpPr>
        <p:spPr>
          <a:xfrm>
            <a:off x="2046849" y="1385668"/>
            <a:ext cx="5866227" cy="1015663"/>
          </a:xfrm>
          <a:prstGeom prst="rect">
            <a:avLst/>
          </a:prstGeom>
          <a:noFill/>
        </p:spPr>
        <p:txBody>
          <a:bodyPr wrap="square">
            <a:spAutoFit/>
          </a:bodyPr>
          <a:lstStyle/>
          <a:p>
            <a:pPr marL="0" indent="0">
              <a:buNone/>
            </a:pPr>
            <a:r>
              <a:rPr lang="en-US" sz="6000" b="1" i="1" dirty="0">
                <a:solidFill>
                  <a:srgbClr val="E23744"/>
                </a:solidFill>
                <a:latin typeface="Georgia" pitchFamily="34" charset="0"/>
                <a:ea typeface="Georgia" pitchFamily="34" charset="-122"/>
                <a:cs typeface="Georgia" pitchFamily="34" charset="-120"/>
              </a:rPr>
              <a:t>Thank You</a:t>
            </a:r>
            <a:endParaRPr lang="en-US" sz="6000" dirty="0"/>
          </a:p>
        </p:txBody>
      </p:sp>
      <p:sp>
        <p:nvSpPr>
          <p:cNvPr id="6" name="TextBox 5">
            <a:extLst>
              <a:ext uri="{FF2B5EF4-FFF2-40B4-BE49-F238E27FC236}">
                <a16:creationId xmlns:a16="http://schemas.microsoft.com/office/drawing/2014/main" id="{AE31CA6D-EC52-944A-A606-AD8889506BC1}"/>
              </a:ext>
            </a:extLst>
          </p:cNvPr>
          <p:cNvSpPr txBox="1"/>
          <p:nvPr/>
        </p:nvSpPr>
        <p:spPr>
          <a:xfrm>
            <a:off x="8229600" y="4780377"/>
            <a:ext cx="856800" cy="276999"/>
          </a:xfrm>
          <a:prstGeom prst="rect">
            <a:avLst/>
          </a:prstGeom>
          <a:noFill/>
        </p:spPr>
        <p:txBody>
          <a:bodyPr wrap="square">
            <a:spAutoFit/>
          </a:bodyPr>
          <a:lstStyle/>
          <a:p>
            <a:pPr marL="0" indent="0">
              <a:buNone/>
            </a:pPr>
            <a:r>
              <a:rPr lang="en-US" sz="1200" dirty="0"/>
              <a:t>By Taniya</a:t>
            </a:r>
          </a:p>
        </p:txBody>
      </p:sp>
    </p:spTree>
    <p:extLst>
      <p:ext uri="{BB962C8B-B14F-4D97-AF65-F5344CB8AC3E}">
        <p14:creationId xmlns:p14="http://schemas.microsoft.com/office/powerpoint/2010/main" val="3377734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TotalTime>
  <Words>2606</Words>
  <Application>Microsoft Office PowerPoint</Application>
  <PresentationFormat>On-screen Show (16:9)</PresentationFormat>
  <Paragraphs>339</Paragraphs>
  <Slides>17</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Zomato Market Intelligence Dashboard</dc:title>
  <dc:subject>PptxGenJS Presentation</dc:subject>
  <dc:creator>Data Analyst</dc:creator>
  <cp:lastModifiedBy>Taniya Verma</cp:lastModifiedBy>
  <cp:revision>2</cp:revision>
  <dcterms:created xsi:type="dcterms:W3CDTF">2026-06-06T10:23:03Z</dcterms:created>
  <dcterms:modified xsi:type="dcterms:W3CDTF">2026-06-06T12:22:31Z</dcterms:modified>
</cp:coreProperties>
</file>